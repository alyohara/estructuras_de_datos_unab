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embeddedFontLs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jWkDK2VmYd53wQiDC2uOzcQAnk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OpenSans-regular.fntdata"/><Relationship Id="rId21" Type="http://schemas.openxmlformats.org/officeDocument/2006/relationships/slide" Target="slides/slide15.xml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2030832054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22030832054_1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390fb78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2f390fb78e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f390fb78e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g2f390fb78e8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390fb78e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2f390fb78e8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623889" y="1709741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623889" y="4589466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629842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629842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629842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629842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629842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96332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623595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623095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7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8"/>
          <p:cNvSpPr txBox="1"/>
          <p:nvPr>
            <p:ph idx="1" type="body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28"/>
          <p:cNvSpPr txBox="1"/>
          <p:nvPr>
            <p:ph idx="2" type="body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28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29"/>
          <p:cNvSpPr txBox="1"/>
          <p:nvPr>
            <p:ph idx="3" type="body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9"/>
          <p:cNvSpPr txBox="1"/>
          <p:nvPr>
            <p:ph idx="4" type="body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29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9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0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1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2"/>
          <p:cNvSpPr txBox="1"/>
          <p:nvPr>
            <p:ph idx="1" type="body"/>
          </p:nvPr>
        </p:nvSpPr>
        <p:spPr>
          <a:xfrm>
            <a:off x="3575051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32"/>
          <p:cNvSpPr txBox="1"/>
          <p:nvPr>
            <p:ph idx="2" type="body"/>
          </p:nvPr>
        </p:nvSpPr>
        <p:spPr>
          <a:xfrm>
            <a:off x="457200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32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2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33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4"/>
          <p:cNvSpPr txBox="1"/>
          <p:nvPr>
            <p:ph idx="1" type="body"/>
          </p:nvPr>
        </p:nvSpPr>
        <p:spPr>
          <a:xfrm rot="5400000">
            <a:off x="2309019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34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4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4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/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5"/>
          <p:cNvSpPr txBox="1"/>
          <p:nvPr>
            <p:ph idx="1" type="body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35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5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5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 txBox="1"/>
          <p:nvPr/>
        </p:nvSpPr>
        <p:spPr>
          <a:xfrm>
            <a:off x="283050" y="2432000"/>
            <a:ext cx="85779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CLASE 2 - Unidad I</a:t>
            </a:r>
            <a:endParaRPr b="1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Recursividad</a:t>
            </a:r>
            <a:endParaRPr b="1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411458" y="5942975"/>
            <a:ext cx="8321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-AR" sz="27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ESTRUCTURAS DE DATOS (271)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AR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Clase N. 2. Unidad I. </a:t>
            </a:r>
            <a:endParaRPr b="1" i="0" sz="1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22030832054_1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1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22030832054_1_6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</a:t>
            </a:r>
            <a:r>
              <a:rPr b="1" lang="es-AR" sz="2400">
                <a:solidFill>
                  <a:schemeClr val="lt1"/>
                </a:solidFill>
              </a:rPr>
              <a:t>2</a:t>
            </a: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AGENDA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22030832054_1_6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22030832054_1_6"/>
          <p:cNvSpPr txBox="1"/>
          <p:nvPr/>
        </p:nvSpPr>
        <p:spPr>
          <a:xfrm>
            <a:off x="205000" y="1382475"/>
            <a:ext cx="87774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rgbClr val="204F85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1" i="0" sz="2400" u="none" cap="none" strike="noStrike">
              <a:solidFill>
                <a:srgbClr val="204F8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i="0" lang="es-A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Temario: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</a:pPr>
            <a:r>
              <a:rPr lang="es-AR" sz="1800">
                <a:highlight>
                  <a:srgbClr val="FFFFFF"/>
                </a:highlight>
              </a:rPr>
              <a:t>Revisión de Conceptos: funciones , parámetros</a:t>
            </a:r>
            <a:endParaRPr sz="1800">
              <a:highlight>
                <a:srgbClr val="FFFFFF"/>
              </a:highlight>
            </a:endParaRPr>
          </a:p>
          <a:p>
            <a:pPr indent="-3429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AR" sz="1800">
                <a:highlight>
                  <a:srgbClr val="FFFFFF"/>
                </a:highlight>
              </a:rPr>
              <a:t>Conceptos de Recursividad</a:t>
            </a:r>
            <a:endParaRPr sz="1800">
              <a:highlight>
                <a:srgbClr val="FFFFFF"/>
              </a:highlight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i="0" lang="es-A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Ejemplos</a:t>
            </a:r>
            <a:r>
              <a:rPr b="0" i="0" lang="es-A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en Lenguajes </a:t>
            </a:r>
            <a:r>
              <a:rPr b="1" i="0" lang="es-A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Python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i="0" lang="es-A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Temas relacionados y links de interés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i="0" lang="es-A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Práctica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AR" sz="1800">
                <a:highlight>
                  <a:srgbClr val="FFFFFF"/>
                </a:highlight>
              </a:rPr>
              <a:t>Consultas</a:t>
            </a:r>
            <a:endParaRPr b="1" sz="1800">
              <a:highlight>
                <a:srgbClr val="FFFFFF"/>
              </a:highlight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b="1" i="0" lang="es-A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s-AR" sz="1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ierre de la clase</a:t>
            </a:r>
            <a:endParaRPr b="1" i="0" sz="1800" u="none" cap="none" strike="noStrik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2f390fb78e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1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2f390fb78e8_0_0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2: </a:t>
            </a:r>
            <a:r>
              <a:rPr b="1" lang="es-AR" sz="2400">
                <a:solidFill>
                  <a:schemeClr val="lt1"/>
                </a:solidFill>
              </a:rPr>
              <a:t>TEMARIO. Funciones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2f390fb78e8_0_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2: </a:t>
            </a:r>
            <a:r>
              <a:rPr b="1" lang="es-AR" sz="2400">
                <a:solidFill>
                  <a:schemeClr val="lt1"/>
                </a:solidFill>
              </a:rPr>
              <a:t>TEMARIO.  Recursividad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"/>
          <p:cNvSpPr txBox="1"/>
          <p:nvPr/>
        </p:nvSpPr>
        <p:spPr>
          <a:xfrm>
            <a:off x="359228" y="1517919"/>
            <a:ext cx="8425543" cy="5135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AR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Definición: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 recursividad </a:t>
            </a:r>
            <a:r>
              <a:rPr b="0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recursión es un concepto que proviene de las matemáticas, y que aplicado al mundo de la programación nos permite resolver problemas o tareas donde las mismas pueden ser divididas en subtareas cuya funcionalidad es la misma. Dado que los subproblemas a resolver son de la misma naturaleza, se puede usar la misma función para resolverlos. 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Dicho de otra manera, una función recursiva es aquella que </a:t>
            </a:r>
            <a:r>
              <a:rPr b="1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está definida en función de sí misma</a:t>
            </a:r>
            <a:r>
              <a:rPr b="0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por lo que se llama repetidamente a sí misma hasta llegar a un punto de salida.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Cualquier función recursiva tiene </a:t>
            </a:r>
            <a:r>
              <a:rPr b="1" i="0" lang="es-AR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 secciones </a:t>
            </a:r>
            <a:r>
              <a:rPr b="0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código claramente divididas: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0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un lado, tenemos la sección en la que la función se llama a sí misma.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❑"/>
            </a:pPr>
            <a:r>
              <a:rPr b="0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otro lado, </a:t>
            </a:r>
            <a:r>
              <a:rPr b="1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tiene que existir siempre una condición </a:t>
            </a:r>
            <a:r>
              <a:rPr b="0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la que la función </a:t>
            </a:r>
            <a:r>
              <a:rPr b="1" i="0" lang="es-AR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retorna sin volver a llamarse</a:t>
            </a:r>
            <a:r>
              <a:rPr b="0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b="0" i="0" lang="es-A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s-AR" sz="1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(Es muy importante porque de lo contrario, la función se llamaría de manera indefinida)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A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1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359228" y="1376520"/>
            <a:ext cx="8425543" cy="5315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Ejemplo: </a:t>
            </a:r>
            <a:r>
              <a:rPr b="0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factorial de un número entero no negativo </a:t>
            </a:r>
            <a:r>
              <a:rPr b="1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el producto de todos los enteros desde</a:t>
            </a:r>
            <a:r>
              <a:rPr b="1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hasta 1.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5! = 1*2*3*4*5        5!= 5*4*3*2*1            5!= </a:t>
            </a:r>
            <a:r>
              <a:rPr b="0" i="0" lang="es-AR" sz="2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Formalmente: 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esta expresión es fácil ver que el factorial de n es también :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s-AR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	n! = n * (n - 1)! 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3"/>
          <p:cNvPicPr preferRelativeResize="0"/>
          <p:nvPr/>
        </p:nvPicPr>
        <p:blipFill rotWithShape="1">
          <a:blip r:embed="rId4">
            <a:alphaModFix/>
          </a:blip>
          <a:srcRect b="38724" l="50882" r="38373" t="55904"/>
          <a:stretch/>
        </p:blipFill>
        <p:spPr>
          <a:xfrm>
            <a:off x="3143175" y="3386337"/>
            <a:ext cx="230505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2: </a:t>
            </a:r>
            <a:r>
              <a:rPr b="1" lang="es-AR" sz="2400">
                <a:solidFill>
                  <a:schemeClr val="lt1"/>
                </a:solidFill>
              </a:rPr>
              <a:t>TEMARIO.  Recursividad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1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359228" y="1350273"/>
            <a:ext cx="8425543" cy="5315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-AR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r>
              <a:rPr b="1" i="0" lang="es-A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i="0" lang="es-AR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AR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factorial de un número entero no negativo </a:t>
            </a:r>
            <a:r>
              <a:rPr b="1" i="0" lang="es-AR" sz="25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s-AR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el producto de todos los enteros desde </a:t>
            </a:r>
            <a:r>
              <a:rPr b="1" i="0" lang="es-AR" sz="25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s-AR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hasta 1.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-AR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Ejecución: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4"/>
          <p:cNvPicPr preferRelativeResize="0"/>
          <p:nvPr/>
        </p:nvPicPr>
        <p:blipFill rotWithShape="1">
          <a:blip r:embed="rId4">
            <a:alphaModFix/>
          </a:blip>
          <a:srcRect b="27365" l="38934" r="25098" t="39171"/>
          <a:stretch/>
        </p:blipFill>
        <p:spPr>
          <a:xfrm>
            <a:off x="1910760" y="2863968"/>
            <a:ext cx="6408738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2: </a:t>
            </a:r>
            <a:r>
              <a:rPr b="1" lang="es-AR" sz="2400">
                <a:solidFill>
                  <a:schemeClr val="lt1"/>
                </a:solidFill>
              </a:rPr>
              <a:t>TEMARIO.  Recursividad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1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5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635" y="1507320"/>
            <a:ext cx="5655215" cy="2264362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3" name="Google Shape;21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00322" y="4308432"/>
            <a:ext cx="6158147" cy="2547293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" name="Google Shape;214;p5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2: </a:t>
            </a:r>
            <a:r>
              <a:rPr b="1" lang="es-AR" sz="2400">
                <a:solidFill>
                  <a:schemeClr val="lt1"/>
                </a:solidFill>
              </a:rPr>
              <a:t>TEMARIO.  Recursividad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19468" y="1196438"/>
            <a:ext cx="9325175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(Otro) Ejemplo: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A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212156" y="1614258"/>
            <a:ext cx="6736108" cy="4681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Dícese que los Pitagóricos sentían una conexión mística con la serie de números </a:t>
            </a:r>
            <a:r>
              <a:rPr b="1" i="0" lang="es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1, 3, 6, 10, 15, 21, ...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Puedes encontrar el próximo miembro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esta serie?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enésimo termino se consigue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añadiendo </a:t>
            </a:r>
            <a:r>
              <a:rPr b="1" i="0" lang="es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s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 termino previo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números en esta serie se llaman </a:t>
            </a:r>
            <a:r>
              <a:rPr b="1" i="0" lang="es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triangulares</a:t>
            </a:r>
            <a:r>
              <a:rPr b="0" i="0" lang="es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porque pueden ser visualizados de forma triangular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6"/>
          <p:cNvPicPr preferRelativeResize="0"/>
          <p:nvPr/>
        </p:nvPicPr>
        <p:blipFill rotWithShape="1">
          <a:blip r:embed="rId4">
            <a:alphaModFix/>
          </a:blip>
          <a:srcRect b="18293" l="36517" r="37469" t="40364"/>
          <a:stretch/>
        </p:blipFill>
        <p:spPr>
          <a:xfrm>
            <a:off x="5811300" y="2019878"/>
            <a:ext cx="2962598" cy="264716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6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2: </a:t>
            </a:r>
            <a:r>
              <a:rPr b="1" lang="es-AR" sz="2400">
                <a:solidFill>
                  <a:schemeClr val="lt1"/>
                </a:solidFill>
              </a:rPr>
              <a:t>TEMARIO.  Recursividad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1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7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19468" y="1781054"/>
            <a:ext cx="9325175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24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(Otro) Ejemplo: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A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A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7"/>
          <p:cNvPicPr preferRelativeResize="0"/>
          <p:nvPr/>
        </p:nvPicPr>
        <p:blipFill rotWithShape="1">
          <a:blip r:embed="rId4">
            <a:alphaModFix/>
          </a:blip>
          <a:srcRect b="18293" l="36517" r="37469" t="40364"/>
          <a:stretch/>
        </p:blipFill>
        <p:spPr>
          <a:xfrm>
            <a:off x="5445059" y="2142793"/>
            <a:ext cx="3384550" cy="3024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647198"/>
            <a:ext cx="5465653" cy="306916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7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2: </a:t>
            </a:r>
            <a:r>
              <a:rPr b="1" lang="es-AR" sz="2400">
                <a:solidFill>
                  <a:schemeClr val="lt1"/>
                </a:solidFill>
              </a:rPr>
              <a:t>TEMARIO.  Recursividad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1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285162" y="1343017"/>
            <a:ext cx="8573700" cy="4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nos permite una declaración sencilla de </a:t>
            </a:r>
            <a:r>
              <a:rPr b="1" i="0" lang="es-A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funciones recursivas</a:t>
            </a:r>
            <a:r>
              <a:rPr b="0" i="0" lang="es-A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solamente debemos "llamar a la función, dentro del cuerpo de la (misma) función”.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A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A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</a:t>
            </a:r>
            <a:r>
              <a:rPr b="0" i="0" lang="es-AR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A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definición correcta de una función recursiva, debera tener el cuenta lo siguiente: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Existencia de un caso base (o inicial), la función retorna un valor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Manejo  del caso base:</a:t>
            </a:r>
            <a:r>
              <a:rPr b="0" i="0" lang="es-AR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Utilizando un  if ( se terminan los llamados recursivos).</a:t>
            </a:r>
            <a:endParaRPr b="0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2: </a:t>
            </a:r>
            <a:r>
              <a:rPr b="1" lang="es-AR" sz="2400">
                <a:solidFill>
                  <a:schemeClr val="lt1"/>
                </a:solidFill>
              </a:rPr>
              <a:t>TEMARIO.  Recursividad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1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9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223050" y="1319278"/>
            <a:ext cx="85122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AR" sz="2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Serie  Fibonacci: </a:t>
            </a:r>
            <a:r>
              <a:rPr b="0" i="0" lang="es-AR" sz="20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 matemática, la sucesión de Fibonacci se trata de una </a:t>
            </a:r>
            <a:r>
              <a:rPr b="0" i="0" lang="es-AR" sz="20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serie infinita de números naturales que empieza con un 0 y un 1 y continúa añadiendo números que son la suma de los dos anteriores</a:t>
            </a:r>
            <a:r>
              <a:rPr b="0" i="0" lang="es-AR" sz="20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AR" sz="20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0, 1, 1, 2, 3, </a:t>
            </a:r>
            <a:r>
              <a:rPr b="0" i="0" lang="es-AR" sz="20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5, 8</a:t>
            </a:r>
            <a:r>
              <a:rPr b="0" i="0" lang="es-AR" sz="20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-AR" sz="20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13</a:t>
            </a:r>
            <a:r>
              <a:rPr b="0" i="0" lang="es-AR" sz="20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21, </a:t>
            </a:r>
            <a:r>
              <a:rPr b="0" i="0" lang="es-AR" sz="20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34, 55</a:t>
            </a:r>
            <a:r>
              <a:rPr b="0" i="0" lang="es-AR" sz="20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-AR" sz="20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89</a:t>
            </a:r>
            <a:r>
              <a:rPr b="0" i="0" lang="es-AR" sz="2000" u="none" cap="none" strike="noStrike">
                <a:solidFill>
                  <a:srgbClr val="0070C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144, 233, 377, 610, 987, 1597…</a:t>
            </a:r>
            <a:endParaRPr b="0" i="0" sz="20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408144" y="2879060"/>
            <a:ext cx="35873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Fibonacci ( 7)  Debería retornar 13</a:t>
            </a:r>
            <a:endParaRPr/>
          </a:p>
        </p:txBody>
      </p:sp>
      <p:sp>
        <p:nvSpPr>
          <p:cNvPr id="251" name="Google Shape;251;p9"/>
          <p:cNvSpPr txBox="1"/>
          <p:nvPr/>
        </p:nvSpPr>
        <p:spPr>
          <a:xfrm>
            <a:off x="4173712" y="3311434"/>
            <a:ext cx="4757087" cy="830997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Resolución</a:t>
            </a:r>
            <a:r>
              <a:rPr b="0" i="0" lang="es-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Se calcula el elemento </a:t>
            </a:r>
            <a:r>
              <a:rPr b="1" i="0" lang="es-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s-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sumando los dos anteriores, es decir (</a:t>
            </a:r>
            <a:r>
              <a:rPr b="1" i="0" lang="es-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s-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-1) + (</a:t>
            </a:r>
            <a:r>
              <a:rPr b="1" i="0" lang="es-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es-AR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-2). Se asume que los dos primeros elementos son 0 y 1</a:t>
            </a:r>
            <a:r>
              <a:rPr b="0" i="0" lang="es-A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390977" y="3376962"/>
            <a:ext cx="35873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s-A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Fibonacci ( 11)  Debería retornar 89</a:t>
            </a:r>
            <a:endParaRPr/>
          </a:p>
        </p:txBody>
      </p:sp>
      <p:pic>
        <p:nvPicPr>
          <p:cNvPr id="253" name="Google Shape;2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592" y="4237113"/>
            <a:ext cx="8309262" cy="260324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2: </a:t>
            </a:r>
            <a:r>
              <a:rPr b="1" lang="es-AR" sz="2400">
                <a:solidFill>
                  <a:schemeClr val="lt1"/>
                </a:solidFill>
              </a:rPr>
              <a:t>TEMARIO.  Recursividad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1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1707" y="4694571"/>
            <a:ext cx="6905414" cy="2163429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2" name="Google Shape;26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3916" y="1207922"/>
            <a:ext cx="3695582" cy="3284961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3" name="Google Shape;263;p10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2: </a:t>
            </a:r>
            <a:r>
              <a:rPr b="1" lang="es-AR" sz="2400">
                <a:solidFill>
                  <a:schemeClr val="lt1"/>
                </a:solidFill>
              </a:rPr>
              <a:t>TEMARIO.  Recursividad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1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1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2: </a:t>
            </a:r>
            <a:r>
              <a:rPr b="1" lang="es-AR" sz="2400">
                <a:solidFill>
                  <a:schemeClr val="lt1"/>
                </a:solidFill>
              </a:rPr>
              <a:t>EJEMPLOS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g2f390fb78e8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1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g2f390fb78e8_0_16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2f390fb78e8_0_16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8" name="Google Shape;278;g2f390fb78e8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8087" y="2807125"/>
            <a:ext cx="3875225" cy="17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2f390fb78e8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0"/>
            <a:ext cx="9144001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2f390fb78e8_0_23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ESTRUCTURAS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AR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2f390fb78e8_0_23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A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Clase 2: CIERRE DE LA CLASE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g2f390fb78e8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92587"/>
            <a:ext cx="8839200" cy="81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2f390fb78e8_0_23"/>
          <p:cNvSpPr txBox="1"/>
          <p:nvPr/>
        </p:nvSpPr>
        <p:spPr>
          <a:xfrm>
            <a:off x="1333502" y="2924175"/>
            <a:ext cx="73926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❏"/>
            </a:pPr>
            <a:r>
              <a:rPr lang="es-AR" sz="2400"/>
              <a:t>Listas</a:t>
            </a:r>
            <a:endParaRPr sz="2400"/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s-AR" sz="2400"/>
              <a:t>Arboles</a:t>
            </a:r>
            <a:endParaRPr sz="2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A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USUARIO</dc:creator>
</cp:coreProperties>
</file>