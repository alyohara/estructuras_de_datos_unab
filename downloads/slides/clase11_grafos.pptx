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0" r:id="rId1"/>
    <p:sldMasterId id="2147483671" r:id="rId2"/>
  </p:sldMasterIdLst>
  <p:notesMasterIdLst>
    <p:notesMasterId r:id="rId27"/>
  </p:notesMasterIdLst>
  <p:sldIdLst>
    <p:sldId id="256" r:id="rId3"/>
    <p:sldId id="257" r:id="rId4"/>
    <p:sldId id="261" r:id="rId5"/>
    <p:sldId id="369" r:id="rId6"/>
    <p:sldId id="335" r:id="rId7"/>
    <p:sldId id="370" r:id="rId8"/>
    <p:sldId id="371" r:id="rId9"/>
    <p:sldId id="372" r:id="rId10"/>
    <p:sldId id="373" r:id="rId11"/>
    <p:sldId id="374" r:id="rId12"/>
    <p:sldId id="375" r:id="rId13"/>
    <p:sldId id="376" r:id="rId14"/>
    <p:sldId id="377" r:id="rId15"/>
    <p:sldId id="378" r:id="rId16"/>
    <p:sldId id="379" r:id="rId17"/>
    <p:sldId id="380" r:id="rId18"/>
    <p:sldId id="381" r:id="rId19"/>
    <p:sldId id="382" r:id="rId20"/>
    <p:sldId id="383" r:id="rId21"/>
    <p:sldId id="384" r:id="rId22"/>
    <p:sldId id="385" r:id="rId23"/>
    <p:sldId id="386" r:id="rId24"/>
    <p:sldId id="363" r:id="rId25"/>
    <p:sldId id="364" r:id="rId26"/>
  </p:sldIdLst>
  <p:sldSz cx="9144000" cy="6858000" type="screen4x3"/>
  <p:notesSz cx="6858000" cy="9144000"/>
  <p:embeddedFontLst>
    <p:embeddedFont>
      <p:font typeface="Open Sans" panose="020B0606030504020204" pitchFamily="34" charset="0"/>
      <p:regular r:id="rId28"/>
      <p:bold r:id="rId29"/>
      <p:italic r:id="rId30"/>
      <p:boldItalic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C5E5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5636" autoAdjust="0"/>
  </p:normalViewPr>
  <p:slideViewPr>
    <p:cSldViewPr snapToGrid="0">
      <p:cViewPr varScale="1">
        <p:scale>
          <a:sx n="59" d="100"/>
          <a:sy n="59" d="100"/>
        </p:scale>
        <p:origin x="1716" y="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54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font" Target="fonts/font1.fntdata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font" Target="fonts/font4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notesMaster" Target="notesMasters/notesMaster1.xml"/><Relationship Id="rId30" Type="http://schemas.openxmlformats.org/officeDocument/2006/relationships/font" Target="fonts/font3.fntdata"/><Relationship Id="rId35" Type="http://schemas.openxmlformats.org/officeDocument/2006/relationships/tableStyles" Target="tableStyles.xml"/><Relationship Id="rId8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1" name="Google Shape;16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02" name="Google Shape;2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02" name="Google Shape;2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932453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02" name="Google Shape;2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954252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02" name="Google Shape;2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347150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02" name="Google Shape;2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4846391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02" name="Google Shape;2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833521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02" name="Google Shape;2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5854523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02" name="Google Shape;2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1221833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02" name="Google Shape;2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0481063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02" name="Google Shape;2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7417730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02" name="Google Shape;2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9304464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02" name="Google Shape;2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6123425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02" name="Google Shape;2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4816450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02" name="Google Shape;2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2969169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02" name="Google Shape;2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1016311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02" name="Google Shape;2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0689152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02" name="Google Shape;2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5621590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02" name="Google Shape;2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3082679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02" name="Google Shape;2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5820913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02" name="Google Shape;2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357231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>
          <a:extLst>
            <a:ext uri="{FF2B5EF4-FFF2-40B4-BE49-F238E27FC236}">
              <a16:creationId xmlns:a16="http://schemas.microsoft.com/office/drawing/2014/main" id="{40B765DA-2F1B-34AB-0295-A3676B4870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:notes">
            <a:extLst>
              <a:ext uri="{FF2B5EF4-FFF2-40B4-BE49-F238E27FC236}">
                <a16:creationId xmlns:a16="http://schemas.microsoft.com/office/drawing/2014/main" id="{2D3FB202-4250-F5B8-185E-D870ED4AD50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02" name="Google Shape;202;p3:notes">
            <a:extLst>
              <a:ext uri="{FF2B5EF4-FFF2-40B4-BE49-F238E27FC236}">
                <a16:creationId xmlns:a16="http://schemas.microsoft.com/office/drawing/2014/main" id="{76F1BEF6-9800-1A5D-EC56-0621A055293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1293896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>
          <a:extLst>
            <a:ext uri="{FF2B5EF4-FFF2-40B4-BE49-F238E27FC236}">
              <a16:creationId xmlns:a16="http://schemas.microsoft.com/office/drawing/2014/main" id="{9914D13F-2958-39FA-C3BD-6592BDC1C6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:notes">
            <a:extLst>
              <a:ext uri="{FF2B5EF4-FFF2-40B4-BE49-F238E27FC236}">
                <a16:creationId xmlns:a16="http://schemas.microsoft.com/office/drawing/2014/main" id="{F61E8E17-9363-719B-9B94-42B80F93A60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02" name="Google Shape;202;p3:notes">
            <a:extLst>
              <a:ext uri="{FF2B5EF4-FFF2-40B4-BE49-F238E27FC236}">
                <a16:creationId xmlns:a16="http://schemas.microsoft.com/office/drawing/2014/main" id="{D53ECDEB-F0FB-4EFA-DC75-EECD73228A9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804870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dt" idx="10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ftr" idx="11"/>
          </p:nvPr>
        </p:nvSpPr>
        <p:spPr>
          <a:xfrm>
            <a:off x="3028951" y="6356353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>
            <a:spLocks noGrp="1"/>
          </p:cNvSpPr>
          <p:nvPr>
            <p:ph type="title"/>
          </p:nvPr>
        </p:nvSpPr>
        <p:spPr>
          <a:xfrm>
            <a:off x="628651" y="365128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body" idx="1"/>
          </p:nvPr>
        </p:nvSpPr>
        <p:spPr>
          <a:xfrm>
            <a:off x="628651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dt" idx="10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ftr" idx="11"/>
          </p:nvPr>
        </p:nvSpPr>
        <p:spPr>
          <a:xfrm>
            <a:off x="3028951" y="6356353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sldNum" idx="12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623889" y="1709741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>
            <a:off x="623889" y="4589466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dt" idx="10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ftr" idx="11"/>
          </p:nvPr>
        </p:nvSpPr>
        <p:spPr>
          <a:xfrm>
            <a:off x="3028951" y="6356353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sldNum" idx="12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>
            <a:spLocks noGrp="1"/>
          </p:cNvSpPr>
          <p:nvPr>
            <p:ph type="title"/>
          </p:nvPr>
        </p:nvSpPr>
        <p:spPr>
          <a:xfrm>
            <a:off x="628651" y="365128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body" idx="2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dt" idx="10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ftr" idx="11"/>
          </p:nvPr>
        </p:nvSpPr>
        <p:spPr>
          <a:xfrm>
            <a:off x="3028951" y="6356353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>
            <a:spLocks noGrp="1"/>
          </p:cNvSpPr>
          <p:nvPr>
            <p:ph type="title"/>
          </p:nvPr>
        </p:nvSpPr>
        <p:spPr>
          <a:xfrm>
            <a:off x="629842" y="365128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2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body" idx="3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body" idx="4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dt" idx="10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ftr" idx="11"/>
          </p:nvPr>
        </p:nvSpPr>
        <p:spPr>
          <a:xfrm>
            <a:off x="3028951" y="6356353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sldNum" idx="12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>
            <a:spLocks noGrp="1"/>
          </p:cNvSpPr>
          <p:nvPr>
            <p:ph type="title"/>
          </p:nvPr>
        </p:nvSpPr>
        <p:spPr>
          <a:xfrm>
            <a:off x="628651" y="365128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dt" idx="10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ftr" idx="11"/>
          </p:nvPr>
        </p:nvSpPr>
        <p:spPr>
          <a:xfrm>
            <a:off x="3028951" y="6356353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sldNum" idx="12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>
            <a:spLocks noGrp="1"/>
          </p:cNvSpPr>
          <p:nvPr>
            <p:ph type="dt" idx="10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ftr" idx="11"/>
          </p:nvPr>
        </p:nvSpPr>
        <p:spPr>
          <a:xfrm>
            <a:off x="3028951" y="6356353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sldNum" idx="12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>
            <a:spLocks noGrp="1"/>
          </p:cNvSpPr>
          <p:nvPr>
            <p:ph type="title"/>
          </p:nvPr>
        </p:nvSpPr>
        <p:spPr>
          <a:xfrm>
            <a:off x="629842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1"/>
          </p:nvPr>
        </p:nvSpPr>
        <p:spPr>
          <a:xfrm>
            <a:off x="3887391" y="987428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body" idx="2"/>
          </p:nvPr>
        </p:nvSpPr>
        <p:spPr>
          <a:xfrm>
            <a:off x="629842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dt" idx="10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ftr" idx="11"/>
          </p:nvPr>
        </p:nvSpPr>
        <p:spPr>
          <a:xfrm>
            <a:off x="3028951" y="6356353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sldNum" idx="12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>
            <a:spLocks noGrp="1"/>
          </p:cNvSpPr>
          <p:nvPr>
            <p:ph type="title"/>
          </p:nvPr>
        </p:nvSpPr>
        <p:spPr>
          <a:xfrm>
            <a:off x="629842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>
            <a:spLocks noGrp="1"/>
          </p:cNvSpPr>
          <p:nvPr>
            <p:ph type="pic" idx="2"/>
          </p:nvPr>
        </p:nvSpPr>
        <p:spPr>
          <a:xfrm>
            <a:off x="3887391" y="987428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>
            <a:spLocks noGrp="1"/>
          </p:cNvSpPr>
          <p:nvPr>
            <p:ph type="body" idx="1"/>
          </p:nvPr>
        </p:nvSpPr>
        <p:spPr>
          <a:xfrm>
            <a:off x="629842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dt" idx="10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ftr" idx="11"/>
          </p:nvPr>
        </p:nvSpPr>
        <p:spPr>
          <a:xfrm>
            <a:off x="3028951" y="6356353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sldNum" idx="12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/>
          </p:nvPr>
        </p:nvSpPr>
        <p:spPr>
          <a:xfrm>
            <a:off x="628651" y="365128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body" idx="1"/>
          </p:nvPr>
        </p:nvSpPr>
        <p:spPr>
          <a:xfrm rot="5400000">
            <a:off x="2396332" y="57944"/>
            <a:ext cx="4351338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dt" idx="10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ftr" idx="11"/>
          </p:nvPr>
        </p:nvSpPr>
        <p:spPr>
          <a:xfrm>
            <a:off x="3028951" y="6356353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sldNum" idx="12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>
            <a:spLocks noGrp="1"/>
          </p:cNvSpPr>
          <p:nvPr>
            <p:ph type="title"/>
          </p:nvPr>
        </p:nvSpPr>
        <p:spPr>
          <a:xfrm rot="5400000">
            <a:off x="4623595" y="2285207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body" idx="1"/>
          </p:nvPr>
        </p:nvSpPr>
        <p:spPr>
          <a:xfrm rot="5400000">
            <a:off x="623095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dt" idx="10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ftr" idx="11"/>
          </p:nvPr>
        </p:nvSpPr>
        <p:spPr>
          <a:xfrm>
            <a:off x="3028951" y="6356353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sldNum" idx="12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4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93" name="Google Shape;93;p14"/>
          <p:cNvSpPr txBox="1">
            <a:spLocks noGrp="1"/>
          </p:cNvSpPr>
          <p:nvPr>
            <p:ph type="dt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4"/>
          <p:cNvSpPr txBox="1">
            <a:spLocks noGrp="1"/>
          </p:cNvSpPr>
          <p:nvPr>
            <p:ph type="ft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14"/>
          <p:cNvSpPr txBox="1">
            <a:spLocks noGrp="1"/>
          </p:cNvSpPr>
          <p:nvPr>
            <p:ph type="sldNum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6"/>
          <p:cNvSpPr txBox="1"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16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05" name="Google Shape;105;p16"/>
          <p:cNvSpPr txBox="1">
            <a:spLocks noGrp="1"/>
          </p:cNvSpPr>
          <p:nvPr>
            <p:ph type="dt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16"/>
          <p:cNvSpPr txBox="1">
            <a:spLocks noGrp="1"/>
          </p:cNvSpPr>
          <p:nvPr>
            <p:ph type="ft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16"/>
          <p:cNvSpPr txBox="1">
            <a:spLocks noGrp="1"/>
          </p:cNvSpPr>
          <p:nvPr>
            <p:ph type="sldNum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17"/>
          <p:cNvSpPr txBox="1">
            <a:spLocks noGrp="1"/>
          </p:cNvSpPr>
          <p:nvPr>
            <p:ph type="body" idx="1"/>
          </p:nvPr>
        </p:nvSpPr>
        <p:spPr>
          <a:xfrm>
            <a:off x="457200" y="1600202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111" name="Google Shape;111;p17"/>
          <p:cNvSpPr txBox="1">
            <a:spLocks noGrp="1"/>
          </p:cNvSpPr>
          <p:nvPr>
            <p:ph type="body" idx="2"/>
          </p:nvPr>
        </p:nvSpPr>
        <p:spPr>
          <a:xfrm>
            <a:off x="4648200" y="1600202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112" name="Google Shape;112;p17"/>
          <p:cNvSpPr txBox="1">
            <a:spLocks noGrp="1"/>
          </p:cNvSpPr>
          <p:nvPr>
            <p:ph type="dt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17"/>
          <p:cNvSpPr txBox="1">
            <a:spLocks noGrp="1"/>
          </p:cNvSpPr>
          <p:nvPr>
            <p:ph type="ft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17"/>
          <p:cNvSpPr txBox="1">
            <a:spLocks noGrp="1"/>
          </p:cNvSpPr>
          <p:nvPr>
            <p:ph type="sldNum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18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18" name="Google Shape;118;p18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119" name="Google Shape;119;p18"/>
          <p:cNvSpPr txBox="1">
            <a:spLocks noGrp="1"/>
          </p:cNvSpPr>
          <p:nvPr>
            <p:ph type="body" idx="3"/>
          </p:nvPr>
        </p:nvSpPr>
        <p:spPr>
          <a:xfrm>
            <a:off x="4645026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20" name="Google Shape;120;p18"/>
          <p:cNvSpPr txBox="1">
            <a:spLocks noGrp="1"/>
          </p:cNvSpPr>
          <p:nvPr>
            <p:ph type="body" idx="4"/>
          </p:nvPr>
        </p:nvSpPr>
        <p:spPr>
          <a:xfrm>
            <a:off x="4645026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121" name="Google Shape;121;p18"/>
          <p:cNvSpPr txBox="1">
            <a:spLocks noGrp="1"/>
          </p:cNvSpPr>
          <p:nvPr>
            <p:ph type="dt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18"/>
          <p:cNvSpPr txBox="1">
            <a:spLocks noGrp="1"/>
          </p:cNvSpPr>
          <p:nvPr>
            <p:ph type="ft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18"/>
          <p:cNvSpPr txBox="1">
            <a:spLocks noGrp="1"/>
          </p:cNvSpPr>
          <p:nvPr>
            <p:ph type="sldNum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ólo el título" type="titleOnly">
  <p:cSld name="TITLE_ONLY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p19"/>
          <p:cNvSpPr txBox="1">
            <a:spLocks noGrp="1"/>
          </p:cNvSpPr>
          <p:nvPr>
            <p:ph type="dt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19"/>
          <p:cNvSpPr txBox="1">
            <a:spLocks noGrp="1"/>
          </p:cNvSpPr>
          <p:nvPr>
            <p:ph type="ft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19"/>
          <p:cNvSpPr txBox="1">
            <a:spLocks noGrp="1"/>
          </p:cNvSpPr>
          <p:nvPr>
            <p:ph type="sldNum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0"/>
          <p:cNvSpPr txBox="1">
            <a:spLocks noGrp="1"/>
          </p:cNvSpPr>
          <p:nvPr>
            <p:ph type="dt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20"/>
          <p:cNvSpPr txBox="1">
            <a:spLocks noGrp="1"/>
          </p:cNvSpPr>
          <p:nvPr>
            <p:ph type="ft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20"/>
          <p:cNvSpPr txBox="1">
            <a:spLocks noGrp="1"/>
          </p:cNvSpPr>
          <p:nvPr>
            <p:ph type="sldNum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1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21"/>
          <p:cNvSpPr txBox="1">
            <a:spLocks noGrp="1"/>
          </p:cNvSpPr>
          <p:nvPr>
            <p:ph type="body" idx="1"/>
          </p:nvPr>
        </p:nvSpPr>
        <p:spPr>
          <a:xfrm>
            <a:off x="3575051" y="273052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36" name="Google Shape;136;p21"/>
          <p:cNvSpPr txBox="1">
            <a:spLocks noGrp="1"/>
          </p:cNvSpPr>
          <p:nvPr>
            <p:ph type="body" idx="2"/>
          </p:nvPr>
        </p:nvSpPr>
        <p:spPr>
          <a:xfrm>
            <a:off x="457200" y="1435102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37" name="Google Shape;137;p21"/>
          <p:cNvSpPr txBox="1">
            <a:spLocks noGrp="1"/>
          </p:cNvSpPr>
          <p:nvPr>
            <p:ph type="dt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21"/>
          <p:cNvSpPr txBox="1">
            <a:spLocks noGrp="1"/>
          </p:cNvSpPr>
          <p:nvPr>
            <p:ph type="ft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21"/>
          <p:cNvSpPr txBox="1">
            <a:spLocks noGrp="1"/>
          </p:cNvSpPr>
          <p:nvPr>
            <p:ph type="sldNum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2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22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43" name="Google Shape;143;p22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44" name="Google Shape;144;p22"/>
          <p:cNvSpPr txBox="1">
            <a:spLocks noGrp="1"/>
          </p:cNvSpPr>
          <p:nvPr>
            <p:ph type="dt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p22"/>
          <p:cNvSpPr txBox="1">
            <a:spLocks noGrp="1"/>
          </p:cNvSpPr>
          <p:nvPr>
            <p:ph type="ft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6" name="Google Shape;146;p22"/>
          <p:cNvSpPr txBox="1">
            <a:spLocks noGrp="1"/>
          </p:cNvSpPr>
          <p:nvPr>
            <p:ph type="sldNum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9" name="Google Shape;149;p23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7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0" name="Google Shape;150;p23"/>
          <p:cNvSpPr txBox="1">
            <a:spLocks noGrp="1"/>
          </p:cNvSpPr>
          <p:nvPr>
            <p:ph type="dt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p23"/>
          <p:cNvSpPr txBox="1">
            <a:spLocks noGrp="1"/>
          </p:cNvSpPr>
          <p:nvPr>
            <p:ph type="ft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2" name="Google Shape;152;p23"/>
          <p:cNvSpPr txBox="1">
            <a:spLocks noGrp="1"/>
          </p:cNvSpPr>
          <p:nvPr>
            <p:ph type="sldNum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4"/>
          <p:cNvSpPr txBox="1">
            <a:spLocks noGrp="1"/>
          </p:cNvSpPr>
          <p:nvPr>
            <p:ph type="title"/>
          </p:nvPr>
        </p:nvSpPr>
        <p:spPr>
          <a:xfrm rot="5400000">
            <a:off x="4732338" y="2171703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p24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2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6" name="Google Shape;156;p24"/>
          <p:cNvSpPr txBox="1">
            <a:spLocks noGrp="1"/>
          </p:cNvSpPr>
          <p:nvPr>
            <p:ph type="dt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7" name="Google Shape;157;p24"/>
          <p:cNvSpPr txBox="1">
            <a:spLocks noGrp="1"/>
          </p:cNvSpPr>
          <p:nvPr>
            <p:ph type="ft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8" name="Google Shape;158;p24"/>
          <p:cNvSpPr txBox="1">
            <a:spLocks noGrp="1"/>
          </p:cNvSpPr>
          <p:nvPr>
            <p:ph type="sldNum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628651" y="365128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628651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3028951" y="6356353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6" name="Google Shape;86;p13"/>
          <p:cNvSpPr txBox="1"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7" name="Google Shape;87;p13"/>
          <p:cNvSpPr txBox="1">
            <a:spLocks noGrp="1"/>
          </p:cNvSpPr>
          <p:nvPr>
            <p:ph type="dt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8" name="Google Shape;88;p13"/>
          <p:cNvSpPr txBox="1">
            <a:spLocks noGrp="1"/>
          </p:cNvSpPr>
          <p:nvPr>
            <p:ph type="ft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9" name="Google Shape;89;p13"/>
          <p:cNvSpPr txBox="1">
            <a:spLocks noGrp="1"/>
          </p:cNvSpPr>
          <p:nvPr>
            <p:ph type="sldNum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A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1.emf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5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1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3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9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9.png"/><Relationship Id="rId4" Type="http://schemas.openxmlformats.org/officeDocument/2006/relationships/image" Target="../media/image3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5"/>
          <p:cNvSpPr txBox="1"/>
          <p:nvPr/>
        </p:nvSpPr>
        <p:spPr>
          <a:xfrm>
            <a:off x="283050" y="2432000"/>
            <a:ext cx="8577900" cy="257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4000" b="1" dirty="0">
                <a:solidFill>
                  <a:srgbClr val="FFFFFF"/>
                </a:solidFill>
              </a:rPr>
              <a:t>CLASE 11 - Unidad 7</a:t>
            </a:r>
            <a:endParaRPr sz="4000" b="1" dirty="0">
              <a:solidFill>
                <a:srgbClr val="FFFFFF"/>
              </a:solidFill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4000" b="1" dirty="0">
              <a:solidFill>
                <a:srgbClr val="FFFFFF"/>
              </a:solidFill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b="1" dirty="0"/>
          </a:p>
          <a:p>
            <a:pPr lvl="0" algn="ctr"/>
            <a:r>
              <a:rPr lang="es-AR" sz="4000" b="1" dirty="0">
                <a:solidFill>
                  <a:srgbClr val="FFFFFF"/>
                </a:solidFill>
              </a:rPr>
              <a:t> Grafos.</a:t>
            </a:r>
            <a:endParaRPr sz="4000" b="1" dirty="0">
              <a:solidFill>
                <a:srgbClr val="FFFFFF"/>
              </a:solidFill>
            </a:endParaRPr>
          </a:p>
        </p:txBody>
      </p:sp>
      <p:sp>
        <p:nvSpPr>
          <p:cNvPr id="164" name="Google Shape;164;p25"/>
          <p:cNvSpPr txBox="1"/>
          <p:nvPr/>
        </p:nvSpPr>
        <p:spPr>
          <a:xfrm>
            <a:off x="411458" y="5942975"/>
            <a:ext cx="8321100" cy="7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es-AR" sz="2700" b="1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ESTRUCTURAS DE DATOS</a:t>
            </a:r>
            <a:r>
              <a:rPr lang="es-AR" sz="2700" b="1" i="0" u="none" strike="noStrike" cap="none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(</a:t>
            </a:r>
            <a:r>
              <a:rPr lang="es-AR" sz="2700" b="1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271</a:t>
            </a:r>
            <a:r>
              <a:rPr lang="es-AR" sz="2700" b="1" i="0" u="none" strike="noStrike" cap="none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)</a:t>
            </a:r>
            <a:endParaRPr sz="23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AR" sz="1800" b="1" i="0" u="none" strike="noStrike" cap="none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Clase N. 11 Unidad 7. </a:t>
            </a:r>
            <a:endParaRPr sz="1800" b="1" i="0" u="none" strike="noStrike" cap="none" dirty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580"/>
            <a:ext cx="9144000" cy="1171495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26"/>
          <p:cNvSpPr txBox="1"/>
          <p:nvPr/>
        </p:nvSpPr>
        <p:spPr>
          <a:xfrm>
            <a:off x="1649400" y="346425"/>
            <a:ext cx="5292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2400" b="1" dirty="0">
                <a:solidFill>
                  <a:schemeClr val="lt1"/>
                </a:solidFill>
              </a:rPr>
              <a:t>Clase 11: AGENDA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26"/>
          <p:cNvSpPr txBox="1"/>
          <p:nvPr/>
        </p:nvSpPr>
        <p:spPr>
          <a:xfrm>
            <a:off x="-6" y="205025"/>
            <a:ext cx="1649400" cy="7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500" b="1">
                <a:solidFill>
                  <a:schemeClr val="lt1"/>
                </a:solidFill>
              </a:rPr>
              <a:t>ESTRUCTURAS </a:t>
            </a:r>
            <a:endParaRPr sz="15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500" b="1">
                <a:solidFill>
                  <a:schemeClr val="lt1"/>
                </a:solidFill>
              </a:rPr>
              <a:t>DE </a:t>
            </a:r>
            <a:endParaRPr sz="15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500" b="1">
                <a:solidFill>
                  <a:schemeClr val="lt1"/>
                </a:solidFill>
              </a:rPr>
              <a:t>DATOS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26"/>
          <p:cNvSpPr txBox="1"/>
          <p:nvPr/>
        </p:nvSpPr>
        <p:spPr>
          <a:xfrm>
            <a:off x="183300" y="1294803"/>
            <a:ext cx="8777400" cy="4801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s-AR" sz="2400" b="1" dirty="0">
                <a:solidFill>
                  <a:srgbClr val="204F85"/>
                </a:solidFill>
                <a:latin typeface="Open Sans"/>
                <a:ea typeface="Open Sans"/>
                <a:cs typeface="Open Sans"/>
                <a:sym typeface="Open Sans"/>
              </a:rPr>
              <a:t>AGENDA</a:t>
            </a:r>
            <a:endParaRPr sz="2400" b="1" i="0" u="none" strike="noStrike" cap="none" dirty="0">
              <a:solidFill>
                <a:srgbClr val="204F85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457200" marR="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s-AR" sz="1800" b="1" dirty="0">
                <a:highlight>
                  <a:srgbClr val="FFFFFF"/>
                </a:highlight>
              </a:rPr>
              <a:t>Temario:</a:t>
            </a:r>
          </a:p>
          <a:p>
            <a:pPr marL="645750" lvl="2" indent="-285750">
              <a:lnSpc>
                <a:spcPct val="150000"/>
              </a:lnSpc>
              <a:buSzPts val="1800"/>
              <a:buFont typeface="Courier New" panose="02070309020205020404" pitchFamily="49" charset="0"/>
              <a:buChar char="o"/>
            </a:pPr>
            <a:r>
              <a:rPr lang="es-AR" sz="1800" dirty="0"/>
              <a:t>Grafos orientados y no orientados. Grafos pesados. </a:t>
            </a:r>
          </a:p>
          <a:p>
            <a:pPr marL="645750" lvl="2" indent="-285750">
              <a:lnSpc>
                <a:spcPct val="150000"/>
              </a:lnSpc>
              <a:buSzPts val="1800"/>
              <a:buFont typeface="Courier New" panose="02070309020205020404" pitchFamily="49" charset="0"/>
              <a:buChar char="o"/>
            </a:pPr>
            <a:r>
              <a:rPr lang="es-AR" sz="1800" dirty="0"/>
              <a:t>Distintas representaciones: Listas de Adyacencia y Matriz de Adyacencia.</a:t>
            </a:r>
          </a:p>
          <a:p>
            <a:pPr marL="645750" lvl="2" indent="-285750">
              <a:lnSpc>
                <a:spcPct val="150000"/>
              </a:lnSpc>
              <a:buSzPts val="1800"/>
              <a:buFont typeface="Courier New" panose="02070309020205020404" pitchFamily="49" charset="0"/>
              <a:buChar char="o"/>
            </a:pPr>
            <a:r>
              <a:rPr lang="es-AR" sz="1800" dirty="0"/>
              <a:t>Definiciones básicas y conceptos fundamentales. Grafos </a:t>
            </a:r>
            <a:r>
              <a:rPr lang="es-AR" sz="1800" dirty="0" err="1"/>
              <a:t>acíclicos</a:t>
            </a:r>
            <a:r>
              <a:rPr lang="es-AR" sz="1800" dirty="0"/>
              <a:t>. Grafos conexos y dígrafos fuertemente conexos.</a:t>
            </a:r>
          </a:p>
          <a:p>
            <a:pPr marL="645750" lvl="2" indent="-285750">
              <a:lnSpc>
                <a:spcPct val="150000"/>
              </a:lnSpc>
              <a:buSzPts val="1800"/>
              <a:buFont typeface="Courier New" panose="02070309020205020404" pitchFamily="49" charset="0"/>
              <a:buChar char="o"/>
            </a:pPr>
            <a:endParaRPr lang="es-AR" sz="1800" dirty="0"/>
          </a:p>
          <a:p>
            <a:pPr marL="457200" marR="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es-AR" sz="1800" b="1" i="0" u="none" strike="noStrike" cap="none" dirty="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Ejemplos</a:t>
            </a:r>
            <a:r>
              <a:rPr lang="es-AR" sz="1800" b="0" i="0" u="none" strike="noStrike" cap="none" dirty="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s-AR" sz="1800" b="1" i="0" u="none" strike="noStrike" cap="none" dirty="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en Lenguajes Python</a:t>
            </a:r>
            <a:endParaRPr sz="1800" b="1" i="0" u="none" strike="noStrike" cap="none" dirty="0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es-AR" sz="1800" b="1" i="0" u="none" strike="noStrike" cap="none" dirty="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Temas relacionados y links de </a:t>
            </a:r>
            <a:r>
              <a:rPr lang="es-AR" sz="1800" b="1" dirty="0">
                <a:highlight>
                  <a:srgbClr val="FFFFFF"/>
                </a:highlight>
              </a:rPr>
              <a:t>interés</a:t>
            </a:r>
            <a:endParaRPr sz="1800" b="1" i="0" u="none" strike="noStrike" cap="none" dirty="0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es-AR" sz="1800" b="1" dirty="0">
                <a:highlight>
                  <a:srgbClr val="FFFFFF"/>
                </a:highlight>
              </a:rPr>
              <a:t>Práctica</a:t>
            </a:r>
            <a:endParaRPr sz="1800" b="1" i="0" u="none" strike="noStrike" cap="none" dirty="0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lang="es-AR" sz="1800" b="1" dirty="0">
                <a:highlight>
                  <a:srgbClr val="FFFFFF"/>
                </a:highlight>
              </a:rPr>
              <a:t>Cierre de la clase</a:t>
            </a:r>
            <a:endParaRPr sz="1800" b="1" i="0" u="none" strike="noStrike" cap="none" dirty="0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0"/>
          <p:cNvSpPr txBox="1"/>
          <p:nvPr/>
        </p:nvSpPr>
        <p:spPr>
          <a:xfrm>
            <a:off x="209919" y="1354045"/>
            <a:ext cx="8724162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s-AR" sz="2800" b="1" dirty="0">
                <a:solidFill>
                  <a:srgbClr val="538CD5"/>
                </a:solidFill>
              </a:rPr>
              <a:t>Grafos Definición: </a:t>
            </a:r>
            <a:endParaRPr sz="2800" b="1" dirty="0">
              <a:solidFill>
                <a:srgbClr val="538CD5"/>
              </a:solidFill>
            </a:endParaRPr>
          </a:p>
        </p:txBody>
      </p:sp>
      <p:pic>
        <p:nvPicPr>
          <p:cNvPr id="205" name="Google Shape;205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580"/>
            <a:ext cx="9144000" cy="1171495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30"/>
          <p:cNvSpPr txBox="1"/>
          <p:nvPr/>
        </p:nvSpPr>
        <p:spPr>
          <a:xfrm>
            <a:off x="1649400" y="346425"/>
            <a:ext cx="562008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es-AR" sz="2400" b="1" dirty="0">
                <a:solidFill>
                  <a:schemeClr val="lt1"/>
                </a:solidFill>
              </a:rPr>
              <a:t>Clase 11: Grafos</a:t>
            </a:r>
            <a:endParaRPr sz="2400" b="1" dirty="0">
              <a:solidFill>
                <a:schemeClr val="lt1"/>
              </a:solidFill>
              <a:sym typeface="Calibri"/>
            </a:endParaRPr>
          </a:p>
        </p:txBody>
      </p:sp>
      <p:sp>
        <p:nvSpPr>
          <p:cNvPr id="208" name="Google Shape;208;p30"/>
          <p:cNvSpPr txBox="1"/>
          <p:nvPr/>
        </p:nvSpPr>
        <p:spPr>
          <a:xfrm>
            <a:off x="-6" y="205025"/>
            <a:ext cx="1649400" cy="7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500" b="1">
                <a:solidFill>
                  <a:schemeClr val="lt1"/>
                </a:solidFill>
              </a:rPr>
              <a:t>ESTRUCTURAS </a:t>
            </a:r>
            <a:endParaRPr sz="15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500" b="1">
                <a:solidFill>
                  <a:schemeClr val="lt1"/>
                </a:solidFill>
              </a:rPr>
              <a:t>DE </a:t>
            </a:r>
            <a:endParaRPr sz="15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500" b="1">
                <a:solidFill>
                  <a:schemeClr val="lt1"/>
                </a:solidFill>
              </a:rPr>
              <a:t>DATOS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Imagen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869" y="2058195"/>
            <a:ext cx="7956741" cy="2161223"/>
          </a:xfrm>
          <a:prstGeom prst="rect">
            <a:avLst/>
          </a:prstGeom>
        </p:spPr>
      </p:pic>
      <p:pic>
        <p:nvPicPr>
          <p:cNvPr id="10" name="Imagen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9919" y="4219418"/>
            <a:ext cx="8081011" cy="253066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0"/>
          <p:cNvSpPr txBox="1"/>
          <p:nvPr/>
        </p:nvSpPr>
        <p:spPr>
          <a:xfrm>
            <a:off x="327819" y="1390743"/>
            <a:ext cx="8724162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s-AR" sz="2800" b="1" dirty="0">
                <a:solidFill>
                  <a:srgbClr val="538CD5"/>
                </a:solidFill>
              </a:rPr>
              <a:t>Grafos orientados y no orientados. </a:t>
            </a:r>
            <a:endParaRPr sz="2800" b="1" dirty="0">
              <a:solidFill>
                <a:srgbClr val="538CD5"/>
              </a:solidFill>
            </a:endParaRPr>
          </a:p>
        </p:txBody>
      </p:sp>
      <p:pic>
        <p:nvPicPr>
          <p:cNvPr id="205" name="Google Shape;205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580"/>
            <a:ext cx="9144000" cy="1171495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30"/>
          <p:cNvSpPr txBox="1"/>
          <p:nvPr/>
        </p:nvSpPr>
        <p:spPr>
          <a:xfrm>
            <a:off x="1649400" y="346425"/>
            <a:ext cx="562008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es-AR" sz="2400" b="1" dirty="0">
                <a:solidFill>
                  <a:schemeClr val="lt1"/>
                </a:solidFill>
              </a:rPr>
              <a:t>Clase 11: Grafos</a:t>
            </a:r>
            <a:endParaRPr sz="2400" b="1" dirty="0">
              <a:solidFill>
                <a:schemeClr val="lt1"/>
              </a:solidFill>
              <a:sym typeface="Calibri"/>
            </a:endParaRPr>
          </a:p>
        </p:txBody>
      </p:sp>
      <p:sp>
        <p:nvSpPr>
          <p:cNvPr id="208" name="Google Shape;208;p30"/>
          <p:cNvSpPr txBox="1"/>
          <p:nvPr/>
        </p:nvSpPr>
        <p:spPr>
          <a:xfrm>
            <a:off x="-6" y="205025"/>
            <a:ext cx="1649400" cy="7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500" b="1">
                <a:solidFill>
                  <a:schemeClr val="lt1"/>
                </a:solidFill>
              </a:rPr>
              <a:t>ESTRUCTURAS </a:t>
            </a:r>
            <a:endParaRPr sz="15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500" b="1">
                <a:solidFill>
                  <a:schemeClr val="lt1"/>
                </a:solidFill>
              </a:rPr>
              <a:t>DE </a:t>
            </a:r>
            <a:endParaRPr sz="15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500" b="1">
                <a:solidFill>
                  <a:schemeClr val="lt1"/>
                </a:solidFill>
              </a:rPr>
              <a:t>DATOS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CuadroTexto 3"/>
          <p:cNvSpPr txBox="1"/>
          <p:nvPr/>
        </p:nvSpPr>
        <p:spPr>
          <a:xfrm>
            <a:off x="5079419" y="2013303"/>
            <a:ext cx="3972562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s-AR" dirty="0"/>
              <a:t>Un</a:t>
            </a:r>
            <a:r>
              <a:rPr lang="es-AR" b="1" dirty="0"/>
              <a:t> grafo no orientado( no dirigido) </a:t>
            </a:r>
          </a:p>
          <a:p>
            <a:pPr>
              <a:spcBef>
                <a:spcPts val="600"/>
              </a:spcBef>
            </a:pPr>
            <a:r>
              <a:rPr lang="es-AR" sz="1600" dirty="0"/>
              <a:t>es un grafo donde las aristas representan</a:t>
            </a:r>
          </a:p>
          <a:p>
            <a:pPr>
              <a:spcBef>
                <a:spcPts val="600"/>
              </a:spcBef>
            </a:pPr>
            <a:r>
              <a:rPr lang="es-AR" sz="1600" dirty="0"/>
              <a:t>relaciones simétricas</a:t>
            </a:r>
          </a:p>
        </p:txBody>
      </p:sp>
      <p:sp>
        <p:nvSpPr>
          <p:cNvPr id="5" name="CuadroTexto 4"/>
          <p:cNvSpPr txBox="1"/>
          <p:nvPr/>
        </p:nvSpPr>
        <p:spPr>
          <a:xfrm>
            <a:off x="327819" y="2013303"/>
            <a:ext cx="345799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s-AR" sz="1600" dirty="0"/>
              <a:t>Un </a:t>
            </a:r>
            <a:r>
              <a:rPr lang="es-AR" sz="1600" b="1" dirty="0"/>
              <a:t>grafo orientado(dirigido)</a:t>
            </a:r>
          </a:p>
          <a:p>
            <a:pPr>
              <a:spcBef>
                <a:spcPts val="600"/>
              </a:spcBef>
            </a:pPr>
            <a:r>
              <a:rPr lang="es-AR" sz="1600" dirty="0"/>
              <a:t>Es un grafo donde las aristas tienen</a:t>
            </a:r>
          </a:p>
          <a:p>
            <a:pPr>
              <a:spcBef>
                <a:spcPts val="600"/>
              </a:spcBef>
            </a:pPr>
            <a:r>
              <a:rPr lang="es-AR" sz="1600" dirty="0"/>
              <a:t>una dirección </a:t>
            </a:r>
          </a:p>
          <a:p>
            <a:endParaRPr lang="es-AR" dirty="0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4694" y="3331162"/>
            <a:ext cx="3238889" cy="2901998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2958" y="3209242"/>
            <a:ext cx="3749212" cy="3023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31091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0"/>
          <p:cNvSpPr txBox="1"/>
          <p:nvPr/>
        </p:nvSpPr>
        <p:spPr>
          <a:xfrm>
            <a:off x="327819" y="1421278"/>
            <a:ext cx="8724162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s-AR" sz="2800" b="1" dirty="0">
                <a:solidFill>
                  <a:srgbClr val="538CD5"/>
                </a:solidFill>
              </a:rPr>
              <a:t>Ejemplos:</a:t>
            </a:r>
            <a:endParaRPr sz="2800" b="1" dirty="0">
              <a:solidFill>
                <a:srgbClr val="538CD5"/>
              </a:solidFill>
            </a:endParaRPr>
          </a:p>
        </p:txBody>
      </p:sp>
      <p:pic>
        <p:nvPicPr>
          <p:cNvPr id="205" name="Google Shape;205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580"/>
            <a:ext cx="9144000" cy="1171495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30"/>
          <p:cNvSpPr txBox="1"/>
          <p:nvPr/>
        </p:nvSpPr>
        <p:spPr>
          <a:xfrm>
            <a:off x="327819" y="1944458"/>
            <a:ext cx="8553081" cy="45245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numCol="1" anchor="t" anchorCtr="0">
            <a:noAutofit/>
          </a:bodyPr>
          <a:lstStyle/>
          <a:p>
            <a:pPr>
              <a:lnSpc>
                <a:spcPct val="150000"/>
              </a:lnSpc>
            </a:pPr>
            <a:endParaRPr sz="2000" dirty="0">
              <a:solidFill>
                <a:schemeClr val="dk1"/>
              </a:solidFill>
            </a:endParaRPr>
          </a:p>
        </p:txBody>
      </p:sp>
      <p:sp>
        <p:nvSpPr>
          <p:cNvPr id="207" name="Google Shape;207;p30"/>
          <p:cNvSpPr txBox="1"/>
          <p:nvPr/>
        </p:nvSpPr>
        <p:spPr>
          <a:xfrm>
            <a:off x="1649400" y="346425"/>
            <a:ext cx="562008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es-AR" sz="2400" b="1" dirty="0">
                <a:solidFill>
                  <a:schemeClr val="lt1"/>
                </a:solidFill>
              </a:rPr>
              <a:t>Clase 11: Grafos</a:t>
            </a:r>
            <a:endParaRPr sz="2400" b="1" dirty="0">
              <a:solidFill>
                <a:schemeClr val="lt1"/>
              </a:solidFill>
              <a:sym typeface="Calibri"/>
            </a:endParaRPr>
          </a:p>
        </p:txBody>
      </p:sp>
      <p:sp>
        <p:nvSpPr>
          <p:cNvPr id="208" name="Google Shape;208;p30"/>
          <p:cNvSpPr txBox="1"/>
          <p:nvPr/>
        </p:nvSpPr>
        <p:spPr>
          <a:xfrm>
            <a:off x="-6" y="205025"/>
            <a:ext cx="1649400" cy="7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500" b="1">
                <a:solidFill>
                  <a:schemeClr val="lt1"/>
                </a:solidFill>
              </a:rPr>
              <a:t>ESTRUCTURAS </a:t>
            </a:r>
            <a:endParaRPr sz="15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500" b="1">
                <a:solidFill>
                  <a:schemeClr val="lt1"/>
                </a:solidFill>
              </a:rPr>
              <a:t>DE </a:t>
            </a:r>
            <a:endParaRPr sz="15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500" b="1">
                <a:solidFill>
                  <a:schemeClr val="lt1"/>
                </a:solidFill>
              </a:rPr>
              <a:t>DATOS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393" y="2232530"/>
            <a:ext cx="8425507" cy="3948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97370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169" y="2809876"/>
            <a:ext cx="7703661" cy="3819770"/>
          </a:xfrm>
          <a:prstGeom prst="rect">
            <a:avLst/>
          </a:prstGeom>
        </p:spPr>
      </p:pic>
      <p:sp>
        <p:nvSpPr>
          <p:cNvPr id="204" name="Google Shape;204;p30"/>
          <p:cNvSpPr txBox="1"/>
          <p:nvPr/>
        </p:nvSpPr>
        <p:spPr>
          <a:xfrm>
            <a:off x="327819" y="1421278"/>
            <a:ext cx="8724162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s-AR" sz="2800" b="1" dirty="0">
                <a:solidFill>
                  <a:srgbClr val="538CD5"/>
                </a:solidFill>
              </a:rPr>
              <a:t>Grafos pesados:</a:t>
            </a:r>
            <a:endParaRPr sz="2800" b="1" dirty="0">
              <a:solidFill>
                <a:srgbClr val="538CD5"/>
              </a:solidFill>
            </a:endParaRPr>
          </a:p>
        </p:txBody>
      </p:sp>
      <p:pic>
        <p:nvPicPr>
          <p:cNvPr id="205" name="Google Shape;205;p3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1580"/>
            <a:ext cx="9144000" cy="1171495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30"/>
          <p:cNvSpPr txBox="1"/>
          <p:nvPr/>
        </p:nvSpPr>
        <p:spPr>
          <a:xfrm>
            <a:off x="327819" y="1944458"/>
            <a:ext cx="8553081" cy="45245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numCol="1" anchor="t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es-AR" sz="2000" dirty="0"/>
              <a:t>Los </a:t>
            </a:r>
            <a:r>
              <a:rPr lang="es-AR" sz="2000" b="1" dirty="0"/>
              <a:t>grafos pesados</a:t>
            </a:r>
            <a:r>
              <a:rPr lang="es-AR" sz="2000" dirty="0"/>
              <a:t>, son grafos donde las aristas tienen un peso o costo asociado. También se los conoce como ponderados o con costo.</a:t>
            </a:r>
            <a:endParaRPr sz="2000" dirty="0">
              <a:solidFill>
                <a:schemeClr val="dk1"/>
              </a:solidFill>
            </a:endParaRPr>
          </a:p>
        </p:txBody>
      </p:sp>
      <p:sp>
        <p:nvSpPr>
          <p:cNvPr id="207" name="Google Shape;207;p30"/>
          <p:cNvSpPr txBox="1"/>
          <p:nvPr/>
        </p:nvSpPr>
        <p:spPr>
          <a:xfrm>
            <a:off x="1649400" y="346425"/>
            <a:ext cx="562008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es-AR" sz="2400" b="1" dirty="0">
                <a:solidFill>
                  <a:schemeClr val="lt1"/>
                </a:solidFill>
              </a:rPr>
              <a:t>Clase 11: Grafos</a:t>
            </a:r>
            <a:endParaRPr sz="2400" b="1" dirty="0">
              <a:solidFill>
                <a:schemeClr val="lt1"/>
              </a:solidFill>
              <a:sym typeface="Calibri"/>
            </a:endParaRPr>
          </a:p>
        </p:txBody>
      </p:sp>
      <p:sp>
        <p:nvSpPr>
          <p:cNvPr id="208" name="Google Shape;208;p30"/>
          <p:cNvSpPr txBox="1"/>
          <p:nvPr/>
        </p:nvSpPr>
        <p:spPr>
          <a:xfrm>
            <a:off x="-6" y="205025"/>
            <a:ext cx="1649400" cy="7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500" b="1">
                <a:solidFill>
                  <a:schemeClr val="lt1"/>
                </a:solidFill>
              </a:rPr>
              <a:t>ESTRUCTURAS </a:t>
            </a:r>
            <a:endParaRPr sz="15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500" b="1">
                <a:solidFill>
                  <a:schemeClr val="lt1"/>
                </a:solidFill>
              </a:rPr>
              <a:t>DE </a:t>
            </a:r>
            <a:endParaRPr sz="15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500" b="1">
                <a:solidFill>
                  <a:schemeClr val="lt1"/>
                </a:solidFill>
              </a:rPr>
              <a:t>DATOS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366896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0"/>
          <p:cNvSpPr txBox="1"/>
          <p:nvPr/>
        </p:nvSpPr>
        <p:spPr>
          <a:xfrm>
            <a:off x="327819" y="1421278"/>
            <a:ext cx="8724162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s-AR" sz="2800" b="1" dirty="0">
                <a:solidFill>
                  <a:srgbClr val="538CD5"/>
                </a:solidFill>
              </a:rPr>
              <a:t>Grafos representaciones:</a:t>
            </a:r>
            <a:endParaRPr sz="2800" b="1" dirty="0">
              <a:solidFill>
                <a:srgbClr val="538CD5"/>
              </a:solidFill>
            </a:endParaRPr>
          </a:p>
        </p:txBody>
      </p:sp>
      <p:pic>
        <p:nvPicPr>
          <p:cNvPr id="205" name="Google Shape;205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580"/>
            <a:ext cx="9144000" cy="1171495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30"/>
          <p:cNvSpPr txBox="1"/>
          <p:nvPr/>
        </p:nvSpPr>
        <p:spPr>
          <a:xfrm>
            <a:off x="1649400" y="346425"/>
            <a:ext cx="562008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es-AR" sz="2400" b="1" dirty="0">
                <a:solidFill>
                  <a:schemeClr val="lt1"/>
                </a:solidFill>
              </a:rPr>
              <a:t>Clase 11: Grafos </a:t>
            </a:r>
            <a:endParaRPr sz="2400" b="1" dirty="0">
              <a:solidFill>
                <a:schemeClr val="lt1"/>
              </a:solidFill>
              <a:sym typeface="Calibri"/>
            </a:endParaRPr>
          </a:p>
        </p:txBody>
      </p:sp>
      <p:sp>
        <p:nvSpPr>
          <p:cNvPr id="208" name="Google Shape;208;p30"/>
          <p:cNvSpPr txBox="1"/>
          <p:nvPr/>
        </p:nvSpPr>
        <p:spPr>
          <a:xfrm>
            <a:off x="-6" y="205025"/>
            <a:ext cx="1649400" cy="7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500" b="1">
                <a:solidFill>
                  <a:schemeClr val="lt1"/>
                </a:solidFill>
              </a:rPr>
              <a:t>ESTRUCTURAS </a:t>
            </a:r>
            <a:endParaRPr sz="15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500" b="1">
                <a:solidFill>
                  <a:schemeClr val="lt1"/>
                </a:solidFill>
              </a:rPr>
              <a:t>DE </a:t>
            </a:r>
            <a:endParaRPr sz="15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500" b="1">
                <a:solidFill>
                  <a:schemeClr val="lt1"/>
                </a:solidFill>
              </a:rPr>
              <a:t>DATOS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Imagen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819" y="2495005"/>
            <a:ext cx="3741753" cy="2930435"/>
          </a:xfrm>
          <a:prstGeom prst="rect">
            <a:avLst/>
          </a:prstGeom>
        </p:spPr>
      </p:pic>
      <p:pic>
        <p:nvPicPr>
          <p:cNvPr id="9" name="Imagen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59440" y="2452881"/>
            <a:ext cx="3592988" cy="3041232"/>
          </a:xfrm>
          <a:prstGeom prst="rect">
            <a:avLst/>
          </a:prstGeom>
        </p:spPr>
      </p:pic>
      <p:sp>
        <p:nvSpPr>
          <p:cNvPr id="2" name="CuadroTexto 1"/>
          <p:cNvSpPr txBox="1"/>
          <p:nvPr/>
        </p:nvSpPr>
        <p:spPr>
          <a:xfrm>
            <a:off x="6255934" y="4926116"/>
            <a:ext cx="197201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b="1" dirty="0">
                <a:solidFill>
                  <a:srgbClr val="0070C0"/>
                </a:solidFill>
              </a:rPr>
              <a:t>Lista de adyacencias</a:t>
            </a:r>
            <a:endParaRPr lang="es-AR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21314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0"/>
          <p:cNvSpPr txBox="1"/>
          <p:nvPr/>
        </p:nvSpPr>
        <p:spPr>
          <a:xfrm>
            <a:off x="327819" y="1421278"/>
            <a:ext cx="8724162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s-AR" sz="2800" b="1" dirty="0">
                <a:solidFill>
                  <a:srgbClr val="538CD5"/>
                </a:solidFill>
              </a:rPr>
              <a:t>Matriz de adyacencias:</a:t>
            </a:r>
            <a:endParaRPr sz="2800" b="1" dirty="0">
              <a:solidFill>
                <a:srgbClr val="538CD5"/>
              </a:solidFill>
            </a:endParaRPr>
          </a:p>
        </p:txBody>
      </p:sp>
      <p:pic>
        <p:nvPicPr>
          <p:cNvPr id="205" name="Google Shape;205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580"/>
            <a:ext cx="9144000" cy="1171495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30"/>
          <p:cNvSpPr txBox="1"/>
          <p:nvPr/>
        </p:nvSpPr>
        <p:spPr>
          <a:xfrm>
            <a:off x="1649400" y="346425"/>
            <a:ext cx="562008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es-AR" sz="2400" b="1" dirty="0">
                <a:solidFill>
                  <a:schemeClr val="lt1"/>
                </a:solidFill>
              </a:rPr>
              <a:t>Clase 11: Grafos </a:t>
            </a:r>
            <a:endParaRPr sz="2400" b="1" dirty="0">
              <a:solidFill>
                <a:schemeClr val="lt1"/>
              </a:solidFill>
              <a:sym typeface="Calibri"/>
            </a:endParaRPr>
          </a:p>
        </p:txBody>
      </p:sp>
      <p:sp>
        <p:nvSpPr>
          <p:cNvPr id="208" name="Google Shape;208;p30"/>
          <p:cNvSpPr txBox="1"/>
          <p:nvPr/>
        </p:nvSpPr>
        <p:spPr>
          <a:xfrm>
            <a:off x="-6" y="205025"/>
            <a:ext cx="1649400" cy="7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500" b="1">
                <a:solidFill>
                  <a:schemeClr val="lt1"/>
                </a:solidFill>
              </a:rPr>
              <a:t>ESTRUCTURAS </a:t>
            </a:r>
            <a:endParaRPr sz="15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500" b="1">
                <a:solidFill>
                  <a:schemeClr val="lt1"/>
                </a:solidFill>
              </a:rPr>
              <a:t>DE </a:t>
            </a:r>
            <a:endParaRPr sz="15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500" b="1">
                <a:solidFill>
                  <a:schemeClr val="lt1"/>
                </a:solidFill>
              </a:rPr>
              <a:t>DATOS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4342" y="1944458"/>
            <a:ext cx="5138738" cy="2073884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4011" y="4541522"/>
            <a:ext cx="5417483" cy="1822133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9603" y="2192661"/>
            <a:ext cx="3301915" cy="4223379"/>
          </a:xfrm>
          <a:prstGeom prst="rect">
            <a:avLst/>
          </a:prstGeom>
        </p:spPr>
      </p:pic>
      <p:pic>
        <p:nvPicPr>
          <p:cNvPr id="10" name="Imagen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38625" y="2719313"/>
            <a:ext cx="1123950" cy="68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53728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0"/>
          <p:cNvSpPr txBox="1"/>
          <p:nvPr/>
        </p:nvSpPr>
        <p:spPr>
          <a:xfrm>
            <a:off x="327819" y="1421278"/>
            <a:ext cx="8724162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s-AR" sz="2800" b="1" dirty="0">
                <a:solidFill>
                  <a:srgbClr val="538CD5"/>
                </a:solidFill>
              </a:rPr>
              <a:t>Matriz de adyacencias:</a:t>
            </a:r>
            <a:endParaRPr sz="2800" b="1" dirty="0">
              <a:solidFill>
                <a:srgbClr val="538CD5"/>
              </a:solidFill>
            </a:endParaRPr>
          </a:p>
        </p:txBody>
      </p:sp>
      <p:pic>
        <p:nvPicPr>
          <p:cNvPr id="205" name="Google Shape;205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580"/>
            <a:ext cx="9144000" cy="1171495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30"/>
          <p:cNvSpPr txBox="1"/>
          <p:nvPr/>
        </p:nvSpPr>
        <p:spPr>
          <a:xfrm>
            <a:off x="1649400" y="346425"/>
            <a:ext cx="562008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es-AR" sz="2400" b="1" dirty="0">
                <a:solidFill>
                  <a:schemeClr val="lt1"/>
                </a:solidFill>
              </a:rPr>
              <a:t>Clase 11: Grafos </a:t>
            </a:r>
            <a:endParaRPr sz="2400" b="1" dirty="0">
              <a:solidFill>
                <a:schemeClr val="lt1"/>
              </a:solidFill>
              <a:sym typeface="Calibri"/>
            </a:endParaRPr>
          </a:p>
        </p:txBody>
      </p:sp>
      <p:sp>
        <p:nvSpPr>
          <p:cNvPr id="208" name="Google Shape;208;p30"/>
          <p:cNvSpPr txBox="1"/>
          <p:nvPr/>
        </p:nvSpPr>
        <p:spPr>
          <a:xfrm>
            <a:off x="-6" y="205025"/>
            <a:ext cx="1649400" cy="7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500" b="1">
                <a:solidFill>
                  <a:schemeClr val="lt1"/>
                </a:solidFill>
              </a:rPr>
              <a:t>ESTRUCTURAS </a:t>
            </a:r>
            <a:endParaRPr sz="15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500" b="1">
                <a:solidFill>
                  <a:schemeClr val="lt1"/>
                </a:solidFill>
              </a:rPr>
              <a:t>DE </a:t>
            </a:r>
            <a:endParaRPr sz="15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500" b="1">
                <a:solidFill>
                  <a:schemeClr val="lt1"/>
                </a:solidFill>
              </a:rPr>
              <a:t>DATOS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CuadroTexto 1"/>
          <p:cNvSpPr txBox="1"/>
          <p:nvPr/>
        </p:nvSpPr>
        <p:spPr>
          <a:xfrm>
            <a:off x="1143000" y="2788920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AR" dirty="0"/>
          </a:p>
        </p:txBody>
      </p:sp>
      <p:pic>
        <p:nvPicPr>
          <p:cNvPr id="8" name="Imagen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057" y="2007870"/>
            <a:ext cx="6321743" cy="1725068"/>
          </a:xfrm>
          <a:prstGeom prst="rect">
            <a:avLst/>
          </a:prstGeom>
        </p:spPr>
      </p:pic>
      <p:pic>
        <p:nvPicPr>
          <p:cNvPr id="9" name="Imagen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4694" y="3732938"/>
            <a:ext cx="7817700" cy="2805022"/>
          </a:xfrm>
          <a:prstGeom prst="rect">
            <a:avLst/>
          </a:prstGeom>
        </p:spPr>
      </p:pic>
      <p:pic>
        <p:nvPicPr>
          <p:cNvPr id="10" name="Imagen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50122" y="2386118"/>
            <a:ext cx="1123950" cy="68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32345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0"/>
          <p:cNvSpPr txBox="1"/>
          <p:nvPr/>
        </p:nvSpPr>
        <p:spPr>
          <a:xfrm>
            <a:off x="327819" y="1421278"/>
            <a:ext cx="8724162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s-AR" sz="2800" b="1" dirty="0">
                <a:solidFill>
                  <a:srgbClr val="538CD5"/>
                </a:solidFill>
              </a:rPr>
              <a:t>Lista de adyacencias:</a:t>
            </a:r>
            <a:endParaRPr sz="2800" b="1" dirty="0">
              <a:solidFill>
                <a:srgbClr val="538CD5"/>
              </a:solidFill>
            </a:endParaRPr>
          </a:p>
        </p:txBody>
      </p:sp>
      <p:pic>
        <p:nvPicPr>
          <p:cNvPr id="205" name="Google Shape;205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580"/>
            <a:ext cx="9144000" cy="1171495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30"/>
          <p:cNvSpPr txBox="1"/>
          <p:nvPr/>
        </p:nvSpPr>
        <p:spPr>
          <a:xfrm>
            <a:off x="1649400" y="346425"/>
            <a:ext cx="562008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es-AR" sz="2400" b="1" dirty="0">
                <a:solidFill>
                  <a:schemeClr val="lt1"/>
                </a:solidFill>
              </a:rPr>
              <a:t>Clase 11: Grafos </a:t>
            </a:r>
            <a:endParaRPr sz="2400" b="1" dirty="0">
              <a:solidFill>
                <a:schemeClr val="lt1"/>
              </a:solidFill>
              <a:sym typeface="Calibri"/>
            </a:endParaRPr>
          </a:p>
        </p:txBody>
      </p:sp>
      <p:sp>
        <p:nvSpPr>
          <p:cNvPr id="208" name="Google Shape;208;p30"/>
          <p:cNvSpPr txBox="1"/>
          <p:nvPr/>
        </p:nvSpPr>
        <p:spPr>
          <a:xfrm>
            <a:off x="-6" y="205025"/>
            <a:ext cx="1649400" cy="7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500" b="1">
                <a:solidFill>
                  <a:schemeClr val="lt1"/>
                </a:solidFill>
              </a:rPr>
              <a:t>ESTRUCTURAS </a:t>
            </a:r>
            <a:endParaRPr sz="15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500" b="1">
                <a:solidFill>
                  <a:schemeClr val="lt1"/>
                </a:solidFill>
              </a:rPr>
              <a:t>DE </a:t>
            </a:r>
            <a:endParaRPr sz="15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500" b="1">
                <a:solidFill>
                  <a:schemeClr val="lt1"/>
                </a:solidFill>
              </a:rPr>
              <a:t>DATOS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CuadroTexto 1"/>
          <p:cNvSpPr txBox="1"/>
          <p:nvPr/>
        </p:nvSpPr>
        <p:spPr>
          <a:xfrm>
            <a:off x="1143000" y="2788920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AR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819" y="3096697"/>
            <a:ext cx="6414189" cy="3485735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81407" y="4839564"/>
            <a:ext cx="3770574" cy="1019175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7819" y="2079429"/>
            <a:ext cx="8496141" cy="942975"/>
          </a:xfrm>
          <a:prstGeom prst="rect">
            <a:avLst/>
          </a:prstGeom>
        </p:spPr>
      </p:pic>
      <p:pic>
        <p:nvPicPr>
          <p:cNvPr id="10" name="Imagen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90210" y="6153807"/>
            <a:ext cx="3333750" cy="428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73064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0"/>
          <p:cNvSpPr txBox="1"/>
          <p:nvPr/>
        </p:nvSpPr>
        <p:spPr>
          <a:xfrm>
            <a:off x="327819" y="1421278"/>
            <a:ext cx="8724162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s-AR" sz="2800" b="1" dirty="0">
                <a:solidFill>
                  <a:srgbClr val="538CD5"/>
                </a:solidFill>
              </a:rPr>
              <a:t>Lista de adyacencias:</a:t>
            </a:r>
            <a:endParaRPr sz="2800" b="1" dirty="0">
              <a:solidFill>
                <a:srgbClr val="538CD5"/>
              </a:solidFill>
            </a:endParaRPr>
          </a:p>
        </p:txBody>
      </p:sp>
      <p:pic>
        <p:nvPicPr>
          <p:cNvPr id="205" name="Google Shape;205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580"/>
            <a:ext cx="9144000" cy="1171495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30"/>
          <p:cNvSpPr txBox="1"/>
          <p:nvPr/>
        </p:nvSpPr>
        <p:spPr>
          <a:xfrm>
            <a:off x="1649400" y="346425"/>
            <a:ext cx="562008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es-AR" sz="2400" b="1" dirty="0">
                <a:solidFill>
                  <a:schemeClr val="lt1"/>
                </a:solidFill>
              </a:rPr>
              <a:t>Clase 11: Grafos </a:t>
            </a:r>
            <a:endParaRPr sz="2400" b="1" dirty="0">
              <a:solidFill>
                <a:schemeClr val="lt1"/>
              </a:solidFill>
              <a:sym typeface="Calibri"/>
            </a:endParaRPr>
          </a:p>
        </p:txBody>
      </p:sp>
      <p:sp>
        <p:nvSpPr>
          <p:cNvPr id="208" name="Google Shape;208;p30"/>
          <p:cNvSpPr txBox="1"/>
          <p:nvPr/>
        </p:nvSpPr>
        <p:spPr>
          <a:xfrm>
            <a:off x="-6" y="205025"/>
            <a:ext cx="1649400" cy="7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500" b="1">
                <a:solidFill>
                  <a:schemeClr val="lt1"/>
                </a:solidFill>
              </a:rPr>
              <a:t>ESTRUCTURAS </a:t>
            </a:r>
            <a:endParaRPr sz="15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500" b="1">
                <a:solidFill>
                  <a:schemeClr val="lt1"/>
                </a:solidFill>
              </a:rPr>
              <a:t>DE </a:t>
            </a:r>
            <a:endParaRPr sz="15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500" b="1">
                <a:solidFill>
                  <a:schemeClr val="lt1"/>
                </a:solidFill>
              </a:rPr>
              <a:t>DATOS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CuadroTexto 1"/>
          <p:cNvSpPr txBox="1"/>
          <p:nvPr/>
        </p:nvSpPr>
        <p:spPr>
          <a:xfrm>
            <a:off x="1143000" y="2788920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AR" dirty="0"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819" y="2039603"/>
            <a:ext cx="8221821" cy="1162050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440" y="3453572"/>
            <a:ext cx="8077200" cy="3252869"/>
          </a:xfrm>
          <a:prstGeom prst="rect">
            <a:avLst/>
          </a:prstGeom>
        </p:spPr>
      </p:pic>
      <p:pic>
        <p:nvPicPr>
          <p:cNvPr id="10" name="Imagen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3845" y="3631701"/>
            <a:ext cx="3333750" cy="428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01671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0"/>
          <p:cNvSpPr txBox="1"/>
          <p:nvPr/>
        </p:nvSpPr>
        <p:spPr>
          <a:xfrm>
            <a:off x="327819" y="1421278"/>
            <a:ext cx="8724162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s-AR" sz="2800" b="1" dirty="0">
                <a:solidFill>
                  <a:srgbClr val="538CD5"/>
                </a:solidFill>
              </a:rPr>
              <a:t>Grafo no dirigido Conexo:</a:t>
            </a:r>
            <a:endParaRPr sz="2800" b="1" dirty="0">
              <a:solidFill>
                <a:srgbClr val="538CD5"/>
              </a:solidFill>
            </a:endParaRPr>
          </a:p>
        </p:txBody>
      </p:sp>
      <p:pic>
        <p:nvPicPr>
          <p:cNvPr id="205" name="Google Shape;205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580"/>
            <a:ext cx="9144000" cy="1171495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30"/>
          <p:cNvSpPr txBox="1"/>
          <p:nvPr/>
        </p:nvSpPr>
        <p:spPr>
          <a:xfrm>
            <a:off x="1649400" y="346425"/>
            <a:ext cx="562008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es-AR" sz="2400" b="1" dirty="0">
                <a:solidFill>
                  <a:schemeClr val="lt1"/>
                </a:solidFill>
              </a:rPr>
              <a:t>Clase 11: Grafos </a:t>
            </a:r>
            <a:endParaRPr sz="2400" b="1" dirty="0">
              <a:solidFill>
                <a:schemeClr val="lt1"/>
              </a:solidFill>
              <a:sym typeface="Calibri"/>
            </a:endParaRPr>
          </a:p>
        </p:txBody>
      </p:sp>
      <p:sp>
        <p:nvSpPr>
          <p:cNvPr id="208" name="Google Shape;208;p30"/>
          <p:cNvSpPr txBox="1"/>
          <p:nvPr/>
        </p:nvSpPr>
        <p:spPr>
          <a:xfrm>
            <a:off x="-6" y="205025"/>
            <a:ext cx="1649400" cy="7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500" b="1">
                <a:solidFill>
                  <a:schemeClr val="lt1"/>
                </a:solidFill>
              </a:rPr>
              <a:t>ESTRUCTURAS </a:t>
            </a:r>
            <a:endParaRPr sz="15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500" b="1">
                <a:solidFill>
                  <a:schemeClr val="lt1"/>
                </a:solidFill>
              </a:rPr>
              <a:t>DE </a:t>
            </a:r>
            <a:endParaRPr sz="15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500" b="1">
                <a:solidFill>
                  <a:schemeClr val="lt1"/>
                </a:solidFill>
              </a:rPr>
              <a:t>DATOS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CuadroTexto 1"/>
          <p:cNvSpPr txBox="1"/>
          <p:nvPr/>
        </p:nvSpPr>
        <p:spPr>
          <a:xfrm>
            <a:off x="1143000" y="2788920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AR" dirty="0"/>
          </a:p>
        </p:txBody>
      </p:sp>
      <p:sp>
        <p:nvSpPr>
          <p:cNvPr id="6" name="CuadroTexto 5"/>
          <p:cNvSpPr txBox="1"/>
          <p:nvPr/>
        </p:nvSpPr>
        <p:spPr>
          <a:xfrm>
            <a:off x="421738" y="2068961"/>
            <a:ext cx="832753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dirty="0"/>
              <a:t>Un grafo no dirigido es </a:t>
            </a:r>
            <a:r>
              <a:rPr lang="es-ES" sz="2400" b="1" dirty="0"/>
              <a:t>conexo</a:t>
            </a:r>
            <a:r>
              <a:rPr lang="es-ES" sz="2400" dirty="0"/>
              <a:t> si hay un camino entre cada par de vértices</a:t>
            </a:r>
            <a:endParaRPr lang="es-AR" sz="2400" dirty="0"/>
          </a:p>
        </p:txBody>
      </p:sp>
      <p:pic>
        <p:nvPicPr>
          <p:cNvPr id="7" name="Imagen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552" y="4408082"/>
            <a:ext cx="8105775" cy="2266950"/>
          </a:xfrm>
          <a:prstGeom prst="rect">
            <a:avLst/>
          </a:prstGeom>
        </p:spPr>
      </p:pic>
      <p:pic>
        <p:nvPicPr>
          <p:cNvPr id="9" name="Imagen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560" y="3188566"/>
            <a:ext cx="8282717" cy="1127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15601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0"/>
          <p:cNvSpPr txBox="1"/>
          <p:nvPr/>
        </p:nvSpPr>
        <p:spPr>
          <a:xfrm>
            <a:off x="327819" y="1421278"/>
            <a:ext cx="8724162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s-AR" sz="2800" b="1" dirty="0">
                <a:solidFill>
                  <a:srgbClr val="538CD5"/>
                </a:solidFill>
              </a:rPr>
              <a:t>Grafo dirigido Conexo:</a:t>
            </a:r>
            <a:endParaRPr sz="2800" b="1" dirty="0">
              <a:solidFill>
                <a:srgbClr val="538CD5"/>
              </a:solidFill>
            </a:endParaRPr>
          </a:p>
        </p:txBody>
      </p:sp>
      <p:pic>
        <p:nvPicPr>
          <p:cNvPr id="205" name="Google Shape;205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580"/>
            <a:ext cx="9144000" cy="1171495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30"/>
          <p:cNvSpPr txBox="1"/>
          <p:nvPr/>
        </p:nvSpPr>
        <p:spPr>
          <a:xfrm>
            <a:off x="1649400" y="346425"/>
            <a:ext cx="562008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es-AR" sz="2400" b="1" dirty="0">
                <a:solidFill>
                  <a:schemeClr val="lt1"/>
                </a:solidFill>
              </a:rPr>
              <a:t>Clase 11: Grafos </a:t>
            </a:r>
            <a:endParaRPr sz="2400" b="1" dirty="0">
              <a:solidFill>
                <a:schemeClr val="lt1"/>
              </a:solidFill>
              <a:sym typeface="Calibri"/>
            </a:endParaRPr>
          </a:p>
        </p:txBody>
      </p:sp>
      <p:sp>
        <p:nvSpPr>
          <p:cNvPr id="208" name="Google Shape;208;p30"/>
          <p:cNvSpPr txBox="1"/>
          <p:nvPr/>
        </p:nvSpPr>
        <p:spPr>
          <a:xfrm>
            <a:off x="-6" y="205025"/>
            <a:ext cx="1649400" cy="7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500" b="1">
                <a:solidFill>
                  <a:schemeClr val="lt1"/>
                </a:solidFill>
              </a:rPr>
              <a:t>ESTRUCTURAS </a:t>
            </a:r>
            <a:endParaRPr sz="15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500" b="1">
                <a:solidFill>
                  <a:schemeClr val="lt1"/>
                </a:solidFill>
              </a:rPr>
              <a:t>DE </a:t>
            </a:r>
            <a:endParaRPr sz="15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500" b="1">
                <a:solidFill>
                  <a:schemeClr val="lt1"/>
                </a:solidFill>
              </a:rPr>
              <a:t>DATOS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CuadroTexto 1"/>
          <p:cNvSpPr txBox="1"/>
          <p:nvPr/>
        </p:nvSpPr>
        <p:spPr>
          <a:xfrm>
            <a:off x="1143000" y="2788920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AR" dirty="0"/>
          </a:p>
        </p:txBody>
      </p:sp>
      <p:sp>
        <p:nvSpPr>
          <p:cNvPr id="6" name="CuadroTexto 5"/>
          <p:cNvSpPr txBox="1"/>
          <p:nvPr/>
        </p:nvSpPr>
        <p:spPr>
          <a:xfrm>
            <a:off x="421738" y="2017537"/>
            <a:ext cx="832753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s-ES" sz="2400" dirty="0"/>
              <a:t>Un grafo dirigido es </a:t>
            </a:r>
            <a:r>
              <a:rPr lang="es-ES" sz="2400" b="1" dirty="0"/>
              <a:t>fuertemente</a:t>
            </a:r>
            <a:r>
              <a:rPr lang="es-ES" sz="2400" dirty="0"/>
              <a:t> </a:t>
            </a:r>
            <a:r>
              <a:rPr lang="es-ES" sz="2400" b="1" dirty="0"/>
              <a:t>conexo</a:t>
            </a:r>
            <a:r>
              <a:rPr lang="es-ES" sz="2400" dirty="0"/>
              <a:t> si existe un camino desde cualquier vértice a cualquier otro vértice</a:t>
            </a:r>
            <a:endParaRPr lang="es-AR" sz="2400" dirty="0"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587" y="4223820"/>
            <a:ext cx="7526826" cy="2471495"/>
          </a:xfrm>
          <a:prstGeom prst="rect">
            <a:avLst/>
          </a:prstGeom>
        </p:spPr>
      </p:pic>
      <p:sp>
        <p:nvSpPr>
          <p:cNvPr id="11" name="CuadroTexto 10"/>
          <p:cNvSpPr txBox="1"/>
          <p:nvPr/>
        </p:nvSpPr>
        <p:spPr>
          <a:xfrm>
            <a:off x="421738" y="2898584"/>
            <a:ext cx="832753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s-AR" sz="2400" dirty="0"/>
              <a:t>Si un grafo dirigido no es </a:t>
            </a:r>
            <a:r>
              <a:rPr lang="es-AR" sz="2400" i="1" dirty="0"/>
              <a:t>fuertemente conexo</a:t>
            </a:r>
            <a:r>
              <a:rPr lang="es-AR" sz="2400" dirty="0"/>
              <a:t>, pero el grafo subyacente (sin sentido en los arcos) es conexo, el grafo es </a:t>
            </a:r>
            <a:r>
              <a:rPr lang="es-AR" sz="2400" b="1" dirty="0"/>
              <a:t>débilmente conexo</a:t>
            </a:r>
            <a:r>
              <a:rPr lang="es-AR" sz="2400" dirty="0"/>
              <a:t>.</a:t>
            </a:r>
          </a:p>
          <a:p>
            <a:br>
              <a:rPr lang="es-AR" sz="2400" dirty="0"/>
            </a:br>
            <a:endParaRPr lang="es-AR" sz="2400" dirty="0"/>
          </a:p>
        </p:txBody>
      </p:sp>
    </p:spTree>
    <p:extLst>
      <p:ext uri="{BB962C8B-B14F-4D97-AF65-F5344CB8AC3E}">
        <p14:creationId xmlns:p14="http://schemas.microsoft.com/office/powerpoint/2010/main" val="42898087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n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989" y="1722625"/>
            <a:ext cx="6932901" cy="3642360"/>
          </a:xfrm>
          <a:prstGeom prst="rect">
            <a:avLst/>
          </a:prstGeom>
        </p:spPr>
      </p:pic>
      <p:sp>
        <p:nvSpPr>
          <p:cNvPr id="204" name="Google Shape;204;p30"/>
          <p:cNvSpPr txBox="1"/>
          <p:nvPr/>
        </p:nvSpPr>
        <p:spPr>
          <a:xfrm>
            <a:off x="327819" y="1421278"/>
            <a:ext cx="8724162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s-AR" sz="2800" b="1" dirty="0">
                <a:solidFill>
                  <a:srgbClr val="538CD5"/>
                </a:solidFill>
              </a:rPr>
              <a:t>Grado de un Grafo no dirigido :</a:t>
            </a:r>
            <a:endParaRPr sz="2800" b="1" dirty="0">
              <a:solidFill>
                <a:srgbClr val="538CD5"/>
              </a:solidFill>
            </a:endParaRPr>
          </a:p>
        </p:txBody>
      </p:sp>
      <p:pic>
        <p:nvPicPr>
          <p:cNvPr id="205" name="Google Shape;205;p3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1580"/>
            <a:ext cx="9144000" cy="1171495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30"/>
          <p:cNvSpPr txBox="1"/>
          <p:nvPr/>
        </p:nvSpPr>
        <p:spPr>
          <a:xfrm>
            <a:off x="1649400" y="346425"/>
            <a:ext cx="562008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es-AR" sz="2400" b="1" dirty="0">
                <a:solidFill>
                  <a:schemeClr val="lt1"/>
                </a:solidFill>
              </a:rPr>
              <a:t>Clase 11: Grafos </a:t>
            </a:r>
            <a:endParaRPr sz="2400" b="1" dirty="0">
              <a:solidFill>
                <a:schemeClr val="lt1"/>
              </a:solidFill>
              <a:sym typeface="Calibri"/>
            </a:endParaRPr>
          </a:p>
        </p:txBody>
      </p:sp>
      <p:sp>
        <p:nvSpPr>
          <p:cNvPr id="208" name="Google Shape;208;p30"/>
          <p:cNvSpPr txBox="1"/>
          <p:nvPr/>
        </p:nvSpPr>
        <p:spPr>
          <a:xfrm>
            <a:off x="-6" y="205025"/>
            <a:ext cx="1649400" cy="7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500" b="1">
                <a:solidFill>
                  <a:schemeClr val="lt1"/>
                </a:solidFill>
              </a:rPr>
              <a:t>ESTRUCTURAS </a:t>
            </a:r>
            <a:endParaRPr sz="15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500" b="1">
                <a:solidFill>
                  <a:schemeClr val="lt1"/>
                </a:solidFill>
              </a:rPr>
              <a:t>DE </a:t>
            </a:r>
            <a:endParaRPr sz="15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500" b="1">
                <a:solidFill>
                  <a:schemeClr val="lt1"/>
                </a:solidFill>
              </a:rPr>
              <a:t>DATOS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CuadroTexto 1"/>
          <p:cNvSpPr txBox="1"/>
          <p:nvPr/>
        </p:nvSpPr>
        <p:spPr>
          <a:xfrm>
            <a:off x="1143000" y="2788920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AR" dirty="0"/>
          </a:p>
        </p:txBody>
      </p:sp>
      <p:sp>
        <p:nvSpPr>
          <p:cNvPr id="7" name="CuadroTexto 6"/>
          <p:cNvSpPr txBox="1"/>
          <p:nvPr/>
        </p:nvSpPr>
        <p:spPr>
          <a:xfrm>
            <a:off x="868680" y="2192661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AR" dirty="0"/>
          </a:p>
        </p:txBody>
      </p:sp>
      <p:pic>
        <p:nvPicPr>
          <p:cNvPr id="8" name="Imagen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9131" y="5242233"/>
            <a:ext cx="6612426" cy="501541"/>
          </a:xfrm>
          <a:prstGeom prst="rect">
            <a:avLst/>
          </a:prstGeom>
        </p:spPr>
      </p:pic>
      <p:sp>
        <p:nvSpPr>
          <p:cNvPr id="9" name="CuadroTexto 8"/>
          <p:cNvSpPr txBox="1"/>
          <p:nvPr/>
        </p:nvSpPr>
        <p:spPr>
          <a:xfrm>
            <a:off x="5227320" y="2331720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AR" dirty="0"/>
          </a:p>
        </p:txBody>
      </p:sp>
      <p:pic>
        <p:nvPicPr>
          <p:cNvPr id="15" name="Imagen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3000" y="5937272"/>
            <a:ext cx="7186902" cy="707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2206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0"/>
          <p:cNvSpPr txBox="1"/>
          <p:nvPr/>
        </p:nvSpPr>
        <p:spPr>
          <a:xfrm>
            <a:off x="327819" y="1421278"/>
            <a:ext cx="8724162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s-AR" sz="2800" b="1" dirty="0">
                <a:solidFill>
                  <a:srgbClr val="538CD5"/>
                </a:solidFill>
              </a:rPr>
              <a:t>Grado de un Dígrafo :</a:t>
            </a:r>
            <a:endParaRPr sz="2800" b="1" dirty="0">
              <a:solidFill>
                <a:srgbClr val="538CD5"/>
              </a:solidFill>
            </a:endParaRPr>
          </a:p>
        </p:txBody>
      </p:sp>
      <p:pic>
        <p:nvPicPr>
          <p:cNvPr id="205" name="Google Shape;205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580"/>
            <a:ext cx="9144000" cy="1171495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30"/>
          <p:cNvSpPr txBox="1"/>
          <p:nvPr/>
        </p:nvSpPr>
        <p:spPr>
          <a:xfrm>
            <a:off x="1649400" y="346425"/>
            <a:ext cx="562008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es-AR" sz="2400" b="1" dirty="0">
                <a:solidFill>
                  <a:schemeClr val="lt1"/>
                </a:solidFill>
              </a:rPr>
              <a:t>Clase 11: Grafos </a:t>
            </a:r>
            <a:endParaRPr sz="2400" b="1" dirty="0">
              <a:solidFill>
                <a:schemeClr val="lt1"/>
              </a:solidFill>
              <a:sym typeface="Calibri"/>
            </a:endParaRPr>
          </a:p>
        </p:txBody>
      </p:sp>
      <p:sp>
        <p:nvSpPr>
          <p:cNvPr id="208" name="Google Shape;208;p30"/>
          <p:cNvSpPr txBox="1"/>
          <p:nvPr/>
        </p:nvSpPr>
        <p:spPr>
          <a:xfrm>
            <a:off x="-6" y="205025"/>
            <a:ext cx="1649400" cy="7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500" b="1">
                <a:solidFill>
                  <a:schemeClr val="lt1"/>
                </a:solidFill>
              </a:rPr>
              <a:t>ESTRUCTURAS </a:t>
            </a:r>
            <a:endParaRPr sz="15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500" b="1">
                <a:solidFill>
                  <a:schemeClr val="lt1"/>
                </a:solidFill>
              </a:rPr>
              <a:t>DE </a:t>
            </a:r>
            <a:endParaRPr sz="15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500" b="1">
                <a:solidFill>
                  <a:schemeClr val="lt1"/>
                </a:solidFill>
              </a:rPr>
              <a:t>DATOS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CuadroTexto 1"/>
          <p:cNvSpPr txBox="1"/>
          <p:nvPr/>
        </p:nvSpPr>
        <p:spPr>
          <a:xfrm>
            <a:off x="1143000" y="2788920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AR" dirty="0"/>
          </a:p>
        </p:txBody>
      </p:sp>
      <p:sp>
        <p:nvSpPr>
          <p:cNvPr id="7" name="CuadroTexto 6"/>
          <p:cNvSpPr txBox="1"/>
          <p:nvPr/>
        </p:nvSpPr>
        <p:spPr>
          <a:xfrm>
            <a:off x="868680" y="2192661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AR" dirty="0"/>
          </a:p>
        </p:txBody>
      </p:sp>
      <p:sp>
        <p:nvSpPr>
          <p:cNvPr id="9" name="CuadroTexto 8"/>
          <p:cNvSpPr txBox="1"/>
          <p:nvPr/>
        </p:nvSpPr>
        <p:spPr>
          <a:xfrm>
            <a:off x="5227320" y="2331720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AR" dirty="0"/>
          </a:p>
        </p:txBody>
      </p:sp>
      <p:pic>
        <p:nvPicPr>
          <p:cNvPr id="10" name="Imagen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4864336"/>
            <a:ext cx="8194234" cy="1753185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7819" y="2024369"/>
            <a:ext cx="8229539" cy="2671675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88393" y="4229319"/>
            <a:ext cx="5555607" cy="546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68641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0"/>
          <p:cNvSpPr txBox="1"/>
          <p:nvPr/>
        </p:nvSpPr>
        <p:spPr>
          <a:xfrm>
            <a:off x="327819" y="1421278"/>
            <a:ext cx="8724162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s-AR" sz="2800" b="1" dirty="0">
                <a:solidFill>
                  <a:srgbClr val="538CD5"/>
                </a:solidFill>
              </a:rPr>
              <a:t>Definiciones :</a:t>
            </a:r>
            <a:endParaRPr sz="2800" b="1" dirty="0">
              <a:solidFill>
                <a:srgbClr val="538CD5"/>
              </a:solidFill>
            </a:endParaRPr>
          </a:p>
        </p:txBody>
      </p:sp>
      <p:pic>
        <p:nvPicPr>
          <p:cNvPr id="205" name="Google Shape;205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580"/>
            <a:ext cx="9144000" cy="1171495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30"/>
          <p:cNvSpPr txBox="1"/>
          <p:nvPr/>
        </p:nvSpPr>
        <p:spPr>
          <a:xfrm>
            <a:off x="1649400" y="346425"/>
            <a:ext cx="562008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es-AR" sz="2400" b="1" dirty="0">
                <a:solidFill>
                  <a:schemeClr val="lt1"/>
                </a:solidFill>
              </a:rPr>
              <a:t>Clase 11: Grafos </a:t>
            </a:r>
            <a:endParaRPr sz="2400" b="1" dirty="0">
              <a:solidFill>
                <a:schemeClr val="lt1"/>
              </a:solidFill>
              <a:sym typeface="Calibri"/>
            </a:endParaRPr>
          </a:p>
        </p:txBody>
      </p:sp>
      <p:sp>
        <p:nvSpPr>
          <p:cNvPr id="208" name="Google Shape;208;p30"/>
          <p:cNvSpPr txBox="1"/>
          <p:nvPr/>
        </p:nvSpPr>
        <p:spPr>
          <a:xfrm>
            <a:off x="-6" y="205025"/>
            <a:ext cx="1649400" cy="7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500" b="1">
                <a:solidFill>
                  <a:schemeClr val="lt1"/>
                </a:solidFill>
              </a:rPr>
              <a:t>ESTRUCTURAS </a:t>
            </a:r>
            <a:endParaRPr sz="15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500" b="1">
                <a:solidFill>
                  <a:schemeClr val="lt1"/>
                </a:solidFill>
              </a:rPr>
              <a:t>DE </a:t>
            </a:r>
            <a:endParaRPr sz="15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500" b="1">
                <a:solidFill>
                  <a:schemeClr val="lt1"/>
                </a:solidFill>
              </a:rPr>
              <a:t>DATOS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CuadroTexto 1"/>
          <p:cNvSpPr txBox="1"/>
          <p:nvPr/>
        </p:nvSpPr>
        <p:spPr>
          <a:xfrm>
            <a:off x="1143000" y="2788920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AR" dirty="0"/>
          </a:p>
        </p:txBody>
      </p:sp>
      <p:sp>
        <p:nvSpPr>
          <p:cNvPr id="7" name="CuadroTexto 6"/>
          <p:cNvSpPr txBox="1"/>
          <p:nvPr/>
        </p:nvSpPr>
        <p:spPr>
          <a:xfrm>
            <a:off x="868680" y="2192661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AR" dirty="0"/>
          </a:p>
        </p:txBody>
      </p:sp>
      <p:sp>
        <p:nvSpPr>
          <p:cNvPr id="9" name="CuadroTexto 8"/>
          <p:cNvSpPr txBox="1"/>
          <p:nvPr/>
        </p:nvSpPr>
        <p:spPr>
          <a:xfrm>
            <a:off x="5227320" y="2331720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AR" dirty="0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8067" y="1848536"/>
            <a:ext cx="8222746" cy="2696528"/>
          </a:xfrm>
          <a:prstGeom prst="rect">
            <a:avLst/>
          </a:prstGeom>
        </p:spPr>
      </p:pic>
      <p:pic>
        <p:nvPicPr>
          <p:cNvPr id="8" name="Imagen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3541" y="4626100"/>
            <a:ext cx="2533688" cy="1526851"/>
          </a:xfrm>
          <a:prstGeom prst="rect">
            <a:avLst/>
          </a:prstGeom>
        </p:spPr>
      </p:pic>
      <p:sp>
        <p:nvSpPr>
          <p:cNvPr id="11" name="CuadroTexto 10"/>
          <p:cNvSpPr txBox="1"/>
          <p:nvPr/>
        </p:nvSpPr>
        <p:spPr>
          <a:xfrm>
            <a:off x="543541" y="6152951"/>
            <a:ext cx="226061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>
                <a:solidFill>
                  <a:srgbClr val="002060"/>
                </a:solidFill>
              </a:rPr>
              <a:t>&lt;2,5,4,2&gt; es un ciclo</a:t>
            </a:r>
          </a:p>
          <a:p>
            <a:r>
              <a:rPr lang="es-ES" sz="1600" dirty="0">
                <a:solidFill>
                  <a:srgbClr val="002060"/>
                </a:solidFill>
              </a:rPr>
              <a:t> de longitud 3</a:t>
            </a:r>
            <a:endParaRPr lang="es-AR" sz="1600" dirty="0">
              <a:solidFill>
                <a:srgbClr val="002060"/>
              </a:solidFill>
            </a:endParaRPr>
          </a:p>
        </p:txBody>
      </p:sp>
      <p:pic>
        <p:nvPicPr>
          <p:cNvPr id="12" name="Imagen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27717" y="4700631"/>
            <a:ext cx="2488563" cy="1377788"/>
          </a:xfrm>
          <a:prstGeom prst="rect">
            <a:avLst/>
          </a:prstGeom>
        </p:spPr>
      </p:pic>
      <p:sp>
        <p:nvSpPr>
          <p:cNvPr id="17" name="CuadroTexto 16"/>
          <p:cNvSpPr txBox="1"/>
          <p:nvPr/>
        </p:nvSpPr>
        <p:spPr>
          <a:xfrm>
            <a:off x="3441690" y="6152951"/>
            <a:ext cx="226061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>
                <a:solidFill>
                  <a:srgbClr val="002060"/>
                </a:solidFill>
              </a:rPr>
              <a:t>Ciclo de longitud 1</a:t>
            </a:r>
            <a:endParaRPr lang="es-AR" sz="1600" dirty="0">
              <a:solidFill>
                <a:srgbClr val="002060"/>
              </a:solidFill>
            </a:endParaRPr>
          </a:p>
        </p:txBody>
      </p:sp>
      <p:pic>
        <p:nvPicPr>
          <p:cNvPr id="13" name="Imagen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70912" y="4700631"/>
            <a:ext cx="2440963" cy="1377788"/>
          </a:xfrm>
          <a:prstGeom prst="rect">
            <a:avLst/>
          </a:prstGeom>
        </p:spPr>
      </p:pic>
      <p:sp>
        <p:nvSpPr>
          <p:cNvPr id="19" name="CuadroTexto 18"/>
          <p:cNvSpPr txBox="1"/>
          <p:nvPr/>
        </p:nvSpPr>
        <p:spPr>
          <a:xfrm>
            <a:off x="6361085" y="6134892"/>
            <a:ext cx="226061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>
                <a:solidFill>
                  <a:srgbClr val="002060"/>
                </a:solidFill>
              </a:rPr>
              <a:t>Grafo sin ciclos</a:t>
            </a:r>
            <a:endParaRPr lang="es-AR" sz="16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04181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0"/>
          <p:cNvSpPr txBox="1"/>
          <p:nvPr/>
        </p:nvSpPr>
        <p:spPr>
          <a:xfrm>
            <a:off x="327819" y="1421278"/>
            <a:ext cx="8724162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s-AR" sz="2800" b="1" dirty="0">
                <a:solidFill>
                  <a:srgbClr val="538CD5"/>
                </a:solidFill>
              </a:rPr>
              <a:t>Ejemplos:</a:t>
            </a:r>
            <a:endParaRPr sz="2800" b="1" dirty="0">
              <a:solidFill>
                <a:srgbClr val="538CD5"/>
              </a:solidFill>
            </a:endParaRPr>
          </a:p>
        </p:txBody>
      </p:sp>
      <p:pic>
        <p:nvPicPr>
          <p:cNvPr id="205" name="Google Shape;205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580"/>
            <a:ext cx="9144000" cy="1171495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30"/>
          <p:cNvSpPr txBox="1"/>
          <p:nvPr/>
        </p:nvSpPr>
        <p:spPr>
          <a:xfrm>
            <a:off x="1649400" y="346425"/>
            <a:ext cx="562008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es-AR" sz="2400" b="1" dirty="0">
                <a:solidFill>
                  <a:schemeClr val="lt1"/>
                </a:solidFill>
              </a:rPr>
              <a:t>Clase 11: Grafos </a:t>
            </a:r>
            <a:endParaRPr sz="2400" b="1" dirty="0">
              <a:solidFill>
                <a:schemeClr val="lt1"/>
              </a:solidFill>
              <a:sym typeface="Calibri"/>
            </a:endParaRPr>
          </a:p>
        </p:txBody>
      </p:sp>
      <p:sp>
        <p:nvSpPr>
          <p:cNvPr id="208" name="Google Shape;208;p30"/>
          <p:cNvSpPr txBox="1"/>
          <p:nvPr/>
        </p:nvSpPr>
        <p:spPr>
          <a:xfrm>
            <a:off x="-6" y="205025"/>
            <a:ext cx="1649400" cy="7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500" b="1">
                <a:solidFill>
                  <a:schemeClr val="lt1"/>
                </a:solidFill>
              </a:rPr>
              <a:t>ESTRUCTURAS </a:t>
            </a:r>
            <a:endParaRPr sz="15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500" b="1">
                <a:solidFill>
                  <a:schemeClr val="lt1"/>
                </a:solidFill>
              </a:rPr>
              <a:t>DE </a:t>
            </a:r>
            <a:endParaRPr sz="15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500" b="1">
                <a:solidFill>
                  <a:schemeClr val="lt1"/>
                </a:solidFill>
              </a:rPr>
              <a:t>DATOS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CuadroTexto 1"/>
          <p:cNvSpPr txBox="1"/>
          <p:nvPr/>
        </p:nvSpPr>
        <p:spPr>
          <a:xfrm>
            <a:off x="1143000" y="2788920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AR" dirty="0"/>
          </a:p>
        </p:txBody>
      </p:sp>
      <p:sp>
        <p:nvSpPr>
          <p:cNvPr id="7" name="CuadroTexto 6"/>
          <p:cNvSpPr txBox="1"/>
          <p:nvPr/>
        </p:nvSpPr>
        <p:spPr>
          <a:xfrm>
            <a:off x="868680" y="2192661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AR" dirty="0"/>
          </a:p>
        </p:txBody>
      </p:sp>
      <p:sp>
        <p:nvSpPr>
          <p:cNvPr id="9" name="CuadroTexto 8"/>
          <p:cNvSpPr txBox="1"/>
          <p:nvPr/>
        </p:nvSpPr>
        <p:spPr>
          <a:xfrm>
            <a:off x="5227320" y="2331720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AR" dirty="0"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1244" y="2192661"/>
            <a:ext cx="8721512" cy="3122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56657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0"/>
          <p:cNvSpPr txBox="1"/>
          <p:nvPr/>
        </p:nvSpPr>
        <p:spPr>
          <a:xfrm>
            <a:off x="327819" y="1421278"/>
            <a:ext cx="8724162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s-AR" sz="2800" b="1" dirty="0">
                <a:solidFill>
                  <a:srgbClr val="538CD5"/>
                </a:solidFill>
              </a:rPr>
              <a:t>Ejemplos :</a:t>
            </a:r>
            <a:endParaRPr sz="2800" b="1" dirty="0">
              <a:solidFill>
                <a:srgbClr val="538CD5"/>
              </a:solidFill>
            </a:endParaRPr>
          </a:p>
        </p:txBody>
      </p:sp>
      <p:pic>
        <p:nvPicPr>
          <p:cNvPr id="205" name="Google Shape;205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580"/>
            <a:ext cx="9144000" cy="1171495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30"/>
          <p:cNvSpPr txBox="1"/>
          <p:nvPr/>
        </p:nvSpPr>
        <p:spPr>
          <a:xfrm>
            <a:off x="1649400" y="346425"/>
            <a:ext cx="562008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es-AR" sz="2400" b="1" dirty="0">
                <a:solidFill>
                  <a:schemeClr val="lt1"/>
                </a:solidFill>
              </a:rPr>
              <a:t>Clase 11: Grafos </a:t>
            </a:r>
            <a:endParaRPr sz="2400" b="1" dirty="0">
              <a:solidFill>
                <a:schemeClr val="lt1"/>
              </a:solidFill>
              <a:sym typeface="Calibri"/>
            </a:endParaRPr>
          </a:p>
        </p:txBody>
      </p:sp>
      <p:sp>
        <p:nvSpPr>
          <p:cNvPr id="208" name="Google Shape;208;p30"/>
          <p:cNvSpPr txBox="1"/>
          <p:nvPr/>
        </p:nvSpPr>
        <p:spPr>
          <a:xfrm>
            <a:off x="-6" y="205025"/>
            <a:ext cx="1649400" cy="7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500" b="1">
                <a:solidFill>
                  <a:schemeClr val="lt1"/>
                </a:solidFill>
              </a:rPr>
              <a:t>ESTRUCTURAS </a:t>
            </a:r>
            <a:endParaRPr sz="15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500" b="1">
                <a:solidFill>
                  <a:schemeClr val="lt1"/>
                </a:solidFill>
              </a:rPr>
              <a:t>DE </a:t>
            </a:r>
            <a:endParaRPr sz="15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500" b="1">
                <a:solidFill>
                  <a:schemeClr val="lt1"/>
                </a:solidFill>
              </a:rPr>
              <a:t>DATOS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CuadroTexto 1"/>
          <p:cNvSpPr txBox="1"/>
          <p:nvPr/>
        </p:nvSpPr>
        <p:spPr>
          <a:xfrm>
            <a:off x="1143000" y="2788920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AR" dirty="0"/>
          </a:p>
        </p:txBody>
      </p:sp>
      <p:sp>
        <p:nvSpPr>
          <p:cNvPr id="7" name="CuadroTexto 6"/>
          <p:cNvSpPr txBox="1"/>
          <p:nvPr/>
        </p:nvSpPr>
        <p:spPr>
          <a:xfrm>
            <a:off x="868680" y="2192661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AR" dirty="0"/>
          </a:p>
        </p:txBody>
      </p:sp>
      <p:sp>
        <p:nvSpPr>
          <p:cNvPr id="9" name="CuadroTexto 8"/>
          <p:cNvSpPr txBox="1"/>
          <p:nvPr/>
        </p:nvSpPr>
        <p:spPr>
          <a:xfrm>
            <a:off x="5227320" y="2331720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AR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367" y="2192660"/>
            <a:ext cx="3822457" cy="3400419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9900" y="2192661"/>
            <a:ext cx="3983355" cy="3511254"/>
          </a:xfrm>
          <a:prstGeom prst="rect">
            <a:avLst/>
          </a:prstGeom>
        </p:spPr>
      </p:pic>
      <p:sp>
        <p:nvSpPr>
          <p:cNvPr id="6" name="CuadroTexto 5"/>
          <p:cNvSpPr txBox="1"/>
          <p:nvPr/>
        </p:nvSpPr>
        <p:spPr>
          <a:xfrm>
            <a:off x="4251960" y="1904708"/>
            <a:ext cx="44212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dirty="0">
                <a:solidFill>
                  <a:srgbClr val="002060"/>
                </a:solidFill>
              </a:rPr>
              <a:t>Indicar que propiedades cumple</a:t>
            </a:r>
            <a:r>
              <a:rPr lang="es-ES" dirty="0"/>
              <a:t>: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10972888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0"/>
          <p:cNvSpPr txBox="1"/>
          <p:nvPr/>
        </p:nvSpPr>
        <p:spPr>
          <a:xfrm>
            <a:off x="383449" y="1376520"/>
            <a:ext cx="8724162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s-AR" sz="2800" b="1" dirty="0">
                <a:solidFill>
                  <a:srgbClr val="538CD5"/>
                </a:solidFill>
              </a:rPr>
              <a:t>Ejemplos :</a:t>
            </a:r>
            <a:endParaRPr sz="2800" b="1" dirty="0">
              <a:solidFill>
                <a:srgbClr val="538CD5"/>
              </a:solidFill>
            </a:endParaRPr>
          </a:p>
        </p:txBody>
      </p:sp>
      <p:pic>
        <p:nvPicPr>
          <p:cNvPr id="205" name="Google Shape;205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580"/>
            <a:ext cx="9144000" cy="1171495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30"/>
          <p:cNvSpPr txBox="1"/>
          <p:nvPr/>
        </p:nvSpPr>
        <p:spPr>
          <a:xfrm>
            <a:off x="1649400" y="346425"/>
            <a:ext cx="562008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es-AR" sz="2400" b="1" dirty="0">
                <a:solidFill>
                  <a:schemeClr val="lt1"/>
                </a:solidFill>
              </a:rPr>
              <a:t>Clase 11: Grafos </a:t>
            </a:r>
            <a:endParaRPr sz="2400" b="1" dirty="0">
              <a:solidFill>
                <a:schemeClr val="lt1"/>
              </a:solidFill>
              <a:sym typeface="Calibri"/>
            </a:endParaRPr>
          </a:p>
        </p:txBody>
      </p:sp>
      <p:sp>
        <p:nvSpPr>
          <p:cNvPr id="208" name="Google Shape;208;p30"/>
          <p:cNvSpPr txBox="1"/>
          <p:nvPr/>
        </p:nvSpPr>
        <p:spPr>
          <a:xfrm>
            <a:off x="-6" y="205025"/>
            <a:ext cx="1649400" cy="7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500" b="1">
                <a:solidFill>
                  <a:schemeClr val="lt1"/>
                </a:solidFill>
              </a:rPr>
              <a:t>ESTRUCTURAS </a:t>
            </a:r>
            <a:endParaRPr sz="15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500" b="1">
                <a:solidFill>
                  <a:schemeClr val="lt1"/>
                </a:solidFill>
              </a:rPr>
              <a:t>DE </a:t>
            </a:r>
            <a:endParaRPr sz="15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500" b="1">
                <a:solidFill>
                  <a:schemeClr val="lt1"/>
                </a:solidFill>
              </a:rPr>
              <a:t>DATOS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CuadroTexto 1"/>
          <p:cNvSpPr txBox="1"/>
          <p:nvPr/>
        </p:nvSpPr>
        <p:spPr>
          <a:xfrm>
            <a:off x="1143000" y="2788920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AR" dirty="0"/>
          </a:p>
        </p:txBody>
      </p:sp>
      <p:sp>
        <p:nvSpPr>
          <p:cNvPr id="7" name="CuadroTexto 6"/>
          <p:cNvSpPr txBox="1"/>
          <p:nvPr/>
        </p:nvSpPr>
        <p:spPr>
          <a:xfrm>
            <a:off x="868680" y="2192661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AR" dirty="0"/>
          </a:p>
        </p:txBody>
      </p:sp>
      <p:sp>
        <p:nvSpPr>
          <p:cNvPr id="9" name="CuadroTexto 8"/>
          <p:cNvSpPr txBox="1"/>
          <p:nvPr/>
        </p:nvSpPr>
        <p:spPr>
          <a:xfrm>
            <a:off x="5227320" y="2331720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AR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367" y="2192660"/>
            <a:ext cx="3822457" cy="3400419"/>
          </a:xfrm>
          <a:prstGeom prst="rect">
            <a:avLst/>
          </a:prstGeom>
        </p:spPr>
      </p:pic>
      <p:sp>
        <p:nvSpPr>
          <p:cNvPr id="6" name="CuadroTexto 5"/>
          <p:cNvSpPr txBox="1"/>
          <p:nvPr/>
        </p:nvSpPr>
        <p:spPr>
          <a:xfrm>
            <a:off x="596178" y="5989284"/>
            <a:ext cx="44212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dirty="0">
                <a:solidFill>
                  <a:srgbClr val="002060"/>
                </a:solidFill>
              </a:rPr>
              <a:t>Indicar que propiedades cumple</a:t>
            </a:r>
            <a:r>
              <a:rPr lang="es-ES" dirty="0"/>
              <a:t>:</a:t>
            </a:r>
            <a:endParaRPr lang="es-AR" dirty="0"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1137" y="1221772"/>
            <a:ext cx="3568943" cy="5434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83692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0"/>
          <p:cNvSpPr txBox="1"/>
          <p:nvPr/>
        </p:nvSpPr>
        <p:spPr>
          <a:xfrm>
            <a:off x="383449" y="1376520"/>
            <a:ext cx="8724162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s-AR" sz="2800" b="1" dirty="0">
                <a:solidFill>
                  <a:srgbClr val="538CD5"/>
                </a:solidFill>
              </a:rPr>
              <a:t>Ejemplos :</a:t>
            </a:r>
            <a:endParaRPr sz="2800" b="1" dirty="0">
              <a:solidFill>
                <a:srgbClr val="538CD5"/>
              </a:solidFill>
            </a:endParaRPr>
          </a:p>
        </p:txBody>
      </p:sp>
      <p:pic>
        <p:nvPicPr>
          <p:cNvPr id="205" name="Google Shape;205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580"/>
            <a:ext cx="9144000" cy="1171495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30"/>
          <p:cNvSpPr txBox="1"/>
          <p:nvPr/>
        </p:nvSpPr>
        <p:spPr>
          <a:xfrm>
            <a:off x="1649400" y="346425"/>
            <a:ext cx="562008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es-AR" sz="2400" b="1" dirty="0">
                <a:solidFill>
                  <a:schemeClr val="lt1"/>
                </a:solidFill>
              </a:rPr>
              <a:t>Clase 11: Grafos </a:t>
            </a:r>
            <a:endParaRPr sz="2400" b="1" dirty="0">
              <a:solidFill>
                <a:schemeClr val="lt1"/>
              </a:solidFill>
              <a:sym typeface="Calibri"/>
            </a:endParaRPr>
          </a:p>
        </p:txBody>
      </p:sp>
      <p:sp>
        <p:nvSpPr>
          <p:cNvPr id="208" name="Google Shape;208;p30"/>
          <p:cNvSpPr txBox="1"/>
          <p:nvPr/>
        </p:nvSpPr>
        <p:spPr>
          <a:xfrm>
            <a:off x="-6" y="205025"/>
            <a:ext cx="1649400" cy="7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500" b="1">
                <a:solidFill>
                  <a:schemeClr val="lt1"/>
                </a:solidFill>
              </a:rPr>
              <a:t>ESTRUCTURAS </a:t>
            </a:r>
            <a:endParaRPr sz="15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500" b="1">
                <a:solidFill>
                  <a:schemeClr val="lt1"/>
                </a:solidFill>
              </a:rPr>
              <a:t>DE </a:t>
            </a:r>
            <a:endParaRPr sz="15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500" b="1">
                <a:solidFill>
                  <a:schemeClr val="lt1"/>
                </a:solidFill>
              </a:rPr>
              <a:t>DATOS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CuadroTexto 1"/>
          <p:cNvSpPr txBox="1"/>
          <p:nvPr/>
        </p:nvSpPr>
        <p:spPr>
          <a:xfrm>
            <a:off x="1143000" y="2788920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AR" dirty="0"/>
          </a:p>
        </p:txBody>
      </p:sp>
      <p:sp>
        <p:nvSpPr>
          <p:cNvPr id="7" name="CuadroTexto 6"/>
          <p:cNvSpPr txBox="1"/>
          <p:nvPr/>
        </p:nvSpPr>
        <p:spPr>
          <a:xfrm>
            <a:off x="868680" y="2192661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AR" dirty="0"/>
          </a:p>
        </p:txBody>
      </p:sp>
      <p:sp>
        <p:nvSpPr>
          <p:cNvPr id="9" name="CuadroTexto 8"/>
          <p:cNvSpPr txBox="1"/>
          <p:nvPr/>
        </p:nvSpPr>
        <p:spPr>
          <a:xfrm>
            <a:off x="5227320" y="2331720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AR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249" y="3096697"/>
            <a:ext cx="3318846" cy="2489135"/>
          </a:xfrm>
          <a:prstGeom prst="rect">
            <a:avLst/>
          </a:prstGeom>
        </p:spPr>
      </p:pic>
      <p:pic>
        <p:nvPicPr>
          <p:cNvPr id="8" name="Imagen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5530" y="3555851"/>
            <a:ext cx="3854163" cy="1537008"/>
          </a:xfrm>
          <a:prstGeom prst="rect">
            <a:avLst/>
          </a:prstGeom>
        </p:spPr>
      </p:pic>
      <p:sp>
        <p:nvSpPr>
          <p:cNvPr id="6" name="CuadroTexto 5"/>
          <p:cNvSpPr txBox="1"/>
          <p:nvPr/>
        </p:nvSpPr>
        <p:spPr>
          <a:xfrm>
            <a:off x="383449" y="2164408"/>
            <a:ext cx="89281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dirty="0">
                <a:solidFill>
                  <a:srgbClr val="002060"/>
                </a:solidFill>
              </a:rPr>
              <a:t>Completar t</a:t>
            </a:r>
            <a:r>
              <a:rPr lang="es-AR" sz="2000" dirty="0" err="1">
                <a:solidFill>
                  <a:srgbClr val="002060"/>
                </a:solidFill>
              </a:rPr>
              <a:t>eniendo</a:t>
            </a:r>
            <a:r>
              <a:rPr lang="es-AR" sz="2000" dirty="0">
                <a:solidFill>
                  <a:srgbClr val="002060"/>
                </a:solidFill>
              </a:rPr>
              <a:t> en cuenta el orden de menor a mayor de los vértices</a:t>
            </a:r>
            <a:r>
              <a:rPr lang="es-ES" sz="2000" dirty="0">
                <a:solidFill>
                  <a:srgbClr val="002060"/>
                </a:solidFill>
              </a:rPr>
              <a:t>:</a:t>
            </a:r>
            <a:endParaRPr lang="es-AR" sz="20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79343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0"/>
          <p:cNvSpPr txBox="1"/>
          <p:nvPr/>
        </p:nvSpPr>
        <p:spPr>
          <a:xfrm>
            <a:off x="383449" y="1376520"/>
            <a:ext cx="8724162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s-AR" sz="2800" b="1" dirty="0">
                <a:solidFill>
                  <a:srgbClr val="538CD5"/>
                </a:solidFill>
              </a:rPr>
              <a:t>Ejemplos :</a:t>
            </a:r>
            <a:endParaRPr sz="2800" b="1" dirty="0">
              <a:solidFill>
                <a:srgbClr val="538CD5"/>
              </a:solidFill>
            </a:endParaRPr>
          </a:p>
        </p:txBody>
      </p:sp>
      <p:pic>
        <p:nvPicPr>
          <p:cNvPr id="205" name="Google Shape;205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580"/>
            <a:ext cx="9144000" cy="1171495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30"/>
          <p:cNvSpPr txBox="1"/>
          <p:nvPr/>
        </p:nvSpPr>
        <p:spPr>
          <a:xfrm>
            <a:off x="1649400" y="346425"/>
            <a:ext cx="562008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es-AR" sz="2400" b="1" dirty="0">
                <a:solidFill>
                  <a:schemeClr val="lt1"/>
                </a:solidFill>
              </a:rPr>
              <a:t>Clase 11: Grafos </a:t>
            </a:r>
            <a:endParaRPr sz="2400" b="1" dirty="0">
              <a:solidFill>
                <a:schemeClr val="lt1"/>
              </a:solidFill>
              <a:sym typeface="Calibri"/>
            </a:endParaRPr>
          </a:p>
        </p:txBody>
      </p:sp>
      <p:sp>
        <p:nvSpPr>
          <p:cNvPr id="208" name="Google Shape;208;p30"/>
          <p:cNvSpPr txBox="1"/>
          <p:nvPr/>
        </p:nvSpPr>
        <p:spPr>
          <a:xfrm>
            <a:off x="-6" y="205025"/>
            <a:ext cx="1649400" cy="7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500" b="1">
                <a:solidFill>
                  <a:schemeClr val="lt1"/>
                </a:solidFill>
              </a:rPr>
              <a:t>ESTRUCTURAS </a:t>
            </a:r>
            <a:endParaRPr sz="15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500" b="1">
                <a:solidFill>
                  <a:schemeClr val="lt1"/>
                </a:solidFill>
              </a:rPr>
              <a:t>DE </a:t>
            </a:r>
            <a:endParaRPr sz="15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500" b="1">
                <a:solidFill>
                  <a:schemeClr val="lt1"/>
                </a:solidFill>
              </a:rPr>
              <a:t>DATOS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CuadroTexto 1"/>
          <p:cNvSpPr txBox="1"/>
          <p:nvPr/>
        </p:nvSpPr>
        <p:spPr>
          <a:xfrm>
            <a:off x="1143000" y="2788920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AR" dirty="0"/>
          </a:p>
        </p:txBody>
      </p:sp>
      <p:sp>
        <p:nvSpPr>
          <p:cNvPr id="7" name="CuadroTexto 6"/>
          <p:cNvSpPr txBox="1"/>
          <p:nvPr/>
        </p:nvSpPr>
        <p:spPr>
          <a:xfrm>
            <a:off x="868680" y="2192661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AR" dirty="0"/>
          </a:p>
        </p:txBody>
      </p:sp>
      <p:sp>
        <p:nvSpPr>
          <p:cNvPr id="9" name="CuadroTexto 8"/>
          <p:cNvSpPr txBox="1"/>
          <p:nvPr/>
        </p:nvSpPr>
        <p:spPr>
          <a:xfrm>
            <a:off x="5227320" y="2331720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AR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580" y="2580248"/>
            <a:ext cx="3318846" cy="2489135"/>
          </a:xfrm>
          <a:prstGeom prst="rect">
            <a:avLst/>
          </a:prstGeom>
        </p:spPr>
      </p:pic>
      <p:pic>
        <p:nvPicPr>
          <p:cNvPr id="8" name="Imagen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5277" y="5021813"/>
            <a:ext cx="3854163" cy="1537008"/>
          </a:xfrm>
          <a:prstGeom prst="rect">
            <a:avLst/>
          </a:prstGeom>
        </p:spPr>
      </p:pic>
      <p:sp>
        <p:nvSpPr>
          <p:cNvPr id="6" name="CuadroTexto 5"/>
          <p:cNvSpPr txBox="1"/>
          <p:nvPr/>
        </p:nvSpPr>
        <p:spPr>
          <a:xfrm>
            <a:off x="383449" y="2164407"/>
            <a:ext cx="44212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dirty="0">
                <a:solidFill>
                  <a:srgbClr val="002060"/>
                </a:solidFill>
              </a:rPr>
              <a:t>Completar</a:t>
            </a:r>
            <a:r>
              <a:rPr lang="es-ES" dirty="0"/>
              <a:t>:</a:t>
            </a:r>
            <a:endParaRPr lang="es-AR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59440" y="2485608"/>
            <a:ext cx="4436278" cy="3946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76026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0"/>
          <p:cNvSpPr txBox="1"/>
          <p:nvPr/>
        </p:nvSpPr>
        <p:spPr>
          <a:xfrm>
            <a:off x="383449" y="1376520"/>
            <a:ext cx="8724162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/>
            <a:r>
              <a:rPr lang="es-AR" sz="2800" b="1" dirty="0">
                <a:solidFill>
                  <a:srgbClr val="538CD5"/>
                </a:solidFill>
              </a:rPr>
              <a:t>Ejemplos :</a:t>
            </a:r>
            <a:endParaRPr sz="2800" b="1" dirty="0">
              <a:solidFill>
                <a:srgbClr val="538CD5"/>
              </a:solidFill>
            </a:endParaRPr>
          </a:p>
        </p:txBody>
      </p:sp>
      <p:pic>
        <p:nvPicPr>
          <p:cNvPr id="205" name="Google Shape;205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580"/>
            <a:ext cx="9144000" cy="1171495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30"/>
          <p:cNvSpPr txBox="1"/>
          <p:nvPr/>
        </p:nvSpPr>
        <p:spPr>
          <a:xfrm>
            <a:off x="1649400" y="346425"/>
            <a:ext cx="562008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es-AR" sz="2400" b="1" dirty="0">
                <a:solidFill>
                  <a:schemeClr val="lt1"/>
                </a:solidFill>
              </a:rPr>
              <a:t>Clase 11: Grafos </a:t>
            </a:r>
            <a:endParaRPr sz="2400" b="1" dirty="0">
              <a:solidFill>
                <a:schemeClr val="lt1"/>
              </a:solidFill>
              <a:sym typeface="Calibri"/>
            </a:endParaRPr>
          </a:p>
        </p:txBody>
      </p:sp>
      <p:sp>
        <p:nvSpPr>
          <p:cNvPr id="208" name="Google Shape;208;p30"/>
          <p:cNvSpPr txBox="1"/>
          <p:nvPr/>
        </p:nvSpPr>
        <p:spPr>
          <a:xfrm>
            <a:off x="-6" y="205025"/>
            <a:ext cx="1649400" cy="7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500" b="1">
                <a:solidFill>
                  <a:schemeClr val="lt1"/>
                </a:solidFill>
              </a:rPr>
              <a:t>ESTRUCTURAS </a:t>
            </a:r>
            <a:endParaRPr sz="15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500" b="1">
                <a:solidFill>
                  <a:schemeClr val="lt1"/>
                </a:solidFill>
              </a:rPr>
              <a:t>DE </a:t>
            </a:r>
            <a:endParaRPr sz="15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500" b="1">
                <a:solidFill>
                  <a:schemeClr val="lt1"/>
                </a:solidFill>
              </a:rPr>
              <a:t>DATOS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CuadroTexto 1"/>
          <p:cNvSpPr txBox="1"/>
          <p:nvPr/>
        </p:nvSpPr>
        <p:spPr>
          <a:xfrm>
            <a:off x="1143000" y="2788920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AR" dirty="0"/>
          </a:p>
        </p:txBody>
      </p:sp>
      <p:sp>
        <p:nvSpPr>
          <p:cNvPr id="7" name="CuadroTexto 6"/>
          <p:cNvSpPr txBox="1"/>
          <p:nvPr/>
        </p:nvSpPr>
        <p:spPr>
          <a:xfrm>
            <a:off x="868680" y="2192661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AR" dirty="0"/>
          </a:p>
        </p:txBody>
      </p:sp>
      <p:sp>
        <p:nvSpPr>
          <p:cNvPr id="9" name="CuadroTexto 8"/>
          <p:cNvSpPr txBox="1"/>
          <p:nvPr/>
        </p:nvSpPr>
        <p:spPr>
          <a:xfrm>
            <a:off x="5227320" y="2331720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s-AR" dirty="0"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4693" y="2103144"/>
            <a:ext cx="8119347" cy="4297655"/>
          </a:xfrm>
          <a:prstGeom prst="rect">
            <a:avLst/>
          </a:prstGeom>
        </p:spPr>
      </p:pic>
      <p:sp>
        <p:nvSpPr>
          <p:cNvPr id="6" name="CuadroTexto 5"/>
          <p:cNvSpPr txBox="1"/>
          <p:nvPr/>
        </p:nvSpPr>
        <p:spPr>
          <a:xfrm>
            <a:off x="383449" y="2164407"/>
            <a:ext cx="411235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dirty="0">
                <a:solidFill>
                  <a:srgbClr val="002060"/>
                </a:solidFill>
              </a:rPr>
              <a:t>Indique </a:t>
            </a:r>
            <a:r>
              <a:rPr lang="es-AR" sz="2000" dirty="0">
                <a:solidFill>
                  <a:srgbClr val="002060"/>
                </a:solidFill>
              </a:rPr>
              <a:t>cuál de las siguientes notaciones es la que corresponde al siguiente grafo</a:t>
            </a:r>
            <a:r>
              <a:rPr lang="es-ES" sz="2000" dirty="0">
                <a:solidFill>
                  <a:srgbClr val="002060"/>
                </a:solidFill>
              </a:rPr>
              <a:t>:</a:t>
            </a:r>
            <a:endParaRPr lang="es-AR" sz="20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52916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>
          <a:extLst>
            <a:ext uri="{FF2B5EF4-FFF2-40B4-BE49-F238E27FC236}">
              <a16:creationId xmlns:a16="http://schemas.microsoft.com/office/drawing/2014/main" id="{825BDC1A-17CA-316A-6874-26AE3E7722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Google Shape;205;p30">
            <a:extLst>
              <a:ext uri="{FF2B5EF4-FFF2-40B4-BE49-F238E27FC236}">
                <a16:creationId xmlns:a16="http://schemas.microsoft.com/office/drawing/2014/main" id="{8B2D47A8-A6C6-B432-D9A8-552AEA263B8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6" y="34206"/>
            <a:ext cx="9144000" cy="1171495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30">
            <a:extLst>
              <a:ext uri="{FF2B5EF4-FFF2-40B4-BE49-F238E27FC236}">
                <a16:creationId xmlns:a16="http://schemas.microsoft.com/office/drawing/2014/main" id="{AFDBD055-6CFC-4A0A-F6C1-D341804CBAD2}"/>
              </a:ext>
            </a:extLst>
          </p:cNvPr>
          <p:cNvSpPr txBox="1"/>
          <p:nvPr/>
        </p:nvSpPr>
        <p:spPr>
          <a:xfrm>
            <a:off x="1436040" y="366763"/>
            <a:ext cx="562008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es-AR" sz="2400" b="1" dirty="0">
                <a:solidFill>
                  <a:schemeClr val="lt1"/>
                </a:solidFill>
              </a:rPr>
              <a:t>Clase 11</a:t>
            </a:r>
            <a:endParaRPr sz="2400" b="1" i="1" dirty="0">
              <a:solidFill>
                <a:schemeClr val="lt1"/>
              </a:solidFill>
              <a:sym typeface="Calibri"/>
            </a:endParaRPr>
          </a:p>
        </p:txBody>
      </p:sp>
      <p:sp>
        <p:nvSpPr>
          <p:cNvPr id="208" name="Google Shape;208;p30">
            <a:extLst>
              <a:ext uri="{FF2B5EF4-FFF2-40B4-BE49-F238E27FC236}">
                <a16:creationId xmlns:a16="http://schemas.microsoft.com/office/drawing/2014/main" id="{148BE65E-DEB1-FBE7-2AC7-F827FE47088D}"/>
              </a:ext>
            </a:extLst>
          </p:cNvPr>
          <p:cNvSpPr txBox="1"/>
          <p:nvPr/>
        </p:nvSpPr>
        <p:spPr>
          <a:xfrm>
            <a:off x="-6" y="205025"/>
            <a:ext cx="1649400" cy="7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500" b="1">
                <a:solidFill>
                  <a:schemeClr val="lt1"/>
                </a:solidFill>
              </a:rPr>
              <a:t>ESTRUCTURAS </a:t>
            </a:r>
            <a:endParaRPr sz="15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500" b="1">
                <a:solidFill>
                  <a:schemeClr val="lt1"/>
                </a:solidFill>
              </a:rPr>
              <a:t>DE </a:t>
            </a:r>
            <a:endParaRPr sz="15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500" b="1">
                <a:solidFill>
                  <a:schemeClr val="lt1"/>
                </a:solidFill>
              </a:rPr>
              <a:t>DATOS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Google Shape;289;g2f390fb78e8_0_16">
            <a:extLst>
              <a:ext uri="{FF2B5EF4-FFF2-40B4-BE49-F238E27FC236}">
                <a16:creationId xmlns:a16="http://schemas.microsoft.com/office/drawing/2014/main" id="{17A23620-E56C-8B4E-C422-9840D0960743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358087" y="2807125"/>
            <a:ext cx="3875225" cy="17908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815740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>
          <a:extLst>
            <a:ext uri="{FF2B5EF4-FFF2-40B4-BE49-F238E27FC236}">
              <a16:creationId xmlns:a16="http://schemas.microsoft.com/office/drawing/2014/main" id="{F8FF68B3-D2FD-1379-2DD8-6A7255910E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Google Shape;205;p30">
            <a:extLst>
              <a:ext uri="{FF2B5EF4-FFF2-40B4-BE49-F238E27FC236}">
                <a16:creationId xmlns:a16="http://schemas.microsoft.com/office/drawing/2014/main" id="{DE695B2B-CBB7-778C-54C1-520C54B7CA2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6" y="34206"/>
            <a:ext cx="9144000" cy="1171495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30">
            <a:extLst>
              <a:ext uri="{FF2B5EF4-FFF2-40B4-BE49-F238E27FC236}">
                <a16:creationId xmlns:a16="http://schemas.microsoft.com/office/drawing/2014/main" id="{8530A552-FBF4-4248-41A0-2B34A992CAE9}"/>
              </a:ext>
            </a:extLst>
          </p:cNvPr>
          <p:cNvSpPr txBox="1"/>
          <p:nvPr/>
        </p:nvSpPr>
        <p:spPr>
          <a:xfrm>
            <a:off x="1436040" y="366763"/>
            <a:ext cx="5620080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es-AR" sz="2400" b="1" dirty="0">
                <a:solidFill>
                  <a:schemeClr val="lt1"/>
                </a:solidFill>
              </a:rPr>
              <a:t>Clase 11</a:t>
            </a:r>
            <a:endParaRPr sz="2400" b="1" i="1" dirty="0">
              <a:solidFill>
                <a:schemeClr val="lt1"/>
              </a:solidFill>
              <a:sym typeface="Calibri"/>
            </a:endParaRPr>
          </a:p>
        </p:txBody>
      </p:sp>
      <p:sp>
        <p:nvSpPr>
          <p:cNvPr id="208" name="Google Shape;208;p30">
            <a:extLst>
              <a:ext uri="{FF2B5EF4-FFF2-40B4-BE49-F238E27FC236}">
                <a16:creationId xmlns:a16="http://schemas.microsoft.com/office/drawing/2014/main" id="{A014D2E7-CEAE-0F3C-FCD8-9C975BA82E1F}"/>
              </a:ext>
            </a:extLst>
          </p:cNvPr>
          <p:cNvSpPr txBox="1"/>
          <p:nvPr/>
        </p:nvSpPr>
        <p:spPr>
          <a:xfrm>
            <a:off x="-6" y="205025"/>
            <a:ext cx="1649400" cy="7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500" b="1">
                <a:solidFill>
                  <a:schemeClr val="lt1"/>
                </a:solidFill>
              </a:rPr>
              <a:t>ESTRUCTURAS </a:t>
            </a:r>
            <a:endParaRPr sz="15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500" b="1">
                <a:solidFill>
                  <a:schemeClr val="lt1"/>
                </a:solidFill>
              </a:rPr>
              <a:t>DE </a:t>
            </a:r>
            <a:endParaRPr sz="15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AR" sz="1500" b="1">
                <a:solidFill>
                  <a:schemeClr val="lt1"/>
                </a:solidFill>
              </a:rPr>
              <a:t>DATOS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Google Shape;297;g2f390fb78e8_0_23">
            <a:extLst>
              <a:ext uri="{FF2B5EF4-FFF2-40B4-BE49-F238E27FC236}">
                <a16:creationId xmlns:a16="http://schemas.microsoft.com/office/drawing/2014/main" id="{DB0D7DBF-A2D0-92D6-5762-9EE7F3421B4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87859" y="1611543"/>
            <a:ext cx="8839200" cy="818301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298;g2f390fb78e8_0_23">
            <a:extLst>
              <a:ext uri="{FF2B5EF4-FFF2-40B4-BE49-F238E27FC236}">
                <a16:creationId xmlns:a16="http://schemas.microsoft.com/office/drawing/2014/main" id="{F02BAF0A-5A52-BC99-D172-8883AB3922D1}"/>
              </a:ext>
            </a:extLst>
          </p:cNvPr>
          <p:cNvSpPr txBox="1"/>
          <p:nvPr/>
        </p:nvSpPr>
        <p:spPr>
          <a:xfrm>
            <a:off x="974566" y="2720017"/>
            <a:ext cx="7392600" cy="2308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indent="-381000" algn="just">
              <a:buSzPts val="2400"/>
              <a:buFont typeface="Wingdings" panose="05000000000000000000" pitchFamily="2" charset="2"/>
              <a:buChar char="q"/>
            </a:pPr>
            <a:r>
              <a:rPr lang="es-MX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Algoritmos de recorrido DFS y BFS. Árbol generador DFS: en grafos dirigidos y no dirigidos. Determinación </a:t>
            </a:r>
          </a:p>
          <a:p>
            <a:pPr marL="457200" indent="-381000" algn="just">
              <a:buSzPts val="2400"/>
              <a:buFont typeface="Wingdings" panose="05000000000000000000" pitchFamily="2" charset="2"/>
              <a:buChar char="q"/>
            </a:pPr>
            <a:r>
              <a:rPr lang="es-MX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de componentes conexas y fuertemente conexas. Análisis del tiempo de ejecución de los algoritmos </a:t>
            </a:r>
          </a:p>
          <a:p>
            <a:pPr marL="457200" indent="-381000" algn="just">
              <a:buSzPts val="2400"/>
              <a:buFont typeface="Wingdings" panose="05000000000000000000" pitchFamily="2" charset="2"/>
              <a:buChar char="q"/>
            </a:pPr>
            <a:r>
              <a:rPr lang="es-MX" sz="24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mencionados.</a:t>
            </a:r>
          </a:p>
        </p:txBody>
      </p:sp>
    </p:spTree>
    <p:extLst>
      <p:ext uri="{BB962C8B-B14F-4D97-AF65-F5344CB8AC3E}">
        <p14:creationId xmlns:p14="http://schemas.microsoft.com/office/powerpoint/2010/main" val="1721032629"/>
      </p:ext>
    </p:extLst>
  </p:cSld>
  <p:clrMapOvr>
    <a:masterClrMapping/>
  </p:clrMapOvr>
</p:sld>
</file>

<file path=ppt/theme/theme1.xml><?xml version="1.0" encoding="utf-8"?>
<a:theme xmlns:a="http://schemas.openxmlformats.org/drawingml/2006/main" name="1_Tema de Office">
  <a:themeElements>
    <a:clrScheme name="Tema de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3652</TotalTime>
  <Words>517</Words>
  <Application>Microsoft Office PowerPoint</Application>
  <PresentationFormat>Presentación en pantalla (4:3)</PresentationFormat>
  <Paragraphs>152</Paragraphs>
  <Slides>24</Slides>
  <Notes>24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24</vt:i4>
      </vt:variant>
    </vt:vector>
  </HeadingPairs>
  <TitlesOfParts>
    <vt:vector size="31" baseType="lpstr">
      <vt:lpstr>Arial</vt:lpstr>
      <vt:lpstr>Calibri</vt:lpstr>
      <vt:lpstr>Open Sans</vt:lpstr>
      <vt:lpstr>Wingdings</vt:lpstr>
      <vt:lpstr>Courier New</vt:lpstr>
      <vt:lpstr>1_Tema de Office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WENDY</dc:creator>
  <cp:lastModifiedBy>Rommy K. Torres Molina</cp:lastModifiedBy>
  <cp:revision>394</cp:revision>
  <dcterms:modified xsi:type="dcterms:W3CDTF">2024-11-04T23:04:05Z</dcterms:modified>
</cp:coreProperties>
</file>