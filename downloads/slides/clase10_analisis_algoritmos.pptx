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5"/>
  </p:notesMasterIdLst>
  <p:sldIdLst>
    <p:sldId id="256" r:id="rId3"/>
    <p:sldId id="257" r:id="rId4"/>
    <p:sldId id="261" r:id="rId5"/>
    <p:sldId id="335" r:id="rId6"/>
    <p:sldId id="341" r:id="rId7"/>
    <p:sldId id="340" r:id="rId8"/>
    <p:sldId id="338" r:id="rId9"/>
    <p:sldId id="344" r:id="rId10"/>
    <p:sldId id="345" r:id="rId11"/>
    <p:sldId id="346" r:id="rId12"/>
    <p:sldId id="343" r:id="rId13"/>
    <p:sldId id="347" r:id="rId14"/>
    <p:sldId id="350" r:id="rId15"/>
    <p:sldId id="351" r:id="rId16"/>
    <p:sldId id="352" r:id="rId17"/>
    <p:sldId id="348" r:id="rId18"/>
    <p:sldId id="353" r:id="rId19"/>
    <p:sldId id="349" r:id="rId20"/>
    <p:sldId id="354" r:id="rId21"/>
    <p:sldId id="355" r:id="rId22"/>
    <p:sldId id="356" r:id="rId23"/>
    <p:sldId id="357" r:id="rId24"/>
    <p:sldId id="359" r:id="rId25"/>
    <p:sldId id="365" r:id="rId26"/>
    <p:sldId id="358" r:id="rId27"/>
    <p:sldId id="360" r:id="rId28"/>
    <p:sldId id="361" r:id="rId29"/>
    <p:sldId id="362" r:id="rId30"/>
    <p:sldId id="367" r:id="rId31"/>
    <p:sldId id="368" r:id="rId32"/>
    <p:sldId id="363" r:id="rId33"/>
    <p:sldId id="364" r:id="rId34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E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36" autoAdjust="0"/>
  </p:normalViewPr>
  <p:slideViewPr>
    <p:cSldViewPr snapToGrid="0">
      <p:cViewPr varScale="1">
        <p:scale>
          <a:sx n="59" d="100"/>
          <a:sy n="59" d="100"/>
        </p:scale>
        <p:origin x="17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425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6513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671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11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6811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212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157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2804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469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05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8512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254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9466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76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2658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793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144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339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635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1164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024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395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751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4311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5506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246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1069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0B765DA-2F1B-34AB-0295-A3676B48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>
            <a:extLst>
              <a:ext uri="{FF2B5EF4-FFF2-40B4-BE49-F238E27FC236}">
                <a16:creationId xmlns:a16="http://schemas.microsoft.com/office/drawing/2014/main" id="{2D3FB202-4250-F5B8-185E-D870ED4AD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>
            <a:extLst>
              <a:ext uri="{FF2B5EF4-FFF2-40B4-BE49-F238E27FC236}">
                <a16:creationId xmlns:a16="http://schemas.microsoft.com/office/drawing/2014/main" id="{76F1BEF6-9800-1A5D-EC56-0621A0552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2938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914D13F-2958-39FA-C3BD-6592BDC1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>
            <a:extLst>
              <a:ext uri="{FF2B5EF4-FFF2-40B4-BE49-F238E27FC236}">
                <a16:creationId xmlns:a16="http://schemas.microsoft.com/office/drawing/2014/main" id="{F61E8E17-9363-719B-9B94-42B80F93A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>
            <a:extLst>
              <a:ext uri="{FF2B5EF4-FFF2-40B4-BE49-F238E27FC236}">
                <a16:creationId xmlns:a16="http://schemas.microsoft.com/office/drawing/2014/main" id="{D53ECDEB-F0FB-4EFA-DC75-EECD73228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048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283050" y="2432000"/>
            <a:ext cx="85779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dirty="0">
                <a:solidFill>
                  <a:srgbClr val="FFFFFF"/>
                </a:solidFill>
              </a:rPr>
              <a:t>CLASE 10 - Unidad 6</a:t>
            </a:r>
            <a:endParaRPr sz="4000" b="1" dirty="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lvl="0" algn="ctr"/>
            <a:r>
              <a:rPr lang="es-AR" sz="4000" b="1" dirty="0">
                <a:solidFill>
                  <a:srgbClr val="FFFFFF"/>
                </a:solidFill>
              </a:rPr>
              <a:t> Análisis de Algoritmos.</a:t>
            </a: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11458" y="5942975"/>
            <a:ext cx="8321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-AR" sz="2700" b="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r>
              <a:rPr lang="es-AR" sz="27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s-AR" sz="2700" b="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271</a:t>
            </a:r>
            <a:r>
              <a:rPr lang="es-AR" sz="27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Clase N. 10. Unidad 6. </a:t>
            </a:r>
            <a:endParaRPr sz="18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dirty="0">
                <a:solidFill>
                  <a:schemeClr val="lt1"/>
                </a:solidFill>
              </a:rPr>
              <a:t>Clase 10: AGENDA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183300" y="1294803"/>
            <a:ext cx="8777400" cy="521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dirty="0">
                <a:solidFill>
                  <a:srgbClr val="204F85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sz="2400" b="1" i="0" u="none" strike="noStrike" cap="none" dirty="0">
              <a:solidFill>
                <a:srgbClr val="204F8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Temario: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>
                <a:highlight>
                  <a:srgbClr val="FFFFFF"/>
                </a:highlight>
              </a:rPr>
              <a:t>Análisis asintótico, comportamiento en el mejor caso, caso promedio y peor caso. </a:t>
            </a:r>
            <a:r>
              <a:rPr lang="es-AR" sz="1800" dirty="0"/>
              <a:t>Modelo computacional.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>
                <a:highlight>
                  <a:srgbClr val="FFFFFF"/>
                </a:highlight>
              </a:rPr>
              <a:t>Concepto de tiempo de ejecución. Notación O(), Ω, Θ. Reglas generales para el calculo del tiempo de ejecución.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>
                <a:highlight>
                  <a:srgbClr val="FFFFFF"/>
                </a:highlight>
              </a:rPr>
              <a:t>Calculo de tiempo y orden de ejecución en algoritmos iterativos y recursivos. Comparación de distintas estrategias de diseño de algoritmos.</a:t>
            </a:r>
            <a:r>
              <a:rPr lang="es-AR" dirty="0"/>
              <a:t>. </a:t>
            </a:r>
            <a:endParaRPr sz="1800" dirty="0">
              <a:highlight>
                <a:srgbClr val="FFFFFF"/>
              </a:highlight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s-AR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en Lenguajes </a:t>
            </a: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Python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Temas relacionados y links de </a:t>
            </a:r>
            <a:r>
              <a:rPr lang="es-AR" sz="1800" b="1" dirty="0">
                <a:highlight>
                  <a:srgbClr val="FFFFFF"/>
                </a:highlight>
              </a:rPr>
              <a:t>interés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Práctica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Cierre de la clase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25633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472904"/>
            <a:ext cx="8553081" cy="50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endParaRPr lang="es-AR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400" dirty="0"/>
              <a:t>Nos permite comparar algoritmos en forma independiente de una plataforma en particular.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400" dirty="0"/>
              <a:t>Mide la </a:t>
            </a:r>
            <a:r>
              <a:rPr lang="es-AR" sz="2400" b="1" dirty="0"/>
              <a:t>eficiencia</a:t>
            </a:r>
            <a:r>
              <a:rPr lang="es-AR" sz="2400" dirty="0"/>
              <a:t> de un algoritmo, dependiendo del tamaño de la entrada de los datos</a:t>
            </a:r>
          </a:p>
          <a:p>
            <a:pPr>
              <a:spcBef>
                <a:spcPts val="600"/>
              </a:spcBef>
            </a:pPr>
            <a:r>
              <a:rPr lang="es-MX" sz="2400" dirty="0">
                <a:solidFill>
                  <a:srgbClr val="0070C0"/>
                </a:solidFill>
              </a:rPr>
              <a:t>¿Cuando un algoritmo es eficiente?</a:t>
            </a:r>
            <a:endParaRPr lang="es-AR" sz="2400" dirty="0">
              <a:solidFill>
                <a:srgbClr val="0070C0"/>
              </a:solidFill>
            </a:endParaRPr>
          </a:p>
          <a:p>
            <a:pPr>
              <a:spcBef>
                <a:spcPts val="600"/>
              </a:spcBef>
            </a:pPr>
            <a:r>
              <a:rPr lang="es-MX" sz="2400" dirty="0"/>
              <a:t>¿Como elegir entre varios algoritmos para el mismo problema?</a:t>
            </a:r>
            <a:endParaRPr lang="es-AR" sz="24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400" dirty="0"/>
              <a:t>Si el problema es sencillo          podemos elegir un algoritmo que sea más rápido programar o uno que ya este desarrollado.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400" dirty="0"/>
              <a:t>Si el problema es complejo          el proceso de selección del algoritmo deberá ser más cuidadoso y con criterio.</a:t>
            </a:r>
          </a:p>
          <a:p>
            <a:pPr>
              <a:spcBef>
                <a:spcPts val="600"/>
              </a:spcBef>
            </a:pPr>
            <a:endParaRPr lang="es-AR" sz="2400" dirty="0"/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de algoritmos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lecha derecha 1"/>
          <p:cNvSpPr/>
          <p:nvPr/>
        </p:nvSpPr>
        <p:spPr>
          <a:xfrm>
            <a:off x="4369860" y="4784926"/>
            <a:ext cx="640080" cy="180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lecha derecha 7"/>
          <p:cNvSpPr/>
          <p:nvPr/>
        </p:nvSpPr>
        <p:spPr>
          <a:xfrm>
            <a:off x="4572000" y="5997508"/>
            <a:ext cx="640080" cy="198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52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s-AR" sz="2000" dirty="0"/>
              <a:t>El análisis asintótico es un concepto fundamental en la ciencia de la computación que describe cómo el tiempo y el espacio requeridos por un algoritmo aumentan en relación con el tamaño de la entrada. </a:t>
            </a:r>
          </a:p>
          <a:p>
            <a:pPr>
              <a:lnSpc>
                <a:spcPct val="150000"/>
              </a:lnSpc>
            </a:pPr>
            <a:endParaRPr lang="es-AR" sz="2000" dirty="0"/>
          </a:p>
          <a:p>
            <a:pPr>
              <a:lnSpc>
                <a:spcPct val="150000"/>
              </a:lnSpc>
            </a:pPr>
            <a:r>
              <a:rPr lang="es-AR" sz="2000" b="1" dirty="0"/>
              <a:t>Comprender esta complejidad es crucial para evaluar el rendimiento y la eficiencia de los algoritmos en diferentes situaciones.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7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37652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19838" y="2103145"/>
            <a:ext cx="872416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2000" dirty="0"/>
              <a:t>La notación asintótica es de suma importancia para determinar el tiempo de ejecución de los algoritmos y/o hacer comparaciones entre ellos. Sirve de parámetro de referencia estándar. Ya que: </a:t>
            </a:r>
          </a:p>
          <a:p>
            <a:pPr>
              <a:lnSpc>
                <a:spcPct val="150000"/>
              </a:lnSpc>
            </a:pPr>
            <a:endParaRPr lang="es-AR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AR" sz="2000" dirty="0"/>
              <a:t>Diferentes maquinas, diferentes tiempos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sz="2000" dirty="0"/>
              <a:t>La misma máquina puede dar diferentes medidas dependiendo factores (S,O,, Interrupciones, </a:t>
            </a:r>
            <a:r>
              <a:rPr lang="es-ES" sz="2000" dirty="0" err="1"/>
              <a:t>etc</a:t>
            </a:r>
            <a:r>
              <a:rPr lang="es-ES" sz="20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AR" sz="2000" dirty="0"/>
              <a:t>Máquinas con capacidad distinta o con arquitecturas diferentes. </a:t>
            </a:r>
          </a:p>
          <a:p>
            <a:r>
              <a:rPr lang="es-AR" sz="2000" dirty="0">
                <a:solidFill>
                  <a:schemeClr val="tx1"/>
                </a:solidFill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002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30" y="2323532"/>
            <a:ext cx="8353940" cy="28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0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" y="2192661"/>
            <a:ext cx="82391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0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2192661"/>
            <a:ext cx="8429625" cy="413385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156960" y="3951809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 = 1</a:t>
            </a:r>
            <a:endParaRPr lang="es-AR" dirty="0"/>
          </a:p>
        </p:txBody>
      </p:sp>
      <p:sp>
        <p:nvSpPr>
          <p:cNvPr id="5" name="CuadroTexto 4"/>
          <p:cNvSpPr txBox="1"/>
          <p:nvPr/>
        </p:nvSpPr>
        <p:spPr>
          <a:xfrm>
            <a:off x="6618301" y="4332535"/>
            <a:ext cx="2433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Pasamos todos los términos</a:t>
            </a:r>
          </a:p>
          <a:p>
            <a:r>
              <a:rPr lang="es-ES" dirty="0"/>
              <a:t> del lado derecho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288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5175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Análisis asintótico de algoritmos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Análisis asintótico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156960" y="3951809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 = 1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2182070"/>
            <a:ext cx="6904673" cy="443329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903720" y="3197756"/>
            <a:ext cx="182934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f(16)=8*16+128=256</a:t>
            </a:r>
          </a:p>
          <a:p>
            <a:r>
              <a:rPr lang="es-ES" dirty="0"/>
              <a:t>f(17)=8*17+128=264</a:t>
            </a:r>
          </a:p>
          <a:p>
            <a:r>
              <a:rPr lang="es-ES" dirty="0"/>
              <a:t>f(18)=8*18+128=272</a:t>
            </a:r>
          </a:p>
          <a:p>
            <a:r>
              <a:rPr lang="es-ES" dirty="0"/>
              <a:t>,</a:t>
            </a:r>
          </a:p>
          <a:p>
            <a:r>
              <a:rPr lang="es-ES" dirty="0"/>
              <a:t>,</a:t>
            </a:r>
          </a:p>
          <a:p>
            <a:r>
              <a:rPr lang="es-ES" dirty="0"/>
              <a:t>,</a:t>
            </a:r>
          </a:p>
          <a:p>
            <a:r>
              <a:rPr lang="es-ES" dirty="0"/>
              <a:t>f(25)=8*25+128=328</a:t>
            </a:r>
          </a:p>
          <a:p>
            <a:r>
              <a:rPr lang="es-ES" dirty="0"/>
              <a:t>f(26)=8*26+128=336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3757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Notaciones asintóticas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52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s-AR" sz="1800" dirty="0"/>
              <a:t>Las anotaciones asintóticas como</a:t>
            </a:r>
            <a:r>
              <a:rPr lang="es-AR" sz="1800" b="1" dirty="0"/>
              <a:t> Big-O, Ω(Omega)</a:t>
            </a:r>
            <a:r>
              <a:rPr lang="es-AR" sz="1800" dirty="0"/>
              <a:t> y </a:t>
            </a:r>
            <a:r>
              <a:rPr lang="es-AR" sz="1800" b="1" dirty="0"/>
              <a:t>Θ(Theta)</a:t>
            </a:r>
            <a:r>
              <a:rPr lang="es-AR" sz="1800" dirty="0"/>
              <a:t> son herramientas clave para el análisis de algoritmos. Estas notaciones nos permiten describir la complejidad temporal y espacial de un algoritmo en términos de su comportamiento a medida que aumenta el tamaño de la entrada. Por ejemplo,</a:t>
            </a:r>
            <a:r>
              <a:rPr lang="es-AR" sz="1800" b="1" dirty="0"/>
              <a:t> Big O representa el límite superior del tiempo o espacio</a:t>
            </a:r>
            <a:r>
              <a:rPr lang="es-AR" sz="1800" dirty="0"/>
              <a:t> que un algoritmo puede usar en el peor de los casos. En cambio,</a:t>
            </a:r>
            <a:r>
              <a:rPr lang="es-AR" sz="1800" b="1" dirty="0"/>
              <a:t> Ω representa el límite inferior y Θ proporciona límites estrictos</a:t>
            </a:r>
            <a:r>
              <a:rPr lang="es-AR" sz="1800" dirty="0"/>
              <a:t> que representan los límites superior e inferior de la complejidad. Estas características son importantes para comparar y clasificar algoritmos, lo que permite a los desarrolladores comprender el rendimiento de los algoritmos a medida que crece el problema y seleccionar más fácilmente el enfoque más eficiente para una tarea determinada.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Asintótica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833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Tiempo de ejecución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416964" y="1953436"/>
            <a:ext cx="8084951" cy="447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s-AR" sz="2000" dirty="0"/>
              <a:t>El tiempo de ejecución es la determinación del tiempo asintótico de ejecución, se recurre al redondeo en base a las secciones del código o programa que mas ciclos de CPU consumen. Debemos enfocarnos en cuán rápido crece una función T(n) respecto al tamaño de la entrada. A esto lo llamamos la </a:t>
            </a:r>
            <a:r>
              <a:rPr lang="es-AR" sz="2000" b="1" dirty="0"/>
              <a:t>tasa o velocidad de crecimiento </a:t>
            </a:r>
            <a:r>
              <a:rPr lang="es-AR" sz="2000" dirty="0"/>
              <a:t>del tiempo de ejecución.</a:t>
            </a:r>
          </a:p>
          <a:p>
            <a:pPr algn="just">
              <a:lnSpc>
                <a:spcPct val="150000"/>
              </a:lnSpc>
            </a:pPr>
            <a:r>
              <a:rPr lang="es-AR" sz="2000" dirty="0"/>
              <a:t>Supongamos que un algoritmo, que se ejecuta con una entrada de tamaño n, tarda 6n</a:t>
            </a:r>
            <a:r>
              <a:rPr lang="es-AR" sz="2000" baseline="30000" dirty="0"/>
              <a:t>2</a:t>
            </a:r>
            <a:r>
              <a:rPr lang="es-AR" sz="2000" dirty="0"/>
              <a:t>+100n+300 instrucciones de máquina. </a:t>
            </a:r>
            <a:endParaRPr sz="2000" dirty="0"/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Tiempo de ejecución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042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Tiempo de ejecución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Tiempo de ejecución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2192661"/>
            <a:ext cx="7299960" cy="461000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3601427" y="2505666"/>
            <a:ext cx="54200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El término 6n</a:t>
            </a:r>
            <a:r>
              <a:rPr lang="es-AR" baseline="30000" dirty="0"/>
              <a:t>2 </a:t>
            </a:r>
            <a:r>
              <a:rPr lang="es-AR" dirty="0"/>
              <a:t>se vuelve más grande que el resto de los términos,</a:t>
            </a:r>
          </a:p>
          <a:p>
            <a:r>
              <a:rPr lang="es-AR" dirty="0"/>
              <a:t> 100n+300 una vez que n se hace suficientemente grande.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4667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Big-Oh definición: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63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AR" sz="2800" b="1" i="1" dirty="0"/>
              <a:t>T(n) = O(f(n))</a:t>
            </a:r>
            <a:endParaRPr lang="es-AR" sz="2800" b="1" i="1" dirty="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</a:pPr>
            <a:r>
              <a:rPr lang="es-AR" sz="2800" dirty="0"/>
              <a:t>si existen constantes </a:t>
            </a:r>
            <a:r>
              <a:rPr lang="es-AR" sz="2800" b="1" dirty="0"/>
              <a:t>c &gt; 0  </a:t>
            </a:r>
            <a:r>
              <a:rPr lang="es-AR" sz="2800" dirty="0"/>
              <a:t>y </a:t>
            </a:r>
            <a:r>
              <a:rPr lang="es-AR" sz="2800" b="1" dirty="0"/>
              <a:t>n</a:t>
            </a:r>
            <a:r>
              <a:rPr lang="es-AR" sz="2800" b="1" baseline="-25000" dirty="0"/>
              <a:t>0</a:t>
            </a:r>
            <a:r>
              <a:rPr lang="es-AR" sz="2800" dirty="0"/>
              <a:t> tales que:</a:t>
            </a:r>
          </a:p>
          <a:p>
            <a:pPr algn="ctr">
              <a:lnSpc>
                <a:spcPct val="150000"/>
              </a:lnSpc>
            </a:pPr>
            <a:r>
              <a:rPr lang="pt-BR" sz="2800" b="1" i="1" dirty="0"/>
              <a:t>T(n) &lt;= c f(n) para todo n &gt;= n</a:t>
            </a:r>
            <a:r>
              <a:rPr lang="pt-BR" sz="2800" b="1" i="1" baseline="-25000" dirty="0"/>
              <a:t>0</a:t>
            </a:r>
          </a:p>
          <a:p>
            <a:pPr>
              <a:lnSpc>
                <a:spcPct val="150000"/>
              </a:lnSpc>
            </a:pPr>
            <a:endParaRPr lang="es-AR" sz="2400" dirty="0"/>
          </a:p>
          <a:p>
            <a:pPr>
              <a:lnSpc>
                <a:spcPct val="150000"/>
              </a:lnSpc>
            </a:pPr>
            <a:r>
              <a:rPr lang="es-AR" sz="2400" dirty="0"/>
              <a:t>Se lee: T(n) es de orden de f(n)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f(n) representa una cota superior de T(n)</a:t>
            </a:r>
          </a:p>
          <a:p>
            <a:pPr>
              <a:lnSpc>
                <a:spcPct val="150000"/>
              </a:lnSpc>
            </a:pPr>
            <a:r>
              <a:rPr lang="es-AR" sz="2400" dirty="0"/>
              <a:t>La tasa de crecimiento de T(n) es menor o igual que la de f(n)</a:t>
            </a:r>
            <a:endParaRPr lang="es-AR" sz="2400" baseline="-25000" dirty="0"/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Big-Oh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443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Big-Oh representación: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63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AR" sz="2800" dirty="0"/>
              <a:t>f(n) = O(g(n)) </a:t>
            </a:r>
            <a:endParaRPr lang="es-AR" sz="2800" baseline="-25000" dirty="0"/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Big-Oh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70" y="2711616"/>
            <a:ext cx="7579789" cy="442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3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Notación Big-Oh: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63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s-AR" sz="2800" dirty="0"/>
              <a:t>f(n) = O(g(n)) </a:t>
            </a:r>
          </a:p>
          <a:p>
            <a:pPr algn="ctr">
              <a:lnSpc>
                <a:spcPct val="150000"/>
              </a:lnSpc>
            </a:pPr>
            <a:endParaRPr lang="es-AR" sz="2800" dirty="0"/>
          </a:p>
          <a:p>
            <a:pPr algn="just">
              <a:lnSpc>
                <a:spcPct val="150000"/>
              </a:lnSpc>
            </a:pPr>
            <a:r>
              <a:rPr lang="es-AR" sz="2400" dirty="0"/>
              <a:t>La notación O grande solamente da una cota asintótica superior, y no una cota asintóticamente ajustada, podemos hacer declaraciones que en primera instancia parecen incorrectas, pero que son técnicamente correctas.</a:t>
            </a:r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Big-Oh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081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Propiedades Notación Big-</a:t>
            </a:r>
            <a:r>
              <a:rPr lang="es-AR" sz="2800" b="1" i="1" dirty="0">
                <a:solidFill>
                  <a:srgbClr val="538CD5"/>
                </a:solidFill>
              </a:rPr>
              <a:t>Oh: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4" y="2047093"/>
            <a:ext cx="6696076" cy="41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7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Propiedades Notación Big-</a:t>
            </a:r>
            <a:r>
              <a:rPr lang="es-AR" sz="2800" b="1" i="1" dirty="0">
                <a:solidFill>
                  <a:srgbClr val="538CD5"/>
                </a:solidFill>
              </a:rPr>
              <a:t>Oh: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 Big-</a:t>
            </a:r>
            <a:r>
              <a:rPr lang="es-AR" sz="2400" b="1" i="1" dirty="0">
                <a:solidFill>
                  <a:schemeClr val="lt1"/>
                </a:solidFill>
              </a:rPr>
              <a:t>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94" y="2503170"/>
            <a:ext cx="7130586" cy="40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0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Ordenes de crecimiento: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2160035"/>
            <a:ext cx="4772025" cy="440055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2426970"/>
            <a:ext cx="39719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74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" y="2677477"/>
            <a:ext cx="6777990" cy="398138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105400" y="234696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Cuales son correctos?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818953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56" y="2689860"/>
            <a:ext cx="81248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4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" y="2160035"/>
            <a:ext cx="5805641" cy="11991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77" y="3710940"/>
            <a:ext cx="6588443" cy="29337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279113" y="2296165"/>
            <a:ext cx="28648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/>
              <a:t>O(1</a:t>
            </a:r>
            <a:r>
              <a:rPr lang="es-ES" sz="2000" dirty="0"/>
              <a:t>)</a:t>
            </a:r>
          </a:p>
          <a:p>
            <a:r>
              <a:rPr lang="es-ES" sz="2000" dirty="0"/>
              <a:t>independientemente de</a:t>
            </a:r>
          </a:p>
          <a:p>
            <a:r>
              <a:rPr lang="es-ES" sz="2000" dirty="0"/>
              <a:t>los datos de entrada</a:t>
            </a:r>
            <a:endParaRPr lang="es-AR" sz="2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7240925" y="4402292"/>
            <a:ext cx="15953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/>
              <a:t>O(log n</a:t>
            </a:r>
            <a:r>
              <a:rPr lang="es-ES" sz="2000" dirty="0"/>
              <a:t>)</a:t>
            </a:r>
          </a:p>
          <a:p>
            <a:r>
              <a:rPr lang="es-ES" sz="2000" dirty="0"/>
              <a:t>En una lista </a:t>
            </a:r>
          </a:p>
          <a:p>
            <a:r>
              <a:rPr lang="es-ES" sz="2000" dirty="0"/>
              <a:t>con datos</a:t>
            </a:r>
          </a:p>
          <a:p>
            <a:r>
              <a:rPr lang="es-ES" sz="2000" dirty="0"/>
              <a:t>Ordenados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245090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5971347" y="2291090"/>
            <a:ext cx="32191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i="1" dirty="0"/>
              <a:t>O(n</a:t>
            </a:r>
            <a:r>
              <a:rPr lang="es-ES" sz="2000" dirty="0"/>
              <a:t>)</a:t>
            </a:r>
          </a:p>
          <a:p>
            <a:r>
              <a:rPr lang="es-ES" sz="2000" dirty="0"/>
              <a:t>El tiempo de ejecución es</a:t>
            </a:r>
          </a:p>
          <a:p>
            <a:r>
              <a:rPr lang="es-ES" sz="2000" dirty="0"/>
              <a:t>directamente proporcional </a:t>
            </a:r>
          </a:p>
          <a:p>
            <a:r>
              <a:rPr lang="es-ES" sz="2000" dirty="0"/>
              <a:t>a los datos de entrada</a:t>
            </a:r>
            <a:endParaRPr lang="es-AR" sz="20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2099095"/>
            <a:ext cx="5204301" cy="226996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19" y="4556929"/>
            <a:ext cx="6332061" cy="2183469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5775960" y="4574673"/>
            <a:ext cx="30780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i="1" dirty="0">
                <a:solidFill>
                  <a:schemeClr val="bg2"/>
                </a:solidFill>
              </a:rPr>
              <a:t>O(n</a:t>
            </a:r>
            <a:r>
              <a:rPr lang="es-ES" sz="2000" i="1" baseline="30000" dirty="0">
                <a:solidFill>
                  <a:schemeClr val="bg2"/>
                </a:solidFill>
              </a:rPr>
              <a:t>2</a:t>
            </a:r>
            <a:r>
              <a:rPr lang="es-ES" sz="2000" dirty="0">
                <a:solidFill>
                  <a:schemeClr val="bg2"/>
                </a:solidFill>
              </a:rPr>
              <a:t>)</a:t>
            </a:r>
          </a:p>
          <a:p>
            <a:r>
              <a:rPr lang="es-ES" sz="2000" dirty="0">
                <a:solidFill>
                  <a:schemeClr val="bg2"/>
                </a:solidFill>
              </a:rPr>
              <a:t>El tiempo es proporcional</a:t>
            </a:r>
          </a:p>
          <a:p>
            <a:r>
              <a:rPr lang="es-ES" sz="2000" dirty="0">
                <a:solidFill>
                  <a:schemeClr val="bg2"/>
                </a:solidFill>
              </a:rPr>
              <a:t>al cuadrado del tamaño</a:t>
            </a:r>
          </a:p>
          <a:p>
            <a:r>
              <a:rPr lang="es-ES" sz="2000" dirty="0">
                <a:solidFill>
                  <a:schemeClr val="bg2"/>
                </a:solidFill>
              </a:rPr>
              <a:t>de entrada</a:t>
            </a:r>
            <a:endParaRPr lang="es-AR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341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41007" y="5606864"/>
            <a:ext cx="78021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i="1" dirty="0">
                <a:solidFill>
                  <a:schemeClr val="bg2"/>
                </a:solidFill>
              </a:rPr>
              <a:t>O(e</a:t>
            </a:r>
            <a:r>
              <a:rPr lang="es-ES" sz="2000" b="1" i="1" baseline="30000" dirty="0">
                <a:solidFill>
                  <a:schemeClr val="bg2"/>
                </a:solidFill>
              </a:rPr>
              <a:t>n</a:t>
            </a:r>
            <a:r>
              <a:rPr lang="es-ES" sz="2000" b="1" dirty="0">
                <a:solidFill>
                  <a:schemeClr val="bg2"/>
                </a:solidFill>
              </a:rPr>
              <a:t>)</a:t>
            </a:r>
          </a:p>
          <a:p>
            <a:r>
              <a:rPr lang="es-AR" sz="1800" dirty="0"/>
              <a:t>Problema es Armar todas las combinaciones posibles de una cadena. El</a:t>
            </a:r>
          </a:p>
          <a:p>
            <a:r>
              <a:rPr lang="es-AR" sz="1800" dirty="0"/>
              <a:t>tiempo de ejecución crece exponencialmente con la longitud de la cadena.</a:t>
            </a:r>
            <a:endParaRPr lang="es-AR" sz="1800" dirty="0">
              <a:solidFill>
                <a:schemeClr val="bg2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" y="2049682"/>
            <a:ext cx="7605713" cy="345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4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2" y="4046240"/>
            <a:ext cx="5019675" cy="148590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02" y="2056925"/>
            <a:ext cx="6617018" cy="22288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39102" y="5490260"/>
            <a:ext cx="857961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dirty="0"/>
              <a:t>T(n)= cte</a:t>
            </a:r>
            <a:r>
              <a:rPr lang="es-ES" sz="2000" baseline="-25000" dirty="0"/>
              <a:t>1</a:t>
            </a:r>
            <a:r>
              <a:rPr lang="es-ES" sz="2000" dirty="0"/>
              <a:t>+(n*(cte</a:t>
            </a:r>
            <a:r>
              <a:rPr lang="es-ES" sz="2000" baseline="-25000" dirty="0"/>
              <a:t>2</a:t>
            </a:r>
            <a:r>
              <a:rPr lang="es-ES" sz="2000" dirty="0"/>
              <a:t> + cte</a:t>
            </a:r>
            <a:r>
              <a:rPr lang="es-ES" sz="2000" baseline="-25000" dirty="0"/>
              <a:t>3</a:t>
            </a:r>
            <a:r>
              <a:rPr lang="es-ES" sz="2000" dirty="0"/>
              <a:t>) ) si  cte</a:t>
            </a:r>
            <a:r>
              <a:rPr lang="es-ES" sz="2000" baseline="-25000" dirty="0"/>
              <a:t>2</a:t>
            </a:r>
            <a:r>
              <a:rPr lang="es-ES" sz="2000" dirty="0"/>
              <a:t> + cte</a:t>
            </a:r>
            <a:r>
              <a:rPr lang="es-ES" sz="2000" baseline="-25000" dirty="0"/>
              <a:t>3 </a:t>
            </a:r>
            <a:r>
              <a:rPr lang="es-ES" sz="2000" dirty="0"/>
              <a:t> = cte</a:t>
            </a:r>
            <a:r>
              <a:rPr lang="es-ES" sz="2000" baseline="-25000" dirty="0"/>
              <a:t>4    </a:t>
            </a:r>
            <a:r>
              <a:rPr lang="es-ES" sz="2000" dirty="0"/>
              <a:t>Reemplazando en T(n)</a:t>
            </a:r>
          </a:p>
          <a:p>
            <a:pPr>
              <a:spcBef>
                <a:spcPts val="600"/>
              </a:spcBef>
            </a:pPr>
            <a:r>
              <a:rPr lang="es-ES" sz="2000" dirty="0"/>
              <a:t>T(n) = cte</a:t>
            </a:r>
            <a:r>
              <a:rPr lang="es-ES" sz="2000" baseline="-25000" dirty="0"/>
              <a:t>1</a:t>
            </a:r>
            <a:r>
              <a:rPr lang="es-ES" sz="2000" dirty="0"/>
              <a:t>+(n * cte</a:t>
            </a:r>
            <a:r>
              <a:rPr lang="es-ES" sz="2000" baseline="-25000" dirty="0"/>
              <a:t>4</a:t>
            </a:r>
            <a:r>
              <a:rPr lang="es-ES" sz="2000" dirty="0"/>
              <a:t> )=&gt;por </a:t>
            </a:r>
            <a:r>
              <a:rPr lang="es-ES" sz="2000" dirty="0" err="1"/>
              <a:t>prop</a:t>
            </a:r>
            <a:r>
              <a:rPr lang="es-ES" sz="2000" dirty="0"/>
              <a:t>. de </a:t>
            </a:r>
            <a:r>
              <a:rPr lang="es-ES" sz="2000" i="1" dirty="0"/>
              <a:t>O</a:t>
            </a:r>
            <a:r>
              <a:rPr lang="es-ES" sz="2000" dirty="0"/>
              <a:t>, </a:t>
            </a:r>
            <a:r>
              <a:rPr lang="es-ES" sz="2000" i="1" dirty="0"/>
              <a:t>O</a:t>
            </a:r>
            <a:r>
              <a:rPr lang="es-ES" sz="2000" dirty="0"/>
              <a:t>(1)+cte</a:t>
            </a:r>
            <a:r>
              <a:rPr lang="es-ES" sz="2000" baseline="-25000" dirty="0"/>
              <a:t>4</a:t>
            </a:r>
            <a:r>
              <a:rPr lang="es-ES" sz="2000" dirty="0"/>
              <a:t>*</a:t>
            </a:r>
            <a:r>
              <a:rPr lang="es-ES" sz="2000" i="1" dirty="0"/>
              <a:t>O</a:t>
            </a:r>
            <a:r>
              <a:rPr lang="es-ES" sz="2000" dirty="0"/>
              <a:t>(n)=</a:t>
            </a:r>
            <a:r>
              <a:rPr lang="es-ES" sz="2000" b="1" i="1" dirty="0"/>
              <a:t>O</a:t>
            </a:r>
            <a:r>
              <a:rPr lang="es-ES" sz="2000" b="1" dirty="0"/>
              <a:t>(n)</a:t>
            </a:r>
            <a:r>
              <a:rPr lang="es-ES" sz="1800" dirty="0"/>
              <a:t> 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950183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" y="2291089"/>
            <a:ext cx="5288988" cy="228358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615" y="4212907"/>
            <a:ext cx="52006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12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27819" y="4125683"/>
            <a:ext cx="8130381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dirty="0"/>
              <a:t>T(n)= cte</a:t>
            </a:r>
            <a:r>
              <a:rPr lang="es-ES" sz="2000" baseline="-25000" dirty="0"/>
              <a:t>2</a:t>
            </a:r>
            <a:r>
              <a:rPr lang="es-ES" sz="2000" dirty="0"/>
              <a:t>+i* T(n-i) para cualquier valor i &gt;=1</a:t>
            </a:r>
          </a:p>
          <a:p>
            <a:pPr>
              <a:spcBef>
                <a:spcPts val="600"/>
              </a:spcBef>
            </a:pPr>
            <a:r>
              <a:rPr lang="es-ES" sz="2000" dirty="0"/>
              <a:t>n-i = 1 =&gt; -i = 1-n =&gt;i = -1+n =&gt; i = n-1</a:t>
            </a:r>
          </a:p>
          <a:p>
            <a:pPr>
              <a:spcBef>
                <a:spcPts val="600"/>
              </a:spcBef>
            </a:pPr>
            <a:r>
              <a:rPr lang="es-ES" sz="2000" dirty="0"/>
              <a:t>Reemplazando en T(n)</a:t>
            </a:r>
          </a:p>
          <a:p>
            <a:pPr>
              <a:spcBef>
                <a:spcPts val="600"/>
              </a:spcBef>
            </a:pPr>
            <a:r>
              <a:rPr lang="es-ES" sz="2000" dirty="0"/>
              <a:t>T(n) = cte</a:t>
            </a:r>
            <a:r>
              <a:rPr lang="es-ES" sz="2000" baseline="-25000" dirty="0"/>
              <a:t>2</a:t>
            </a:r>
            <a:r>
              <a:rPr lang="es-ES" sz="2000" dirty="0"/>
              <a:t>+(n-1)*T(n-(n-1)) = cte</a:t>
            </a:r>
            <a:r>
              <a:rPr lang="es-ES" sz="2000" baseline="-25000" dirty="0"/>
              <a:t>2</a:t>
            </a:r>
            <a:r>
              <a:rPr lang="es-ES" sz="2000" dirty="0"/>
              <a:t>+(n-1)*T(n-n+1)=cte</a:t>
            </a:r>
            <a:r>
              <a:rPr lang="es-ES" sz="2000" baseline="-25000" dirty="0"/>
              <a:t>2</a:t>
            </a:r>
            <a:r>
              <a:rPr lang="es-ES" sz="2000" dirty="0"/>
              <a:t>+(n-1)*T(1)</a:t>
            </a:r>
          </a:p>
          <a:p>
            <a:pPr>
              <a:spcBef>
                <a:spcPts val="600"/>
              </a:spcBef>
            </a:pPr>
            <a:r>
              <a:rPr lang="es-ES" sz="2000" dirty="0"/>
              <a:t>cte</a:t>
            </a:r>
            <a:r>
              <a:rPr lang="es-ES" sz="2000" baseline="-25000" dirty="0"/>
              <a:t>2</a:t>
            </a:r>
            <a:r>
              <a:rPr lang="es-ES" sz="2000" dirty="0"/>
              <a:t>+(n-1)*cte</a:t>
            </a:r>
            <a:r>
              <a:rPr lang="es-ES" sz="2000" baseline="-25000" dirty="0"/>
              <a:t>3 </a:t>
            </a:r>
            <a:r>
              <a:rPr lang="es-ES" sz="2000" dirty="0"/>
              <a:t>= T(cte</a:t>
            </a:r>
            <a:r>
              <a:rPr lang="es-ES" sz="2000" baseline="-25000" dirty="0"/>
              <a:t>2</a:t>
            </a:r>
            <a:r>
              <a:rPr lang="es-ES" sz="2000" dirty="0"/>
              <a:t>)+T((n-1)*cte</a:t>
            </a:r>
            <a:r>
              <a:rPr lang="es-ES" sz="2000" baseline="-25000" dirty="0"/>
              <a:t>3</a:t>
            </a:r>
            <a:r>
              <a:rPr lang="es-ES" sz="2000" dirty="0"/>
              <a:t>)=por </a:t>
            </a:r>
            <a:r>
              <a:rPr lang="es-ES" sz="2000" dirty="0" err="1"/>
              <a:t>prop</a:t>
            </a:r>
            <a:r>
              <a:rPr lang="es-ES" sz="2000" dirty="0"/>
              <a:t>. de </a:t>
            </a:r>
            <a:r>
              <a:rPr lang="es-ES" sz="2000" i="1" dirty="0"/>
              <a:t>O</a:t>
            </a:r>
            <a:r>
              <a:rPr lang="es-ES" sz="2000" dirty="0"/>
              <a:t> = </a:t>
            </a:r>
          </a:p>
          <a:p>
            <a:pPr>
              <a:spcBef>
                <a:spcPts val="600"/>
              </a:spcBef>
            </a:pPr>
            <a:r>
              <a:rPr lang="es-ES" sz="2000" i="1" dirty="0"/>
              <a:t>O</a:t>
            </a:r>
            <a:r>
              <a:rPr lang="es-ES" sz="2000" dirty="0"/>
              <a:t>(1)+cte</a:t>
            </a:r>
            <a:r>
              <a:rPr lang="es-ES" sz="2000" baseline="-25000" dirty="0"/>
              <a:t>3</a:t>
            </a:r>
            <a:r>
              <a:rPr lang="es-ES" sz="2000" dirty="0"/>
              <a:t>*</a:t>
            </a:r>
            <a:r>
              <a:rPr lang="es-ES" sz="2000" i="1" dirty="0"/>
              <a:t>O</a:t>
            </a:r>
            <a:r>
              <a:rPr lang="es-ES" sz="2000" dirty="0"/>
              <a:t>(n-1)=</a:t>
            </a:r>
            <a:r>
              <a:rPr lang="es-ES" sz="2000" i="1" dirty="0"/>
              <a:t>O</a:t>
            </a:r>
            <a:r>
              <a:rPr lang="es-ES" sz="2000" dirty="0"/>
              <a:t>(1)+</a:t>
            </a:r>
            <a:r>
              <a:rPr lang="es-ES" sz="2000" i="1" dirty="0"/>
              <a:t>O</a:t>
            </a:r>
            <a:r>
              <a:rPr lang="es-ES" sz="2000" dirty="0"/>
              <a:t>(n-1) = O(n-1) = </a:t>
            </a:r>
            <a:r>
              <a:rPr lang="es-ES" sz="2000" i="1" dirty="0"/>
              <a:t>O</a:t>
            </a:r>
            <a:r>
              <a:rPr lang="es-ES" sz="2000" dirty="0"/>
              <a:t>(n)</a:t>
            </a:r>
          </a:p>
          <a:p>
            <a:endParaRPr lang="es-ES" sz="2000" dirty="0"/>
          </a:p>
          <a:p>
            <a:endParaRPr lang="es-ES" sz="1800" dirty="0"/>
          </a:p>
          <a:p>
            <a:r>
              <a:rPr lang="es-ES" sz="1800" dirty="0"/>
              <a:t> </a:t>
            </a:r>
            <a:endParaRPr lang="es-AR" sz="18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23" y="1944458"/>
            <a:ext cx="52006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68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19" y="1682868"/>
            <a:ext cx="5643563" cy="2424521"/>
          </a:xfrm>
          <a:prstGeom prst="rect">
            <a:avLst/>
          </a:prstGeom>
        </p:spPr>
      </p:pic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19" y="4107389"/>
            <a:ext cx="4886959" cy="255454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689900" y="5015330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Desarrollamos la recurrencia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97192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17" y="1944458"/>
            <a:ext cx="7629525" cy="286702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926651" y="4283103"/>
            <a:ext cx="4198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El desarrollo termina cuando </a:t>
            </a:r>
            <a:r>
              <a:rPr lang="es-ES" sz="2000" dirty="0"/>
              <a:t>T(n/2</a:t>
            </a:r>
            <a:r>
              <a:rPr lang="es-ES" sz="2000" baseline="30000" dirty="0"/>
              <a:t>i</a:t>
            </a:r>
            <a:r>
              <a:rPr lang="es-ES" sz="2000" dirty="0"/>
              <a:t>)=1</a:t>
            </a:r>
            <a:endParaRPr lang="es-AR" sz="2000" dirty="0"/>
          </a:p>
        </p:txBody>
      </p:sp>
      <p:sp>
        <p:nvSpPr>
          <p:cNvPr id="6" name="Rectángulo 5"/>
          <p:cNvSpPr/>
          <p:nvPr/>
        </p:nvSpPr>
        <p:spPr>
          <a:xfrm>
            <a:off x="431316" y="5021860"/>
            <a:ext cx="7264883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2</a:t>
            </a:r>
            <a:r>
              <a:rPr lang="pt-BR" sz="2000" i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* T(n/2</a:t>
            </a:r>
            <a:r>
              <a:rPr lang="pt-BR" sz="2000" i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) + (2</a:t>
            </a:r>
            <a:r>
              <a:rPr lang="pt-BR" sz="2000" i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–1) *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</a:p>
          <a:p>
            <a:pPr>
              <a:spcBef>
                <a:spcPts val="600"/>
              </a:spcBef>
            </a:pPr>
            <a:r>
              <a:rPr lang="pt-BR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Cuando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n/2</a:t>
            </a:r>
            <a:r>
              <a:rPr lang="pt-BR" sz="20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= 1                n = 2</a:t>
            </a:r>
            <a:r>
              <a:rPr lang="pt-BR" sz="20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x </a:t>
            </a:r>
            <a:r>
              <a:rPr lang="pt-BR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prop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de log   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i= log</a:t>
            </a:r>
            <a:r>
              <a:rPr lang="pt-BR" sz="2000" b="1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n,</a:t>
            </a:r>
            <a:endParaRPr lang="pt-BR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Reemplazamos </a:t>
            </a:r>
            <a:r>
              <a:rPr lang="es-AR" sz="2000" b="1" dirty="0">
                <a:solidFill>
                  <a:schemeClr val="tx1"/>
                </a:solidFill>
                <a:latin typeface="Arial" panose="020B0604020202020204" pitchFamily="34" charset="0"/>
              </a:rPr>
              <a:t>i </a:t>
            </a: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en la expresión de T(n)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n * T(n/n) + (n –1) *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= 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n *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+ (n –1) *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= </a:t>
            </a:r>
            <a:r>
              <a:rPr lang="pt-BR" sz="2000" b="1" i="1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3142894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81" y="2160035"/>
            <a:ext cx="850582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60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9" y="1682868"/>
            <a:ext cx="8743950" cy="2505075"/>
          </a:xfrm>
          <a:prstGeom prst="rect">
            <a:avLst/>
          </a:prstGeom>
        </p:spPr>
      </p:pic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i="1" dirty="0">
                <a:solidFill>
                  <a:srgbClr val="538CD5"/>
                </a:solidFill>
              </a:rPr>
              <a:t>Ejemplos:</a:t>
            </a:r>
            <a:endParaRPr sz="2800" b="1" i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10: Notación-Big-Oh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27819" y="4449533"/>
            <a:ext cx="72648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+ n*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 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 O(n*cte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) 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=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*O(n) 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= </a:t>
            </a:r>
            <a:r>
              <a:rPr lang="pt-BR" sz="2000" b="1" i="1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(n)</a:t>
            </a:r>
          </a:p>
          <a:p>
            <a:pPr>
              <a:spcBef>
                <a:spcPts val="60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637038" y="4257172"/>
            <a:ext cx="5306931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T(n-1)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=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(T(n-2)+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 )</a:t>
            </a:r>
            <a:endParaRPr lang="pt-BR" sz="20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=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(T(n-3)+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 )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)</a:t>
            </a:r>
            <a:endParaRPr lang="pt-BR" sz="2000" baseline="-25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2000" i="1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= i *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+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 T(</a:t>
            </a:r>
            <a:r>
              <a:rPr lang="pt-BR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n-i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)   </a:t>
            </a: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Cuando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n-i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 = 0 </a:t>
            </a:r>
            <a:endParaRPr lang="pt-BR" sz="20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entonces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   n = i,</a:t>
            </a: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Reemplazamos </a:t>
            </a:r>
            <a:r>
              <a:rPr lang="es-AR" sz="2000" b="1" dirty="0">
                <a:solidFill>
                  <a:schemeClr val="tx1"/>
                </a:solidFill>
                <a:latin typeface="Arial" panose="020B0604020202020204" pitchFamily="34" charset="0"/>
              </a:rPr>
              <a:t>i en</a:t>
            </a:r>
            <a:r>
              <a:rPr lang="es-AR" sz="2000" dirty="0">
                <a:solidFill>
                  <a:schemeClr val="tx1"/>
                </a:solidFill>
                <a:latin typeface="Arial" panose="020B0604020202020204" pitchFamily="34" charset="0"/>
              </a:rPr>
              <a:t> T(n)</a:t>
            </a:r>
          </a:p>
          <a:p>
            <a:pPr>
              <a:spcBef>
                <a:spcPts val="600"/>
              </a:spcBef>
            </a:pP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T(n) = n *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+ T(n –n)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 = cte</a:t>
            </a:r>
            <a:r>
              <a:rPr lang="pt-BR" sz="20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1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pt-BR" sz="2000" i="1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</a:rPr>
              <a:t>(n)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= </a:t>
            </a:r>
            <a:r>
              <a:rPr lang="pt-BR" sz="2000" b="1" i="1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3033268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25BDC1A-17CA-316A-6874-26AE3E77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>
            <a:extLst>
              <a:ext uri="{FF2B5EF4-FFF2-40B4-BE49-F238E27FC236}">
                <a16:creationId xmlns:a16="http://schemas.microsoft.com/office/drawing/2014/main" id="{8B2D47A8-A6C6-B432-D9A8-552AEA263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AFDBD055-6CFC-4A0A-F6C1-D341804CBAD2}"/>
              </a:ext>
            </a:extLst>
          </p:cNvPr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>
            <a:extLst>
              <a:ext uri="{FF2B5EF4-FFF2-40B4-BE49-F238E27FC236}">
                <a16:creationId xmlns:a16="http://schemas.microsoft.com/office/drawing/2014/main" id="{148BE65E-DEB1-FBE7-2AC7-F827FE47088D}"/>
              </a:ext>
            </a:extLst>
          </p:cNvPr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89;g2f390fb78e8_0_16">
            <a:extLst>
              <a:ext uri="{FF2B5EF4-FFF2-40B4-BE49-F238E27FC236}">
                <a16:creationId xmlns:a16="http://schemas.microsoft.com/office/drawing/2014/main" id="{17A23620-E56C-8B4E-C422-9840D09607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8087" y="2807125"/>
            <a:ext cx="3875225" cy="179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57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8FF68B3-D2FD-1379-2DD8-6A725591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>
            <a:extLst>
              <a:ext uri="{FF2B5EF4-FFF2-40B4-BE49-F238E27FC236}">
                <a16:creationId xmlns:a16="http://schemas.microsoft.com/office/drawing/2014/main" id="{DE695B2B-CBB7-778C-54C1-520C54B7CA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8530A552-FBF4-4248-41A0-2B34A992CAE9}"/>
              </a:ext>
            </a:extLst>
          </p:cNvPr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10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>
            <a:extLst>
              <a:ext uri="{FF2B5EF4-FFF2-40B4-BE49-F238E27FC236}">
                <a16:creationId xmlns:a16="http://schemas.microsoft.com/office/drawing/2014/main" id="{A014D2E7-CEAE-0F3C-FCD8-9C975BA82E1F}"/>
              </a:ext>
            </a:extLst>
          </p:cNvPr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97;g2f390fb78e8_0_23">
            <a:extLst>
              <a:ext uri="{FF2B5EF4-FFF2-40B4-BE49-F238E27FC236}">
                <a16:creationId xmlns:a16="http://schemas.microsoft.com/office/drawing/2014/main" id="{DB0D7DBF-A2D0-92D6-5762-9EE7F3421B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859" y="1611543"/>
            <a:ext cx="8839200" cy="81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98;g2f390fb78e8_0_23">
            <a:extLst>
              <a:ext uri="{FF2B5EF4-FFF2-40B4-BE49-F238E27FC236}">
                <a16:creationId xmlns:a16="http://schemas.microsoft.com/office/drawing/2014/main" id="{F02BAF0A-5A52-BC99-D172-8883AB3922D1}"/>
              </a:ext>
            </a:extLst>
          </p:cNvPr>
          <p:cNvSpPr txBox="1"/>
          <p:nvPr/>
        </p:nvSpPr>
        <p:spPr>
          <a:xfrm>
            <a:off x="974566" y="2720017"/>
            <a:ext cx="7392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❏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Grafos orientados y no orientados. </a:t>
            </a:r>
          </a:p>
          <a:p>
            <a:pPr marL="457200" indent="-381000" algn="just">
              <a:buSzPts val="2400"/>
              <a:buFont typeface="Wingdings" panose="05000000000000000000" pitchFamily="2" charset="2"/>
              <a:buChar char="q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Grafos pesados. Distintas representaciones: Listas de Adyacencia y Matriz de Adyacencia.</a:t>
            </a:r>
          </a:p>
          <a:p>
            <a:pPr marL="457200" indent="-381000" algn="just">
              <a:buSzPts val="2400"/>
              <a:buFont typeface="Wingdings" panose="05000000000000000000" pitchFamily="2" charset="2"/>
              <a:buChar char="q"/>
            </a:pPr>
            <a:r>
              <a:rPr lang="es-MX" sz="2400" dirty="0">
                <a:latin typeface="Arial" panose="020B0604020202020204" pitchFamily="34" charset="0"/>
              </a:rPr>
              <a:t>Definiciones básicas y conceptos fundamentales. Grafos acíclicos. Grafos conexos y dígrafos </a:t>
            </a: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❏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fuertemente conexos.</a:t>
            </a:r>
          </a:p>
        </p:txBody>
      </p:sp>
    </p:spTree>
    <p:extLst>
      <p:ext uri="{BB962C8B-B14F-4D97-AF65-F5344CB8AC3E}">
        <p14:creationId xmlns:p14="http://schemas.microsoft.com/office/powerpoint/2010/main" val="172103262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1604</Words>
  <Application>Microsoft Office PowerPoint</Application>
  <PresentationFormat>Presentación en pantalla (4:3)</PresentationFormat>
  <Paragraphs>261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Courier New</vt:lpstr>
      <vt:lpstr>Calibri</vt:lpstr>
      <vt:lpstr>Open Sans</vt:lpstr>
      <vt:lpstr>Wingdings</vt:lpstr>
      <vt:lpstr>1_Tema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WENDY</dc:creator>
  <cp:lastModifiedBy>Rommy K. Torres Molina</cp:lastModifiedBy>
  <cp:revision>341</cp:revision>
  <dcterms:modified xsi:type="dcterms:W3CDTF">2024-10-30T19:02:05Z</dcterms:modified>
</cp:coreProperties>
</file>