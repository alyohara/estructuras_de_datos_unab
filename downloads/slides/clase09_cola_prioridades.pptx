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 id="2147483671" r:id="rId2"/>
  </p:sldMasterIdLst>
  <p:notesMasterIdLst>
    <p:notesMasterId r:id="rId25"/>
  </p:notesMasterIdLst>
  <p:sldIdLst>
    <p:sldId id="256" r:id="rId3"/>
    <p:sldId id="257" r:id="rId4"/>
    <p:sldId id="261" r:id="rId5"/>
    <p:sldId id="318" r:id="rId6"/>
    <p:sldId id="319" r:id="rId7"/>
    <p:sldId id="320" r:id="rId8"/>
    <p:sldId id="321" r:id="rId9"/>
    <p:sldId id="322" r:id="rId10"/>
    <p:sldId id="323" r:id="rId11"/>
    <p:sldId id="324" r:id="rId12"/>
    <p:sldId id="325" r:id="rId13"/>
    <p:sldId id="326" r:id="rId14"/>
    <p:sldId id="327" r:id="rId15"/>
    <p:sldId id="328" r:id="rId16"/>
    <p:sldId id="329" r:id="rId17"/>
    <p:sldId id="331" r:id="rId18"/>
    <p:sldId id="330" r:id="rId19"/>
    <p:sldId id="333" r:id="rId20"/>
    <p:sldId id="334" r:id="rId21"/>
    <p:sldId id="332" r:id="rId22"/>
    <p:sldId id="335" r:id="rId23"/>
    <p:sldId id="336" r:id="rId24"/>
  </p:sldIdLst>
  <p:sldSz cx="9144000" cy="6858000" type="screen4x3"/>
  <p:notesSz cx="6858000" cy="9144000"/>
  <p:embeddedFontLst>
    <p:embeddedFont>
      <p:font typeface="Open Sans" panose="020B0606030504020204" pitchFamily="34"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C5E5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5636" autoAdjust="0"/>
  </p:normalViewPr>
  <p:slideViewPr>
    <p:cSldViewPr snapToGrid="0">
      <p:cViewPr>
        <p:scale>
          <a:sx n="70" d="100"/>
          <a:sy n="70" d="100"/>
        </p:scale>
        <p:origin x="1386" y="-43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1.fntdata"/><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font" Target="fonts/font3.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font" Target="fonts/font2.fntdata"/><Relationship Id="rId30" Type="http://schemas.openxmlformats.org/officeDocument/2006/relationships/presProps" Target="presProps.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s-AR"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61" name="Google Shape;161;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 name="Google Shape;167;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02" name="Google Shape;202;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02" name="Google Shape;202;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939593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02" name="Google Shape;202;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56526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02" name="Google Shape;202;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990550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02" name="Google Shape;202;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039975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02" name="Google Shape;202;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30705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02" name="Google Shape;202;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196141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02" name="Google Shape;202;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45711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02" name="Google Shape;202;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584338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02" name="Google Shape;202;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860079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02" name="Google Shape;202;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76284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02" name="Google Shape;202;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148225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02" name="Google Shape;202;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437914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02" name="Google Shape;202;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853882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02" name="Google Shape;202;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327060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02" name="Google Shape;202;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00995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02" name="Google Shape;202;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9097874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02" name="Google Shape;202;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3226868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a:extLst>
            <a:ext uri="{FF2B5EF4-FFF2-40B4-BE49-F238E27FC236}">
              <a16:creationId xmlns:a16="http://schemas.microsoft.com/office/drawing/2014/main" id="{A49442EB-C496-D5C2-0E36-FCE821DA24C3}"/>
            </a:ext>
          </a:extLst>
        </p:cNvPr>
        <p:cNvGrpSpPr/>
        <p:nvPr/>
      </p:nvGrpSpPr>
      <p:grpSpPr>
        <a:xfrm>
          <a:off x="0" y="0"/>
          <a:ext cx="0" cy="0"/>
          <a:chOff x="0" y="0"/>
          <a:chExt cx="0" cy="0"/>
        </a:xfrm>
      </p:grpSpPr>
      <p:sp>
        <p:nvSpPr>
          <p:cNvPr id="201" name="Google Shape;201;p3:notes">
            <a:extLst>
              <a:ext uri="{FF2B5EF4-FFF2-40B4-BE49-F238E27FC236}">
                <a16:creationId xmlns:a16="http://schemas.microsoft.com/office/drawing/2014/main" id="{C690C712-2A2C-1E4C-120F-224277B8DF18}"/>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02" name="Google Shape;202;p3:notes">
            <a:extLst>
              <a:ext uri="{FF2B5EF4-FFF2-40B4-BE49-F238E27FC236}">
                <a16:creationId xmlns:a16="http://schemas.microsoft.com/office/drawing/2014/main" id="{5B45CA4B-C8B6-7AAE-EA6A-37F216D42894}"/>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653750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a:extLst>
            <a:ext uri="{FF2B5EF4-FFF2-40B4-BE49-F238E27FC236}">
              <a16:creationId xmlns:a16="http://schemas.microsoft.com/office/drawing/2014/main" id="{AA27EB97-80F7-8B8A-F51F-50EEB5A174E4}"/>
            </a:ext>
          </a:extLst>
        </p:cNvPr>
        <p:cNvGrpSpPr/>
        <p:nvPr/>
      </p:nvGrpSpPr>
      <p:grpSpPr>
        <a:xfrm>
          <a:off x="0" y="0"/>
          <a:ext cx="0" cy="0"/>
          <a:chOff x="0" y="0"/>
          <a:chExt cx="0" cy="0"/>
        </a:xfrm>
      </p:grpSpPr>
      <p:sp>
        <p:nvSpPr>
          <p:cNvPr id="201" name="Google Shape;201;p3:notes">
            <a:extLst>
              <a:ext uri="{FF2B5EF4-FFF2-40B4-BE49-F238E27FC236}">
                <a16:creationId xmlns:a16="http://schemas.microsoft.com/office/drawing/2014/main" id="{8C2851A4-FC67-72DF-3F4C-CB6F2DF7134C}"/>
              </a:ext>
            </a:extLst>
          </p:cNvPr>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02" name="Google Shape;202;p3:notes">
            <a:extLst>
              <a:ext uri="{FF2B5EF4-FFF2-40B4-BE49-F238E27FC236}">
                <a16:creationId xmlns:a16="http://schemas.microsoft.com/office/drawing/2014/main" id="{08554568-9A00-F8CB-5D40-14E6272AB4C0}"/>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91803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685800" y="1122363"/>
            <a:ext cx="77724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1143000" y="3602038"/>
            <a:ext cx="6858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
          <p:cNvSpPr txBox="1">
            <a:spLocks noGrp="1"/>
          </p:cNvSpPr>
          <p:nvPr>
            <p:ph type="dt" idx="10"/>
          </p:nvPr>
        </p:nvSpPr>
        <p:spPr>
          <a:xfrm>
            <a:off x="628650" y="6356353"/>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3028951" y="6356353"/>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6457950" y="6356353"/>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628651" y="365128"/>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
          <p:cNvSpPr txBox="1">
            <a:spLocks noGrp="1"/>
          </p:cNvSpPr>
          <p:nvPr>
            <p:ph type="body" idx="1"/>
          </p:nvPr>
        </p:nvSpPr>
        <p:spPr>
          <a:xfrm>
            <a:off x="628651" y="1825625"/>
            <a:ext cx="78867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3"/>
          <p:cNvSpPr txBox="1">
            <a:spLocks noGrp="1"/>
          </p:cNvSpPr>
          <p:nvPr>
            <p:ph type="dt" idx="10"/>
          </p:nvPr>
        </p:nvSpPr>
        <p:spPr>
          <a:xfrm>
            <a:off x="628650" y="6356353"/>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
          <p:cNvSpPr txBox="1">
            <a:spLocks noGrp="1"/>
          </p:cNvSpPr>
          <p:nvPr>
            <p:ph type="ftr" idx="11"/>
          </p:nvPr>
        </p:nvSpPr>
        <p:spPr>
          <a:xfrm>
            <a:off x="3028951" y="6356353"/>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
          <p:cNvSpPr txBox="1">
            <a:spLocks noGrp="1"/>
          </p:cNvSpPr>
          <p:nvPr>
            <p:ph type="sldNum" idx="12"/>
          </p:nvPr>
        </p:nvSpPr>
        <p:spPr>
          <a:xfrm>
            <a:off x="6457950" y="6356353"/>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623889" y="1709741"/>
            <a:ext cx="78867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4"/>
          <p:cNvSpPr txBox="1">
            <a:spLocks noGrp="1"/>
          </p:cNvSpPr>
          <p:nvPr>
            <p:ph type="body" idx="1"/>
          </p:nvPr>
        </p:nvSpPr>
        <p:spPr>
          <a:xfrm>
            <a:off x="623889" y="4589466"/>
            <a:ext cx="78867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400"/>
              <a:buNone/>
              <a:defRPr sz="2400">
                <a:solidFill>
                  <a:schemeClr val="dk1"/>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4"/>
          <p:cNvSpPr txBox="1">
            <a:spLocks noGrp="1"/>
          </p:cNvSpPr>
          <p:nvPr>
            <p:ph type="dt" idx="10"/>
          </p:nvPr>
        </p:nvSpPr>
        <p:spPr>
          <a:xfrm>
            <a:off x="628650" y="6356353"/>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4"/>
          <p:cNvSpPr txBox="1">
            <a:spLocks noGrp="1"/>
          </p:cNvSpPr>
          <p:nvPr>
            <p:ph type="ftr" idx="11"/>
          </p:nvPr>
        </p:nvSpPr>
        <p:spPr>
          <a:xfrm>
            <a:off x="3028951" y="6356353"/>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4"/>
          <p:cNvSpPr txBox="1">
            <a:spLocks noGrp="1"/>
          </p:cNvSpPr>
          <p:nvPr>
            <p:ph type="sldNum" idx="12"/>
          </p:nvPr>
        </p:nvSpPr>
        <p:spPr>
          <a:xfrm>
            <a:off x="6457950" y="6356353"/>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628651" y="365128"/>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5"/>
          <p:cNvSpPr txBox="1">
            <a:spLocks noGrp="1"/>
          </p:cNvSpPr>
          <p:nvPr>
            <p:ph type="body" idx="1"/>
          </p:nvPr>
        </p:nvSpPr>
        <p:spPr>
          <a:xfrm>
            <a:off x="6286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5"/>
          <p:cNvSpPr txBox="1">
            <a:spLocks noGrp="1"/>
          </p:cNvSpPr>
          <p:nvPr>
            <p:ph type="body" idx="2"/>
          </p:nvPr>
        </p:nvSpPr>
        <p:spPr>
          <a:xfrm>
            <a:off x="46291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5"/>
          <p:cNvSpPr txBox="1">
            <a:spLocks noGrp="1"/>
          </p:cNvSpPr>
          <p:nvPr>
            <p:ph type="dt" idx="10"/>
          </p:nvPr>
        </p:nvSpPr>
        <p:spPr>
          <a:xfrm>
            <a:off x="628650" y="6356353"/>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5"/>
          <p:cNvSpPr txBox="1">
            <a:spLocks noGrp="1"/>
          </p:cNvSpPr>
          <p:nvPr>
            <p:ph type="ftr" idx="11"/>
          </p:nvPr>
        </p:nvSpPr>
        <p:spPr>
          <a:xfrm>
            <a:off x="3028951" y="6356353"/>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5"/>
          <p:cNvSpPr txBox="1">
            <a:spLocks noGrp="1"/>
          </p:cNvSpPr>
          <p:nvPr>
            <p:ph type="sldNum" idx="12"/>
          </p:nvPr>
        </p:nvSpPr>
        <p:spPr>
          <a:xfrm>
            <a:off x="6457950" y="6356353"/>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629842" y="365128"/>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6"/>
          <p:cNvSpPr txBox="1">
            <a:spLocks noGrp="1"/>
          </p:cNvSpPr>
          <p:nvPr>
            <p:ph type="body" idx="1"/>
          </p:nvPr>
        </p:nvSpPr>
        <p:spPr>
          <a:xfrm>
            <a:off x="629842" y="1681163"/>
            <a:ext cx="386834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6"/>
          <p:cNvSpPr txBox="1">
            <a:spLocks noGrp="1"/>
          </p:cNvSpPr>
          <p:nvPr>
            <p:ph type="body" idx="2"/>
          </p:nvPr>
        </p:nvSpPr>
        <p:spPr>
          <a:xfrm>
            <a:off x="629842" y="2505075"/>
            <a:ext cx="3868340"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6"/>
          <p:cNvSpPr txBox="1">
            <a:spLocks noGrp="1"/>
          </p:cNvSpPr>
          <p:nvPr>
            <p:ph type="body" idx="3"/>
          </p:nvPr>
        </p:nvSpPr>
        <p:spPr>
          <a:xfrm>
            <a:off x="4629150" y="1681163"/>
            <a:ext cx="38873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6"/>
          <p:cNvSpPr txBox="1">
            <a:spLocks noGrp="1"/>
          </p:cNvSpPr>
          <p:nvPr>
            <p:ph type="body" idx="4"/>
          </p:nvPr>
        </p:nvSpPr>
        <p:spPr>
          <a:xfrm>
            <a:off x="4629150" y="2505075"/>
            <a:ext cx="3887391"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6"/>
          <p:cNvSpPr txBox="1">
            <a:spLocks noGrp="1"/>
          </p:cNvSpPr>
          <p:nvPr>
            <p:ph type="dt" idx="10"/>
          </p:nvPr>
        </p:nvSpPr>
        <p:spPr>
          <a:xfrm>
            <a:off x="628650" y="6356353"/>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6"/>
          <p:cNvSpPr txBox="1">
            <a:spLocks noGrp="1"/>
          </p:cNvSpPr>
          <p:nvPr>
            <p:ph type="ftr" idx="11"/>
          </p:nvPr>
        </p:nvSpPr>
        <p:spPr>
          <a:xfrm>
            <a:off x="3028951" y="6356353"/>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6"/>
          <p:cNvSpPr txBox="1">
            <a:spLocks noGrp="1"/>
          </p:cNvSpPr>
          <p:nvPr>
            <p:ph type="sldNum" idx="12"/>
          </p:nvPr>
        </p:nvSpPr>
        <p:spPr>
          <a:xfrm>
            <a:off x="6457950" y="6356353"/>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628651" y="365128"/>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7"/>
          <p:cNvSpPr txBox="1">
            <a:spLocks noGrp="1"/>
          </p:cNvSpPr>
          <p:nvPr>
            <p:ph type="dt" idx="10"/>
          </p:nvPr>
        </p:nvSpPr>
        <p:spPr>
          <a:xfrm>
            <a:off x="628650" y="6356353"/>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
          <p:cNvSpPr txBox="1">
            <a:spLocks noGrp="1"/>
          </p:cNvSpPr>
          <p:nvPr>
            <p:ph type="ftr" idx="11"/>
          </p:nvPr>
        </p:nvSpPr>
        <p:spPr>
          <a:xfrm>
            <a:off x="3028951" y="6356353"/>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7"/>
          <p:cNvSpPr txBox="1">
            <a:spLocks noGrp="1"/>
          </p:cNvSpPr>
          <p:nvPr>
            <p:ph type="sldNum" idx="12"/>
          </p:nvPr>
        </p:nvSpPr>
        <p:spPr>
          <a:xfrm>
            <a:off x="6457950" y="6356353"/>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628650" y="6356353"/>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3028951" y="6356353"/>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6457950" y="6356353"/>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629842"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3887391" y="987428"/>
            <a:ext cx="462915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629842"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9"/>
          <p:cNvSpPr txBox="1">
            <a:spLocks noGrp="1"/>
          </p:cNvSpPr>
          <p:nvPr>
            <p:ph type="dt" idx="10"/>
          </p:nvPr>
        </p:nvSpPr>
        <p:spPr>
          <a:xfrm>
            <a:off x="628650" y="6356353"/>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3028951" y="6356353"/>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6457950" y="6356353"/>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629842"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3887391" y="987428"/>
            <a:ext cx="4629150" cy="4873625"/>
          </a:xfrm>
          <a:prstGeom prst="rect">
            <a:avLst/>
          </a:prstGeom>
          <a:noFill/>
          <a:ln>
            <a:noFill/>
          </a:ln>
        </p:spPr>
      </p:sp>
      <p:sp>
        <p:nvSpPr>
          <p:cNvPr id="68" name="Google Shape;68;p10"/>
          <p:cNvSpPr txBox="1">
            <a:spLocks noGrp="1"/>
          </p:cNvSpPr>
          <p:nvPr>
            <p:ph type="body" idx="1"/>
          </p:nvPr>
        </p:nvSpPr>
        <p:spPr>
          <a:xfrm>
            <a:off x="629842"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0"/>
          <p:cNvSpPr txBox="1">
            <a:spLocks noGrp="1"/>
          </p:cNvSpPr>
          <p:nvPr>
            <p:ph type="dt" idx="10"/>
          </p:nvPr>
        </p:nvSpPr>
        <p:spPr>
          <a:xfrm>
            <a:off x="628650" y="6356353"/>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3028951" y="6356353"/>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6457950" y="6356353"/>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628651" y="365128"/>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2396332" y="57944"/>
            <a:ext cx="4351338" cy="78867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628650" y="6356353"/>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3028951" y="6356353"/>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6457950" y="6356353"/>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4623595" y="2285207"/>
            <a:ext cx="5811838"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623095" y="370681"/>
            <a:ext cx="5811838" cy="58007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628650" y="6356353"/>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3028951" y="6356353"/>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6457950" y="6356353"/>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solidFill>
                  <a:srgbClr val="888888"/>
                </a:solidFill>
              </a:defRPr>
            </a:lvl1pPr>
            <a:lvl2pPr marL="0" lvl="1" indent="0" algn="r">
              <a:spcBef>
                <a:spcPts val="0"/>
              </a:spcBef>
              <a:buNone/>
              <a:defRPr>
                <a:solidFill>
                  <a:srgbClr val="888888"/>
                </a:solidFill>
              </a:defRPr>
            </a:lvl2pPr>
            <a:lvl3pPr marL="0" lvl="2" indent="0" algn="r">
              <a:spcBef>
                <a:spcPts val="0"/>
              </a:spcBef>
              <a:buNone/>
              <a:defRPr>
                <a:solidFill>
                  <a:srgbClr val="888888"/>
                </a:solidFill>
              </a:defRPr>
            </a:lvl3pPr>
            <a:lvl4pPr marL="0" lvl="3" indent="0" algn="r">
              <a:spcBef>
                <a:spcPts val="0"/>
              </a:spcBef>
              <a:buNone/>
              <a:defRPr>
                <a:solidFill>
                  <a:srgbClr val="888888"/>
                </a:solidFill>
              </a:defRPr>
            </a:lvl4pPr>
            <a:lvl5pPr marL="0" lvl="4" indent="0" algn="r">
              <a:spcBef>
                <a:spcPts val="0"/>
              </a:spcBef>
              <a:buNone/>
              <a:defRPr>
                <a:solidFill>
                  <a:srgbClr val="888888"/>
                </a:solidFill>
              </a:defRPr>
            </a:lvl5pPr>
            <a:lvl6pPr marL="0" lvl="5" indent="0" algn="r">
              <a:spcBef>
                <a:spcPts val="0"/>
              </a:spcBef>
              <a:buNone/>
              <a:defRPr>
                <a:solidFill>
                  <a:srgbClr val="888888"/>
                </a:solidFill>
              </a:defRPr>
            </a:lvl6pPr>
            <a:lvl7pPr marL="0" lvl="6" indent="0" algn="r">
              <a:spcBef>
                <a:spcPts val="0"/>
              </a:spcBef>
              <a:buNone/>
              <a:defRPr>
                <a:solidFill>
                  <a:srgbClr val="888888"/>
                </a:solidFill>
              </a:defRPr>
            </a:lvl7pPr>
            <a:lvl8pPr marL="0" lvl="7" indent="0" algn="r">
              <a:spcBef>
                <a:spcPts val="0"/>
              </a:spcBef>
              <a:buNone/>
              <a:defRPr>
                <a:solidFill>
                  <a:srgbClr val="888888"/>
                </a:solidFill>
              </a:defRPr>
            </a:lvl8pPr>
            <a:lvl9pPr marL="0"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90"/>
        <p:cNvGrpSpPr/>
        <p:nvPr/>
      </p:nvGrpSpPr>
      <p:grpSpPr>
        <a:xfrm>
          <a:off x="0" y="0"/>
          <a:ext cx="0" cy="0"/>
          <a:chOff x="0" y="0"/>
          <a:chExt cx="0" cy="0"/>
        </a:xfrm>
      </p:grpSpPr>
      <p:sp>
        <p:nvSpPr>
          <p:cNvPr id="91" name="Google Shape;91;p14"/>
          <p:cNvSpPr txBox="1">
            <a:spLocks noGrp="1"/>
          </p:cNvSpPr>
          <p:nvPr>
            <p:ph type="ctrTitle"/>
          </p:nvPr>
        </p:nvSpPr>
        <p:spPr>
          <a:xfrm>
            <a:off x="685800" y="2130427"/>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2" name="Google Shape;92;p14"/>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93" name="Google Shape;93;p14"/>
          <p:cNvSpPr txBox="1">
            <a:spLocks noGrp="1"/>
          </p:cNvSpPr>
          <p:nvPr>
            <p:ph type="dt" idx="10"/>
          </p:nvPr>
        </p:nvSpPr>
        <p:spPr>
          <a:xfrm>
            <a:off x="457200" y="6356352"/>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14"/>
          <p:cNvSpPr txBox="1">
            <a:spLocks noGrp="1"/>
          </p:cNvSpPr>
          <p:nvPr>
            <p:ph type="ftr" idx="11"/>
          </p:nvPr>
        </p:nvSpPr>
        <p:spPr>
          <a:xfrm>
            <a:off x="3124200" y="6356352"/>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14"/>
          <p:cNvSpPr txBox="1">
            <a:spLocks noGrp="1"/>
          </p:cNvSpPr>
          <p:nvPr>
            <p:ph type="sldNum" idx="12"/>
          </p:nvPr>
        </p:nvSpPr>
        <p:spPr>
          <a:xfrm>
            <a:off x="6553200" y="6356352"/>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96"/>
        <p:cNvGrpSpPr/>
        <p:nvPr/>
      </p:nvGrpSpPr>
      <p:grpSpPr>
        <a:xfrm>
          <a:off x="0" y="0"/>
          <a:ext cx="0" cy="0"/>
          <a:chOff x="0" y="0"/>
          <a:chExt cx="0" cy="0"/>
        </a:xfrm>
      </p:grpSpPr>
      <p:sp>
        <p:nvSpPr>
          <p:cNvPr id="97" name="Google Shape;97;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8" name="Google Shape;98;p15"/>
          <p:cNvSpPr txBox="1">
            <a:spLocks noGrp="1"/>
          </p:cNvSpPr>
          <p:nvPr>
            <p:ph type="body" idx="1"/>
          </p:nvPr>
        </p:nvSpPr>
        <p:spPr>
          <a:xfrm>
            <a:off x="457200" y="1600202"/>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99" name="Google Shape;99;p15"/>
          <p:cNvSpPr txBox="1">
            <a:spLocks noGrp="1"/>
          </p:cNvSpPr>
          <p:nvPr>
            <p:ph type="dt" idx="10"/>
          </p:nvPr>
        </p:nvSpPr>
        <p:spPr>
          <a:xfrm>
            <a:off x="457200" y="6356352"/>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15"/>
          <p:cNvSpPr txBox="1">
            <a:spLocks noGrp="1"/>
          </p:cNvSpPr>
          <p:nvPr>
            <p:ph type="ftr" idx="11"/>
          </p:nvPr>
        </p:nvSpPr>
        <p:spPr>
          <a:xfrm>
            <a:off x="3124200" y="6356352"/>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1" name="Google Shape;101;p15"/>
          <p:cNvSpPr txBox="1">
            <a:spLocks noGrp="1"/>
          </p:cNvSpPr>
          <p:nvPr>
            <p:ph type="sldNum" idx="12"/>
          </p:nvPr>
        </p:nvSpPr>
        <p:spPr>
          <a:xfrm>
            <a:off x="6553200" y="6356352"/>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102"/>
        <p:cNvGrpSpPr/>
        <p:nvPr/>
      </p:nvGrpSpPr>
      <p:grpSpPr>
        <a:xfrm>
          <a:off x="0" y="0"/>
          <a:ext cx="0" cy="0"/>
          <a:chOff x="0" y="0"/>
          <a:chExt cx="0" cy="0"/>
        </a:xfrm>
      </p:grpSpPr>
      <p:sp>
        <p:nvSpPr>
          <p:cNvPr id="103" name="Google Shape;103;p16"/>
          <p:cNvSpPr txBox="1">
            <a:spLocks noGrp="1"/>
          </p:cNvSpPr>
          <p:nvPr>
            <p:ph type="title"/>
          </p:nvPr>
        </p:nvSpPr>
        <p:spPr>
          <a:xfrm>
            <a:off x="722313" y="4406902"/>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4" name="Google Shape;104;p16"/>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105" name="Google Shape;105;p16"/>
          <p:cNvSpPr txBox="1">
            <a:spLocks noGrp="1"/>
          </p:cNvSpPr>
          <p:nvPr>
            <p:ph type="dt" idx="10"/>
          </p:nvPr>
        </p:nvSpPr>
        <p:spPr>
          <a:xfrm>
            <a:off x="457200" y="6356352"/>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6" name="Google Shape;106;p16"/>
          <p:cNvSpPr txBox="1">
            <a:spLocks noGrp="1"/>
          </p:cNvSpPr>
          <p:nvPr>
            <p:ph type="ftr" idx="11"/>
          </p:nvPr>
        </p:nvSpPr>
        <p:spPr>
          <a:xfrm>
            <a:off x="3124200" y="6356352"/>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16"/>
          <p:cNvSpPr txBox="1">
            <a:spLocks noGrp="1"/>
          </p:cNvSpPr>
          <p:nvPr>
            <p:ph type="sldNum" idx="12"/>
          </p:nvPr>
        </p:nvSpPr>
        <p:spPr>
          <a:xfrm>
            <a:off x="6553200" y="6356352"/>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108"/>
        <p:cNvGrpSpPr/>
        <p:nvPr/>
      </p:nvGrpSpPr>
      <p:grpSpPr>
        <a:xfrm>
          <a:off x="0" y="0"/>
          <a:ext cx="0" cy="0"/>
          <a:chOff x="0" y="0"/>
          <a:chExt cx="0" cy="0"/>
        </a:xfrm>
      </p:grpSpPr>
      <p:sp>
        <p:nvSpPr>
          <p:cNvPr id="109" name="Google Shape;109;p1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0" name="Google Shape;110;p17"/>
          <p:cNvSpPr txBox="1">
            <a:spLocks noGrp="1"/>
          </p:cNvSpPr>
          <p:nvPr>
            <p:ph type="body" idx="1"/>
          </p:nvPr>
        </p:nvSpPr>
        <p:spPr>
          <a:xfrm>
            <a:off x="457200" y="1600202"/>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11" name="Google Shape;111;p17"/>
          <p:cNvSpPr txBox="1">
            <a:spLocks noGrp="1"/>
          </p:cNvSpPr>
          <p:nvPr>
            <p:ph type="body" idx="2"/>
          </p:nvPr>
        </p:nvSpPr>
        <p:spPr>
          <a:xfrm>
            <a:off x="4648200" y="1600202"/>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12" name="Google Shape;112;p17"/>
          <p:cNvSpPr txBox="1">
            <a:spLocks noGrp="1"/>
          </p:cNvSpPr>
          <p:nvPr>
            <p:ph type="dt" idx="10"/>
          </p:nvPr>
        </p:nvSpPr>
        <p:spPr>
          <a:xfrm>
            <a:off x="457200" y="6356352"/>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p17"/>
          <p:cNvSpPr txBox="1">
            <a:spLocks noGrp="1"/>
          </p:cNvSpPr>
          <p:nvPr>
            <p:ph type="ftr" idx="11"/>
          </p:nvPr>
        </p:nvSpPr>
        <p:spPr>
          <a:xfrm>
            <a:off x="3124200" y="6356352"/>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4" name="Google Shape;114;p17"/>
          <p:cNvSpPr txBox="1">
            <a:spLocks noGrp="1"/>
          </p:cNvSpPr>
          <p:nvPr>
            <p:ph type="sldNum" idx="12"/>
          </p:nvPr>
        </p:nvSpPr>
        <p:spPr>
          <a:xfrm>
            <a:off x="6553200" y="6356352"/>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115"/>
        <p:cNvGrpSpPr/>
        <p:nvPr/>
      </p:nvGrpSpPr>
      <p:grpSpPr>
        <a:xfrm>
          <a:off x="0" y="0"/>
          <a:ext cx="0" cy="0"/>
          <a:chOff x="0" y="0"/>
          <a:chExt cx="0" cy="0"/>
        </a:xfrm>
      </p:grpSpPr>
      <p:sp>
        <p:nvSpPr>
          <p:cNvPr id="116" name="Google Shape;116;p1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7" name="Google Shape;117;p18"/>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118" name="Google Shape;118;p18"/>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119" name="Google Shape;119;p18"/>
          <p:cNvSpPr txBox="1">
            <a:spLocks noGrp="1"/>
          </p:cNvSpPr>
          <p:nvPr>
            <p:ph type="body" idx="3"/>
          </p:nvPr>
        </p:nvSpPr>
        <p:spPr>
          <a:xfrm>
            <a:off x="4645026"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120" name="Google Shape;120;p18"/>
          <p:cNvSpPr txBox="1">
            <a:spLocks noGrp="1"/>
          </p:cNvSpPr>
          <p:nvPr>
            <p:ph type="body" idx="4"/>
          </p:nvPr>
        </p:nvSpPr>
        <p:spPr>
          <a:xfrm>
            <a:off x="4645026"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121" name="Google Shape;121;p18"/>
          <p:cNvSpPr txBox="1">
            <a:spLocks noGrp="1"/>
          </p:cNvSpPr>
          <p:nvPr>
            <p:ph type="dt" idx="10"/>
          </p:nvPr>
        </p:nvSpPr>
        <p:spPr>
          <a:xfrm>
            <a:off x="457200" y="6356352"/>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2" name="Google Shape;122;p18"/>
          <p:cNvSpPr txBox="1">
            <a:spLocks noGrp="1"/>
          </p:cNvSpPr>
          <p:nvPr>
            <p:ph type="ftr" idx="11"/>
          </p:nvPr>
        </p:nvSpPr>
        <p:spPr>
          <a:xfrm>
            <a:off x="3124200" y="6356352"/>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3" name="Google Shape;123;p18"/>
          <p:cNvSpPr txBox="1">
            <a:spLocks noGrp="1"/>
          </p:cNvSpPr>
          <p:nvPr>
            <p:ph type="sldNum" idx="12"/>
          </p:nvPr>
        </p:nvSpPr>
        <p:spPr>
          <a:xfrm>
            <a:off x="6553200" y="6356352"/>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ólo el título" type="titleOnly">
  <p:cSld name="TITLE_ONLY">
    <p:spTree>
      <p:nvGrpSpPr>
        <p:cNvPr id="1" name="Shape 124"/>
        <p:cNvGrpSpPr/>
        <p:nvPr/>
      </p:nvGrpSpPr>
      <p:grpSpPr>
        <a:xfrm>
          <a:off x="0" y="0"/>
          <a:ext cx="0" cy="0"/>
          <a:chOff x="0" y="0"/>
          <a:chExt cx="0" cy="0"/>
        </a:xfrm>
      </p:grpSpPr>
      <p:sp>
        <p:nvSpPr>
          <p:cNvPr id="125" name="Google Shape;125;p1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6" name="Google Shape;126;p19"/>
          <p:cNvSpPr txBox="1">
            <a:spLocks noGrp="1"/>
          </p:cNvSpPr>
          <p:nvPr>
            <p:ph type="dt" idx="10"/>
          </p:nvPr>
        </p:nvSpPr>
        <p:spPr>
          <a:xfrm>
            <a:off x="457200" y="6356352"/>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7" name="Google Shape;127;p19"/>
          <p:cNvSpPr txBox="1">
            <a:spLocks noGrp="1"/>
          </p:cNvSpPr>
          <p:nvPr>
            <p:ph type="ftr" idx="11"/>
          </p:nvPr>
        </p:nvSpPr>
        <p:spPr>
          <a:xfrm>
            <a:off x="3124200" y="6356352"/>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8" name="Google Shape;128;p19"/>
          <p:cNvSpPr txBox="1">
            <a:spLocks noGrp="1"/>
          </p:cNvSpPr>
          <p:nvPr>
            <p:ph type="sldNum" idx="12"/>
          </p:nvPr>
        </p:nvSpPr>
        <p:spPr>
          <a:xfrm>
            <a:off x="6553200" y="6356352"/>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129"/>
        <p:cNvGrpSpPr/>
        <p:nvPr/>
      </p:nvGrpSpPr>
      <p:grpSpPr>
        <a:xfrm>
          <a:off x="0" y="0"/>
          <a:ext cx="0" cy="0"/>
          <a:chOff x="0" y="0"/>
          <a:chExt cx="0" cy="0"/>
        </a:xfrm>
      </p:grpSpPr>
      <p:sp>
        <p:nvSpPr>
          <p:cNvPr id="130" name="Google Shape;130;p20"/>
          <p:cNvSpPr txBox="1">
            <a:spLocks noGrp="1"/>
          </p:cNvSpPr>
          <p:nvPr>
            <p:ph type="dt" idx="10"/>
          </p:nvPr>
        </p:nvSpPr>
        <p:spPr>
          <a:xfrm>
            <a:off x="457200" y="6356352"/>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1" name="Google Shape;131;p20"/>
          <p:cNvSpPr txBox="1">
            <a:spLocks noGrp="1"/>
          </p:cNvSpPr>
          <p:nvPr>
            <p:ph type="ftr" idx="11"/>
          </p:nvPr>
        </p:nvSpPr>
        <p:spPr>
          <a:xfrm>
            <a:off x="3124200" y="6356352"/>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2" name="Google Shape;132;p20"/>
          <p:cNvSpPr txBox="1">
            <a:spLocks noGrp="1"/>
          </p:cNvSpPr>
          <p:nvPr>
            <p:ph type="sldNum" idx="12"/>
          </p:nvPr>
        </p:nvSpPr>
        <p:spPr>
          <a:xfrm>
            <a:off x="6553200" y="6356352"/>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133"/>
        <p:cNvGrpSpPr/>
        <p:nvPr/>
      </p:nvGrpSpPr>
      <p:grpSpPr>
        <a:xfrm>
          <a:off x="0" y="0"/>
          <a:ext cx="0" cy="0"/>
          <a:chOff x="0" y="0"/>
          <a:chExt cx="0" cy="0"/>
        </a:xfrm>
      </p:grpSpPr>
      <p:sp>
        <p:nvSpPr>
          <p:cNvPr id="134" name="Google Shape;134;p21"/>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5" name="Google Shape;135;p21"/>
          <p:cNvSpPr txBox="1">
            <a:spLocks noGrp="1"/>
          </p:cNvSpPr>
          <p:nvPr>
            <p:ph type="body" idx="1"/>
          </p:nvPr>
        </p:nvSpPr>
        <p:spPr>
          <a:xfrm>
            <a:off x="3575051" y="273052"/>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136" name="Google Shape;136;p21"/>
          <p:cNvSpPr txBox="1">
            <a:spLocks noGrp="1"/>
          </p:cNvSpPr>
          <p:nvPr>
            <p:ph type="body" idx="2"/>
          </p:nvPr>
        </p:nvSpPr>
        <p:spPr>
          <a:xfrm>
            <a:off x="457200" y="1435102"/>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137" name="Google Shape;137;p21"/>
          <p:cNvSpPr txBox="1">
            <a:spLocks noGrp="1"/>
          </p:cNvSpPr>
          <p:nvPr>
            <p:ph type="dt" idx="10"/>
          </p:nvPr>
        </p:nvSpPr>
        <p:spPr>
          <a:xfrm>
            <a:off x="457200" y="6356352"/>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8" name="Google Shape;138;p21"/>
          <p:cNvSpPr txBox="1">
            <a:spLocks noGrp="1"/>
          </p:cNvSpPr>
          <p:nvPr>
            <p:ph type="ftr" idx="11"/>
          </p:nvPr>
        </p:nvSpPr>
        <p:spPr>
          <a:xfrm>
            <a:off x="3124200" y="6356352"/>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9" name="Google Shape;139;p21"/>
          <p:cNvSpPr txBox="1">
            <a:spLocks noGrp="1"/>
          </p:cNvSpPr>
          <p:nvPr>
            <p:ph type="sldNum" idx="12"/>
          </p:nvPr>
        </p:nvSpPr>
        <p:spPr>
          <a:xfrm>
            <a:off x="6553200" y="6356352"/>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140"/>
        <p:cNvGrpSpPr/>
        <p:nvPr/>
      </p:nvGrpSpPr>
      <p:grpSpPr>
        <a:xfrm>
          <a:off x="0" y="0"/>
          <a:ext cx="0" cy="0"/>
          <a:chOff x="0" y="0"/>
          <a:chExt cx="0" cy="0"/>
        </a:xfrm>
      </p:grpSpPr>
      <p:sp>
        <p:nvSpPr>
          <p:cNvPr id="141" name="Google Shape;141;p22"/>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2" name="Google Shape;142;p22"/>
          <p:cNvSpPr>
            <a:spLocks noGrp="1"/>
          </p:cNvSpPr>
          <p:nvPr>
            <p:ph type="pic" idx="2"/>
          </p:nvPr>
        </p:nvSpPr>
        <p:spPr>
          <a:xfrm>
            <a:off x="1792288" y="612775"/>
            <a:ext cx="5486400" cy="4114800"/>
          </a:xfrm>
          <a:prstGeom prst="rect">
            <a:avLst/>
          </a:prstGeom>
          <a:noFill/>
          <a:ln>
            <a:noFill/>
          </a:ln>
        </p:spPr>
      </p:sp>
      <p:sp>
        <p:nvSpPr>
          <p:cNvPr id="143" name="Google Shape;143;p22"/>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144" name="Google Shape;144;p22"/>
          <p:cNvSpPr txBox="1">
            <a:spLocks noGrp="1"/>
          </p:cNvSpPr>
          <p:nvPr>
            <p:ph type="dt" idx="10"/>
          </p:nvPr>
        </p:nvSpPr>
        <p:spPr>
          <a:xfrm>
            <a:off x="457200" y="6356352"/>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5" name="Google Shape;145;p22"/>
          <p:cNvSpPr txBox="1">
            <a:spLocks noGrp="1"/>
          </p:cNvSpPr>
          <p:nvPr>
            <p:ph type="ftr" idx="11"/>
          </p:nvPr>
        </p:nvSpPr>
        <p:spPr>
          <a:xfrm>
            <a:off x="3124200" y="6356352"/>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6" name="Google Shape;146;p22"/>
          <p:cNvSpPr txBox="1">
            <a:spLocks noGrp="1"/>
          </p:cNvSpPr>
          <p:nvPr>
            <p:ph type="sldNum" idx="12"/>
          </p:nvPr>
        </p:nvSpPr>
        <p:spPr>
          <a:xfrm>
            <a:off x="6553200" y="6356352"/>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147"/>
        <p:cNvGrpSpPr/>
        <p:nvPr/>
      </p:nvGrpSpPr>
      <p:grpSpPr>
        <a:xfrm>
          <a:off x="0" y="0"/>
          <a:ext cx="0" cy="0"/>
          <a:chOff x="0" y="0"/>
          <a:chExt cx="0" cy="0"/>
        </a:xfrm>
      </p:grpSpPr>
      <p:sp>
        <p:nvSpPr>
          <p:cNvPr id="148" name="Google Shape;148;p2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9" name="Google Shape;149;p23"/>
          <p:cNvSpPr txBox="1">
            <a:spLocks noGrp="1"/>
          </p:cNvSpPr>
          <p:nvPr>
            <p:ph type="body" idx="1"/>
          </p:nvPr>
        </p:nvSpPr>
        <p:spPr>
          <a:xfrm rot="5400000">
            <a:off x="2309019" y="-251617"/>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50" name="Google Shape;150;p23"/>
          <p:cNvSpPr txBox="1">
            <a:spLocks noGrp="1"/>
          </p:cNvSpPr>
          <p:nvPr>
            <p:ph type="dt" idx="10"/>
          </p:nvPr>
        </p:nvSpPr>
        <p:spPr>
          <a:xfrm>
            <a:off x="457200" y="6356352"/>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1" name="Google Shape;151;p23"/>
          <p:cNvSpPr txBox="1">
            <a:spLocks noGrp="1"/>
          </p:cNvSpPr>
          <p:nvPr>
            <p:ph type="ftr" idx="11"/>
          </p:nvPr>
        </p:nvSpPr>
        <p:spPr>
          <a:xfrm>
            <a:off x="3124200" y="6356352"/>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2" name="Google Shape;152;p23"/>
          <p:cNvSpPr txBox="1">
            <a:spLocks noGrp="1"/>
          </p:cNvSpPr>
          <p:nvPr>
            <p:ph type="sldNum" idx="12"/>
          </p:nvPr>
        </p:nvSpPr>
        <p:spPr>
          <a:xfrm>
            <a:off x="6553200" y="6356352"/>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AR"/>
              <a:t>‹Nº›</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153"/>
        <p:cNvGrpSpPr/>
        <p:nvPr/>
      </p:nvGrpSpPr>
      <p:grpSpPr>
        <a:xfrm>
          <a:off x="0" y="0"/>
          <a:ext cx="0" cy="0"/>
          <a:chOff x="0" y="0"/>
          <a:chExt cx="0" cy="0"/>
        </a:xfrm>
      </p:grpSpPr>
      <p:sp>
        <p:nvSpPr>
          <p:cNvPr id="154" name="Google Shape;154;p24"/>
          <p:cNvSpPr txBox="1">
            <a:spLocks noGrp="1"/>
          </p:cNvSpPr>
          <p:nvPr>
            <p:ph type="title"/>
          </p:nvPr>
        </p:nvSpPr>
        <p:spPr>
          <a:xfrm rot="5400000">
            <a:off x="4732338" y="2171703"/>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5" name="Google Shape;155;p24"/>
          <p:cNvSpPr txBox="1">
            <a:spLocks noGrp="1"/>
          </p:cNvSpPr>
          <p:nvPr>
            <p:ph type="body" idx="1"/>
          </p:nvPr>
        </p:nvSpPr>
        <p:spPr>
          <a:xfrm rot="5400000">
            <a:off x="541338" y="190502"/>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56" name="Google Shape;156;p24"/>
          <p:cNvSpPr txBox="1">
            <a:spLocks noGrp="1"/>
          </p:cNvSpPr>
          <p:nvPr>
            <p:ph type="dt" idx="10"/>
          </p:nvPr>
        </p:nvSpPr>
        <p:spPr>
          <a:xfrm>
            <a:off x="457200" y="6356352"/>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7" name="Google Shape;157;p24"/>
          <p:cNvSpPr txBox="1">
            <a:spLocks noGrp="1"/>
          </p:cNvSpPr>
          <p:nvPr>
            <p:ph type="ftr" idx="11"/>
          </p:nvPr>
        </p:nvSpPr>
        <p:spPr>
          <a:xfrm>
            <a:off x="3124200" y="6356352"/>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8" name="Google Shape;158;p24"/>
          <p:cNvSpPr txBox="1">
            <a:spLocks noGrp="1"/>
          </p:cNvSpPr>
          <p:nvPr>
            <p:ph type="sldNum" idx="12"/>
          </p:nvPr>
        </p:nvSpPr>
        <p:spPr>
          <a:xfrm>
            <a:off x="6553200" y="6356352"/>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AR"/>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628651" y="365128"/>
            <a:ext cx="78867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628651" y="1825625"/>
            <a:ext cx="78867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628650" y="6356353"/>
            <a:ext cx="20574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3028951" y="6356353"/>
            <a:ext cx="30861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6457950" y="6356353"/>
            <a:ext cx="20574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AR"/>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4"/>
        <p:cNvGrpSpPr/>
        <p:nvPr/>
      </p:nvGrpSpPr>
      <p:grpSpPr>
        <a:xfrm>
          <a:off x="0" y="0"/>
          <a:ext cx="0" cy="0"/>
          <a:chOff x="0" y="0"/>
          <a:chExt cx="0" cy="0"/>
        </a:xfrm>
      </p:grpSpPr>
      <p:sp>
        <p:nvSpPr>
          <p:cNvPr id="85" name="Google Shape;85;p1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6" name="Google Shape;86;p13"/>
          <p:cNvSpPr txBox="1">
            <a:spLocks noGrp="1"/>
          </p:cNvSpPr>
          <p:nvPr>
            <p:ph type="body" idx="1"/>
          </p:nvPr>
        </p:nvSpPr>
        <p:spPr>
          <a:xfrm>
            <a:off x="457200" y="1600202"/>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7" name="Google Shape;87;p13"/>
          <p:cNvSpPr txBox="1">
            <a:spLocks noGrp="1"/>
          </p:cNvSpPr>
          <p:nvPr>
            <p:ph type="dt" idx="10"/>
          </p:nvPr>
        </p:nvSpPr>
        <p:spPr>
          <a:xfrm>
            <a:off x="457200" y="6356352"/>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8" name="Google Shape;88;p13"/>
          <p:cNvSpPr txBox="1">
            <a:spLocks noGrp="1"/>
          </p:cNvSpPr>
          <p:nvPr>
            <p:ph type="ftr" idx="11"/>
          </p:nvPr>
        </p:nvSpPr>
        <p:spPr>
          <a:xfrm>
            <a:off x="3124200" y="6356352"/>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9" name="Google Shape;89;p13"/>
          <p:cNvSpPr txBox="1">
            <a:spLocks noGrp="1"/>
          </p:cNvSpPr>
          <p:nvPr>
            <p:ph type="sldNum" idx="12"/>
          </p:nvPr>
        </p:nvSpPr>
        <p:spPr>
          <a:xfrm>
            <a:off x="6553200" y="6356352"/>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AR"/>
              <a:t>‹Nº›</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7.xml"/><Relationship Id="rId1" Type="http://schemas.openxmlformats.org/officeDocument/2006/relationships/slideLayout" Target="../slideLayouts/slideLayout12.xml"/><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9.xml"/><Relationship Id="rId1" Type="http://schemas.openxmlformats.org/officeDocument/2006/relationships/slideLayout" Target="../slideLayouts/slideLayout12.xml"/><Relationship Id="rId5"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3.jpg"/></Relationships>
</file>

<file path=ppt/slides/_rels/slide1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4.xml"/><Relationship Id="rId1" Type="http://schemas.openxmlformats.org/officeDocument/2006/relationships/slideLayout" Target="../slideLayouts/slideLayout12.xml"/><Relationship Id="rId5" Type="http://schemas.openxmlformats.org/officeDocument/2006/relationships/image" Target="../media/image13.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5.xml"/><Relationship Id="rId1" Type="http://schemas.openxmlformats.org/officeDocument/2006/relationships/slideLayout" Target="../slideLayouts/slideLayout12.xml"/><Relationship Id="rId5" Type="http://schemas.openxmlformats.org/officeDocument/2006/relationships/image" Target="../media/image15.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8.xml"/><Relationship Id="rId1" Type="http://schemas.openxmlformats.org/officeDocument/2006/relationships/slideLayout" Target="../slideLayouts/slideLayout12.xml"/><Relationship Id="rId5" Type="http://schemas.openxmlformats.org/officeDocument/2006/relationships/image" Target="../media/image21.png"/><Relationship Id="rId4" Type="http://schemas.openxmlformats.org/officeDocument/2006/relationships/image" Target="../media/image20.png"/></Relationships>
</file>

<file path=ppt/slides/_rels/slide1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9.xml"/><Relationship Id="rId1" Type="http://schemas.openxmlformats.org/officeDocument/2006/relationships/slideLayout" Target="../slideLayouts/slideLayout12.xml"/><Relationship Id="rId5" Type="http://schemas.openxmlformats.org/officeDocument/2006/relationships/image" Target="../media/image23.png"/><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0.xml"/><Relationship Id="rId1" Type="http://schemas.openxmlformats.org/officeDocument/2006/relationships/slideLayout" Target="../slideLayouts/slideLayout12.xml"/><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1.xml"/><Relationship Id="rId1" Type="http://schemas.openxmlformats.org/officeDocument/2006/relationships/slideLayout" Target="../slideLayouts/slideLayout12.xml"/><Relationship Id="rId4" Type="http://schemas.openxmlformats.org/officeDocument/2006/relationships/image" Target="../media/image25.png"/></Relationships>
</file>

<file path=ppt/slides/_rels/slide2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2.xml"/><Relationship Id="rId1" Type="http://schemas.openxmlformats.org/officeDocument/2006/relationships/slideLayout" Target="../slideLayouts/slideLayout12.xml"/><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62"/>
        <p:cNvGrpSpPr/>
        <p:nvPr/>
      </p:nvGrpSpPr>
      <p:grpSpPr>
        <a:xfrm>
          <a:off x="0" y="0"/>
          <a:ext cx="0" cy="0"/>
          <a:chOff x="0" y="0"/>
          <a:chExt cx="0" cy="0"/>
        </a:xfrm>
      </p:grpSpPr>
      <p:sp>
        <p:nvSpPr>
          <p:cNvPr id="163" name="Google Shape;163;p25"/>
          <p:cNvSpPr txBox="1"/>
          <p:nvPr/>
        </p:nvSpPr>
        <p:spPr>
          <a:xfrm>
            <a:off x="283050" y="2432000"/>
            <a:ext cx="8577900" cy="2571900"/>
          </a:xfrm>
          <a:prstGeom prst="rect">
            <a:avLst/>
          </a:prstGeom>
          <a:noFill/>
          <a:ln>
            <a:noFill/>
          </a:ln>
        </p:spPr>
        <p:txBody>
          <a:bodyPr spcFirstLastPara="1" wrap="square" lIns="90000" tIns="45000" rIns="90000" bIns="45000" anchor="t" anchorCtr="0">
            <a:noAutofit/>
          </a:bodyPr>
          <a:lstStyle/>
          <a:p>
            <a:pPr marL="0" marR="0" lvl="0" indent="0" algn="ctr" rtl="0">
              <a:spcBef>
                <a:spcPts val="0"/>
              </a:spcBef>
              <a:spcAft>
                <a:spcPts val="0"/>
              </a:spcAft>
              <a:buNone/>
            </a:pPr>
            <a:r>
              <a:rPr lang="es-AR" sz="4000" b="1" dirty="0">
                <a:solidFill>
                  <a:srgbClr val="FFFFFF"/>
                </a:solidFill>
              </a:rPr>
              <a:t>CLASE 9 - Unidad 5</a:t>
            </a:r>
            <a:endParaRPr sz="4000" b="1" dirty="0">
              <a:solidFill>
                <a:srgbClr val="FFFFFF"/>
              </a:solidFill>
            </a:endParaRPr>
          </a:p>
          <a:p>
            <a:pPr marL="0" marR="0" lvl="0" indent="0" algn="ctr" rtl="0">
              <a:spcBef>
                <a:spcPts val="0"/>
              </a:spcBef>
              <a:spcAft>
                <a:spcPts val="0"/>
              </a:spcAft>
              <a:buNone/>
            </a:pPr>
            <a:endParaRPr sz="4000" b="1" dirty="0">
              <a:solidFill>
                <a:srgbClr val="FFFFFF"/>
              </a:solidFill>
            </a:endParaRPr>
          </a:p>
          <a:p>
            <a:pPr marL="0" marR="0" lvl="0" indent="0" algn="ctr" rtl="0">
              <a:spcBef>
                <a:spcPts val="0"/>
              </a:spcBef>
              <a:spcAft>
                <a:spcPts val="0"/>
              </a:spcAft>
              <a:buNone/>
            </a:pPr>
            <a:endParaRPr b="1" dirty="0"/>
          </a:p>
          <a:p>
            <a:pPr lvl="0" algn="ctr"/>
            <a:r>
              <a:rPr lang="es-AR" sz="4000" b="1" dirty="0">
                <a:solidFill>
                  <a:srgbClr val="FFFFFF"/>
                </a:solidFill>
              </a:rPr>
              <a:t> Cola de Prioridades-HEAP</a:t>
            </a:r>
            <a:endParaRPr sz="4000" b="1" dirty="0">
              <a:solidFill>
                <a:srgbClr val="FFFFFF"/>
              </a:solidFill>
            </a:endParaRPr>
          </a:p>
        </p:txBody>
      </p:sp>
      <p:sp>
        <p:nvSpPr>
          <p:cNvPr id="164" name="Google Shape;164;p25"/>
          <p:cNvSpPr txBox="1"/>
          <p:nvPr/>
        </p:nvSpPr>
        <p:spPr>
          <a:xfrm>
            <a:off x="411458" y="5942975"/>
            <a:ext cx="8321100" cy="785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700"/>
              <a:buFont typeface="Arial"/>
              <a:buNone/>
            </a:pPr>
            <a:r>
              <a:rPr lang="es-AR" sz="2700" b="1" dirty="0">
                <a:solidFill>
                  <a:srgbClr val="FFFFFF"/>
                </a:solidFill>
                <a:latin typeface="Open Sans"/>
                <a:ea typeface="Open Sans"/>
                <a:cs typeface="Open Sans"/>
                <a:sym typeface="Open Sans"/>
              </a:rPr>
              <a:t>ESTRUCTURAS DE DATOS</a:t>
            </a:r>
            <a:r>
              <a:rPr lang="es-AR" sz="2700" b="1" i="0" u="none" strike="noStrike" cap="none" dirty="0">
                <a:solidFill>
                  <a:srgbClr val="FFFFFF"/>
                </a:solidFill>
                <a:latin typeface="Open Sans"/>
                <a:ea typeface="Open Sans"/>
                <a:cs typeface="Open Sans"/>
                <a:sym typeface="Open Sans"/>
              </a:rPr>
              <a:t> (</a:t>
            </a:r>
            <a:r>
              <a:rPr lang="es-AR" sz="2700" b="1" dirty="0">
                <a:solidFill>
                  <a:srgbClr val="FFFFFF"/>
                </a:solidFill>
                <a:latin typeface="Open Sans"/>
                <a:ea typeface="Open Sans"/>
                <a:cs typeface="Open Sans"/>
                <a:sym typeface="Open Sans"/>
              </a:rPr>
              <a:t>271</a:t>
            </a:r>
            <a:r>
              <a:rPr lang="es-AR" sz="2700" b="1" i="0" u="none" strike="noStrike" cap="none" dirty="0">
                <a:solidFill>
                  <a:srgbClr val="FFFFFF"/>
                </a:solidFill>
                <a:latin typeface="Open Sans"/>
                <a:ea typeface="Open Sans"/>
                <a:cs typeface="Open Sans"/>
                <a:sym typeface="Open Sans"/>
              </a:rPr>
              <a:t>)</a:t>
            </a:r>
            <a:endParaRPr sz="23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s-AR" sz="1800" b="1" i="0" u="none" strike="noStrike" cap="none" dirty="0">
                <a:solidFill>
                  <a:srgbClr val="FFFFFF"/>
                </a:solidFill>
                <a:latin typeface="Open Sans"/>
                <a:ea typeface="Open Sans"/>
                <a:cs typeface="Open Sans"/>
                <a:sym typeface="Open Sans"/>
              </a:rPr>
              <a:t>Clase N. 9. Unidad 5. </a:t>
            </a:r>
            <a:endParaRPr sz="1800" b="1" i="0" u="none" strike="noStrike" cap="none" dirty="0">
              <a:solidFill>
                <a:srgbClr val="FFFFFF"/>
              </a:solidFill>
              <a:latin typeface="Open Sans"/>
              <a:ea typeface="Open Sans"/>
              <a:cs typeface="Open Sans"/>
              <a:sym typeface="Open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pic>
        <p:nvPicPr>
          <p:cNvPr id="169" name="Google Shape;169;p26"/>
          <p:cNvPicPr preferRelativeResize="0"/>
          <p:nvPr/>
        </p:nvPicPr>
        <p:blipFill rotWithShape="1">
          <a:blip r:embed="rId3">
            <a:alphaModFix/>
          </a:blip>
          <a:srcRect/>
          <a:stretch/>
        </p:blipFill>
        <p:spPr>
          <a:xfrm>
            <a:off x="0" y="1580"/>
            <a:ext cx="9144000" cy="1171495"/>
          </a:xfrm>
          <a:prstGeom prst="rect">
            <a:avLst/>
          </a:prstGeom>
          <a:noFill/>
          <a:ln>
            <a:noFill/>
          </a:ln>
        </p:spPr>
      </p:pic>
      <p:sp>
        <p:nvSpPr>
          <p:cNvPr id="170" name="Google Shape;170;p26"/>
          <p:cNvSpPr txBox="1"/>
          <p:nvPr/>
        </p:nvSpPr>
        <p:spPr>
          <a:xfrm>
            <a:off x="1649400" y="346425"/>
            <a:ext cx="5292600" cy="4617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AR" sz="2400" b="1" dirty="0">
                <a:solidFill>
                  <a:schemeClr val="lt1"/>
                </a:solidFill>
              </a:rPr>
              <a:t>Clase 9: AGENDA</a:t>
            </a:r>
            <a:endParaRPr sz="1800" dirty="0">
              <a:solidFill>
                <a:schemeClr val="dk1"/>
              </a:solidFill>
              <a:latin typeface="Calibri"/>
              <a:ea typeface="Calibri"/>
              <a:cs typeface="Calibri"/>
              <a:sym typeface="Calibri"/>
            </a:endParaRPr>
          </a:p>
        </p:txBody>
      </p:sp>
      <p:sp>
        <p:nvSpPr>
          <p:cNvPr id="171" name="Google Shape;171;p26"/>
          <p:cNvSpPr txBox="1"/>
          <p:nvPr/>
        </p:nvSpPr>
        <p:spPr>
          <a:xfrm>
            <a:off x="-6" y="205025"/>
            <a:ext cx="1649400" cy="785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AR" sz="1500" b="1">
                <a:solidFill>
                  <a:schemeClr val="lt1"/>
                </a:solidFill>
              </a:rPr>
              <a:t>ESTRUCTURAS </a:t>
            </a:r>
            <a:endParaRPr sz="1500" b="1">
              <a:solidFill>
                <a:schemeClr val="lt1"/>
              </a:solidFill>
              <a:latin typeface="Arial"/>
              <a:ea typeface="Arial"/>
              <a:cs typeface="Arial"/>
              <a:sym typeface="Arial"/>
            </a:endParaRPr>
          </a:p>
          <a:p>
            <a:pPr marL="0" marR="0" lvl="0" indent="0" algn="l" rtl="0">
              <a:spcBef>
                <a:spcPts val="0"/>
              </a:spcBef>
              <a:spcAft>
                <a:spcPts val="0"/>
              </a:spcAft>
              <a:buNone/>
            </a:pPr>
            <a:r>
              <a:rPr lang="es-AR" sz="1500" b="1">
                <a:solidFill>
                  <a:schemeClr val="lt1"/>
                </a:solidFill>
              </a:rPr>
              <a:t>DE </a:t>
            </a:r>
            <a:endParaRPr sz="1500" b="1">
              <a:solidFill>
                <a:schemeClr val="lt1"/>
              </a:solidFill>
              <a:latin typeface="Arial"/>
              <a:ea typeface="Arial"/>
              <a:cs typeface="Arial"/>
              <a:sym typeface="Arial"/>
            </a:endParaRPr>
          </a:p>
          <a:p>
            <a:pPr marL="0" marR="0" lvl="0" indent="0" algn="l" rtl="0">
              <a:spcBef>
                <a:spcPts val="0"/>
              </a:spcBef>
              <a:spcAft>
                <a:spcPts val="0"/>
              </a:spcAft>
              <a:buNone/>
            </a:pPr>
            <a:r>
              <a:rPr lang="es-AR" sz="1500" b="1">
                <a:solidFill>
                  <a:schemeClr val="lt1"/>
                </a:solidFill>
              </a:rPr>
              <a:t>DATOS</a:t>
            </a:r>
            <a:endParaRPr sz="1300">
              <a:solidFill>
                <a:schemeClr val="dk1"/>
              </a:solidFill>
              <a:latin typeface="Calibri"/>
              <a:ea typeface="Calibri"/>
              <a:cs typeface="Calibri"/>
              <a:sym typeface="Calibri"/>
            </a:endParaRPr>
          </a:p>
        </p:txBody>
      </p:sp>
      <p:sp>
        <p:nvSpPr>
          <p:cNvPr id="172" name="Google Shape;172;p26"/>
          <p:cNvSpPr txBox="1"/>
          <p:nvPr/>
        </p:nvSpPr>
        <p:spPr>
          <a:xfrm>
            <a:off x="205000" y="1382475"/>
            <a:ext cx="8777400" cy="4662775"/>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Clr>
                <a:srgbClr val="000000"/>
              </a:buClr>
              <a:buSzPts val="2400"/>
              <a:buFont typeface="Arial"/>
              <a:buNone/>
            </a:pPr>
            <a:r>
              <a:rPr lang="es-AR" sz="2400" b="1" dirty="0">
                <a:solidFill>
                  <a:srgbClr val="204F85"/>
                </a:solidFill>
                <a:latin typeface="Open Sans"/>
                <a:ea typeface="Open Sans"/>
                <a:cs typeface="Open Sans"/>
                <a:sym typeface="Open Sans"/>
              </a:rPr>
              <a:t>AGENDA</a:t>
            </a:r>
            <a:endParaRPr sz="2400" b="1" i="0" u="none" strike="noStrike" cap="none" dirty="0">
              <a:solidFill>
                <a:srgbClr val="204F85"/>
              </a:solidFill>
              <a:latin typeface="Open Sans"/>
              <a:ea typeface="Open Sans"/>
              <a:cs typeface="Open Sans"/>
              <a:sym typeface="Open Sans"/>
            </a:endParaRPr>
          </a:p>
          <a:p>
            <a:pPr marL="457200" marR="0" lvl="0" indent="-342900" algn="just" rtl="0">
              <a:lnSpc>
                <a:spcPct val="150000"/>
              </a:lnSpc>
              <a:spcBef>
                <a:spcPts val="0"/>
              </a:spcBef>
              <a:spcAft>
                <a:spcPts val="0"/>
              </a:spcAft>
              <a:buClr>
                <a:srgbClr val="000000"/>
              </a:buClr>
              <a:buSzPts val="1800"/>
              <a:buChar char="●"/>
            </a:pPr>
            <a:r>
              <a:rPr lang="es-AR" sz="1800" b="1" dirty="0">
                <a:highlight>
                  <a:srgbClr val="FFFFFF"/>
                </a:highlight>
              </a:rPr>
              <a:t>Temario:</a:t>
            </a:r>
          </a:p>
          <a:p>
            <a:pPr marL="645750" lvl="2" indent="-285750">
              <a:lnSpc>
                <a:spcPct val="150000"/>
              </a:lnSpc>
              <a:buSzPts val="1800"/>
              <a:buFont typeface="Courier New" panose="02070309020205020404" pitchFamily="49" charset="0"/>
              <a:buChar char="o"/>
            </a:pPr>
            <a:r>
              <a:rPr lang="es-AR" sz="1800" dirty="0" err="1">
                <a:highlight>
                  <a:srgbClr val="FFFFFF"/>
                </a:highlight>
              </a:rPr>
              <a:t>Heap</a:t>
            </a:r>
            <a:r>
              <a:rPr lang="es-AR" sz="1800" dirty="0">
                <a:highlight>
                  <a:srgbClr val="FFFFFF"/>
                </a:highlight>
              </a:rPr>
              <a:t> binaria. Implementaciones y operaciones: Operaciones de inserción, borrado y construcción</a:t>
            </a:r>
          </a:p>
          <a:p>
            <a:pPr marL="645750" lvl="2" indent="-285750">
              <a:lnSpc>
                <a:spcPct val="150000"/>
              </a:lnSpc>
              <a:buSzPts val="1800"/>
              <a:buFont typeface="Courier New" panose="02070309020205020404" pitchFamily="49" charset="0"/>
              <a:buChar char="o"/>
            </a:pPr>
            <a:r>
              <a:rPr lang="es-AR" sz="1800" dirty="0">
                <a:highlight>
                  <a:srgbClr val="FFFFFF"/>
                </a:highlight>
              </a:rPr>
              <a:t>Aplicaciones: Selección y Ordenación (</a:t>
            </a:r>
            <a:r>
              <a:rPr lang="es-AR" sz="1800" dirty="0" err="1">
                <a:highlight>
                  <a:srgbClr val="FFFFFF"/>
                </a:highlight>
              </a:rPr>
              <a:t>Heapsort</a:t>
            </a:r>
            <a:r>
              <a:rPr lang="es-AR" sz="1800" dirty="0">
                <a:highlight>
                  <a:srgbClr val="FFFFFF"/>
                </a:highlight>
              </a:rPr>
              <a:t>).</a:t>
            </a:r>
          </a:p>
          <a:p>
            <a:pPr marL="645750" lvl="2" indent="-285750">
              <a:lnSpc>
                <a:spcPct val="150000"/>
              </a:lnSpc>
              <a:buSzPts val="1800"/>
              <a:buFont typeface="Courier New" panose="02070309020205020404" pitchFamily="49" charset="0"/>
              <a:buChar char="o"/>
            </a:pPr>
            <a:r>
              <a:rPr lang="es-AR" sz="1800" dirty="0">
                <a:highlight>
                  <a:srgbClr val="FFFFFF"/>
                </a:highlight>
              </a:rPr>
              <a:t>Análisis de la eficiencia de cada algoritmo.</a:t>
            </a:r>
          </a:p>
          <a:p>
            <a:pPr lvl="5" algn="just"/>
            <a:endParaRPr sz="1800" dirty="0">
              <a:highlight>
                <a:srgbClr val="FFFFFF"/>
              </a:highlight>
            </a:endParaRPr>
          </a:p>
          <a:p>
            <a:pPr marL="457200" marR="0" lvl="0" indent="-342900" algn="just" rtl="0">
              <a:lnSpc>
                <a:spcPct val="150000"/>
              </a:lnSpc>
              <a:spcBef>
                <a:spcPts val="0"/>
              </a:spcBef>
              <a:spcAft>
                <a:spcPts val="0"/>
              </a:spcAft>
              <a:buClr>
                <a:srgbClr val="000000"/>
              </a:buClr>
              <a:buSzPts val="1800"/>
              <a:buFont typeface="Arial"/>
              <a:buChar char="●"/>
            </a:pPr>
            <a:r>
              <a:rPr lang="es-AR" sz="1800" b="1" i="0" u="none" strike="noStrike" cap="none" dirty="0">
                <a:solidFill>
                  <a:srgbClr val="000000"/>
                </a:solidFill>
                <a:highlight>
                  <a:srgbClr val="FFFFFF"/>
                </a:highlight>
                <a:latin typeface="Arial"/>
                <a:ea typeface="Arial"/>
                <a:cs typeface="Arial"/>
                <a:sym typeface="Arial"/>
              </a:rPr>
              <a:t>Ejemplos</a:t>
            </a:r>
            <a:r>
              <a:rPr lang="es-AR" sz="1800" b="0" i="0" u="none" strike="noStrike" cap="none" dirty="0">
                <a:solidFill>
                  <a:srgbClr val="000000"/>
                </a:solidFill>
                <a:highlight>
                  <a:srgbClr val="FFFFFF"/>
                </a:highlight>
                <a:latin typeface="Arial"/>
                <a:ea typeface="Arial"/>
                <a:cs typeface="Arial"/>
                <a:sym typeface="Arial"/>
              </a:rPr>
              <a:t> en Lenguajes </a:t>
            </a:r>
            <a:r>
              <a:rPr lang="es-AR" sz="1800" b="1" i="0" u="none" strike="noStrike" cap="none" dirty="0">
                <a:solidFill>
                  <a:srgbClr val="000000"/>
                </a:solidFill>
                <a:highlight>
                  <a:srgbClr val="FFFFFF"/>
                </a:highlight>
                <a:latin typeface="Arial"/>
                <a:ea typeface="Arial"/>
                <a:cs typeface="Arial"/>
                <a:sym typeface="Arial"/>
              </a:rPr>
              <a:t>Python</a:t>
            </a:r>
            <a:endParaRPr sz="1800" b="1" i="0" u="none" strike="noStrike" cap="none" dirty="0">
              <a:solidFill>
                <a:srgbClr val="000000"/>
              </a:solidFill>
              <a:highlight>
                <a:srgbClr val="FFFFFF"/>
              </a:highlight>
              <a:latin typeface="Arial"/>
              <a:ea typeface="Arial"/>
              <a:cs typeface="Arial"/>
              <a:sym typeface="Arial"/>
            </a:endParaRPr>
          </a:p>
          <a:p>
            <a:pPr marL="457200" marR="0" lvl="0" indent="-342900" algn="just" rtl="0">
              <a:lnSpc>
                <a:spcPct val="150000"/>
              </a:lnSpc>
              <a:spcBef>
                <a:spcPts val="0"/>
              </a:spcBef>
              <a:spcAft>
                <a:spcPts val="0"/>
              </a:spcAft>
              <a:buClr>
                <a:srgbClr val="000000"/>
              </a:buClr>
              <a:buSzPts val="1800"/>
              <a:buFont typeface="Arial"/>
              <a:buChar char="●"/>
            </a:pPr>
            <a:r>
              <a:rPr lang="es-AR" sz="1800" b="1" i="0" u="none" strike="noStrike" cap="none" dirty="0">
                <a:solidFill>
                  <a:srgbClr val="000000"/>
                </a:solidFill>
                <a:highlight>
                  <a:srgbClr val="FFFFFF"/>
                </a:highlight>
                <a:latin typeface="Arial"/>
                <a:ea typeface="Arial"/>
                <a:cs typeface="Arial"/>
                <a:sym typeface="Arial"/>
              </a:rPr>
              <a:t>Temas relacionados y links de </a:t>
            </a:r>
            <a:r>
              <a:rPr lang="es-AR" sz="1800" b="1" dirty="0">
                <a:highlight>
                  <a:srgbClr val="FFFFFF"/>
                </a:highlight>
              </a:rPr>
              <a:t>interés</a:t>
            </a:r>
            <a:endParaRPr sz="1800" b="1" i="0" u="none" strike="noStrike" cap="none" dirty="0">
              <a:solidFill>
                <a:srgbClr val="000000"/>
              </a:solidFill>
              <a:highlight>
                <a:srgbClr val="FFFFFF"/>
              </a:highlight>
              <a:latin typeface="Arial"/>
              <a:ea typeface="Arial"/>
              <a:cs typeface="Arial"/>
              <a:sym typeface="Arial"/>
            </a:endParaRPr>
          </a:p>
          <a:p>
            <a:pPr marL="457200" marR="0" lvl="0" indent="-342900" algn="just" rtl="0">
              <a:lnSpc>
                <a:spcPct val="150000"/>
              </a:lnSpc>
              <a:spcBef>
                <a:spcPts val="0"/>
              </a:spcBef>
              <a:spcAft>
                <a:spcPts val="0"/>
              </a:spcAft>
              <a:buClr>
                <a:srgbClr val="000000"/>
              </a:buClr>
              <a:buSzPts val="1800"/>
              <a:buFont typeface="Arial"/>
              <a:buChar char="●"/>
            </a:pPr>
            <a:r>
              <a:rPr lang="es-AR" sz="1800" b="1" dirty="0">
                <a:highlight>
                  <a:srgbClr val="FFFFFF"/>
                </a:highlight>
              </a:rPr>
              <a:t>Práctica</a:t>
            </a:r>
            <a:endParaRPr sz="1800" b="1" i="0" u="none" strike="noStrike" cap="none" dirty="0">
              <a:solidFill>
                <a:srgbClr val="000000"/>
              </a:solidFill>
              <a:highlight>
                <a:srgbClr val="FFFFFF"/>
              </a:highlight>
              <a:latin typeface="Arial"/>
              <a:ea typeface="Arial"/>
              <a:cs typeface="Arial"/>
              <a:sym typeface="Arial"/>
            </a:endParaRPr>
          </a:p>
          <a:p>
            <a:pPr marL="457200" marR="0" lvl="0" indent="-342900" algn="just" rtl="0">
              <a:lnSpc>
                <a:spcPct val="150000"/>
              </a:lnSpc>
              <a:spcBef>
                <a:spcPts val="0"/>
              </a:spcBef>
              <a:spcAft>
                <a:spcPts val="0"/>
              </a:spcAft>
              <a:buClr>
                <a:srgbClr val="000000"/>
              </a:buClr>
              <a:buSzPts val="1800"/>
              <a:buFont typeface="Arial"/>
              <a:buChar char="●"/>
            </a:pPr>
            <a:r>
              <a:rPr lang="es-AR" sz="1800" b="1" dirty="0">
                <a:highlight>
                  <a:srgbClr val="FFFFFF"/>
                </a:highlight>
              </a:rPr>
              <a:t>Cierre de la clase</a:t>
            </a:r>
            <a:endParaRPr sz="1800" b="1" i="0" u="none" strike="noStrike" cap="none" dirty="0">
              <a:solidFill>
                <a:srgbClr val="000000"/>
              </a:solidFill>
              <a:highlight>
                <a:srgbClr val="FFFFFF"/>
              </a:highlight>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30"/>
          <p:cNvSpPr txBox="1"/>
          <p:nvPr/>
        </p:nvSpPr>
        <p:spPr>
          <a:xfrm>
            <a:off x="156738" y="1421278"/>
            <a:ext cx="8724162" cy="523180"/>
          </a:xfrm>
          <a:prstGeom prst="rect">
            <a:avLst/>
          </a:prstGeom>
          <a:noFill/>
          <a:ln>
            <a:noFill/>
          </a:ln>
        </p:spPr>
        <p:txBody>
          <a:bodyPr spcFirstLastPara="1" wrap="square" lIns="91425" tIns="45700" rIns="91425" bIns="45700" anchor="t" anchorCtr="0">
            <a:spAutoFit/>
          </a:bodyPr>
          <a:lstStyle/>
          <a:p>
            <a:pPr lvl="0"/>
            <a:r>
              <a:rPr lang="es-AR" sz="2800" b="1" dirty="0">
                <a:solidFill>
                  <a:srgbClr val="538CD5"/>
                </a:solidFill>
              </a:rPr>
              <a:t> Cola de Prioridades(HEAP):</a:t>
            </a:r>
            <a:endParaRPr sz="2800" b="1" dirty="0">
              <a:solidFill>
                <a:srgbClr val="538CD5"/>
              </a:solidFill>
            </a:endParaRPr>
          </a:p>
        </p:txBody>
      </p:sp>
      <p:pic>
        <p:nvPicPr>
          <p:cNvPr id="205" name="Google Shape;205;p30"/>
          <p:cNvPicPr preferRelativeResize="0"/>
          <p:nvPr/>
        </p:nvPicPr>
        <p:blipFill rotWithShape="1">
          <a:blip r:embed="rId3">
            <a:alphaModFix/>
          </a:blip>
          <a:srcRect/>
          <a:stretch/>
        </p:blipFill>
        <p:spPr>
          <a:xfrm>
            <a:off x="0" y="1580"/>
            <a:ext cx="9144000" cy="1171495"/>
          </a:xfrm>
          <a:prstGeom prst="rect">
            <a:avLst/>
          </a:prstGeom>
          <a:noFill/>
          <a:ln>
            <a:noFill/>
          </a:ln>
        </p:spPr>
      </p:pic>
      <p:sp>
        <p:nvSpPr>
          <p:cNvPr id="206" name="Google Shape;206;p30"/>
          <p:cNvSpPr txBox="1"/>
          <p:nvPr/>
        </p:nvSpPr>
        <p:spPr>
          <a:xfrm>
            <a:off x="327819" y="2192661"/>
            <a:ext cx="8553081" cy="4524546"/>
          </a:xfrm>
          <a:prstGeom prst="rect">
            <a:avLst/>
          </a:prstGeom>
          <a:noFill/>
          <a:ln>
            <a:noFill/>
          </a:ln>
        </p:spPr>
        <p:txBody>
          <a:bodyPr spcFirstLastPara="1" wrap="square" lIns="91425" tIns="45700" rIns="91425" bIns="45700" numCol="1" anchor="t" anchorCtr="0">
            <a:noAutofit/>
          </a:bodyPr>
          <a:lstStyle/>
          <a:p>
            <a:pPr>
              <a:lnSpc>
                <a:spcPct val="150000"/>
              </a:lnSpc>
            </a:pPr>
            <a:r>
              <a:rPr lang="es-AR" sz="2800" dirty="0">
                <a:solidFill>
                  <a:schemeClr val="dk1"/>
                </a:solidFill>
              </a:rPr>
              <a:t>Una </a:t>
            </a:r>
            <a:r>
              <a:rPr lang="es-AR" sz="2800" b="1" dirty="0">
                <a:solidFill>
                  <a:schemeClr val="dk1"/>
                </a:solidFill>
              </a:rPr>
              <a:t>cola de prioridad </a:t>
            </a:r>
            <a:r>
              <a:rPr lang="es-AR" sz="2800" dirty="0">
                <a:solidFill>
                  <a:schemeClr val="dk1"/>
                </a:solidFill>
              </a:rPr>
              <a:t>es una estructura de datos que permite al menos dos operaciones:</a:t>
            </a:r>
            <a:endParaRPr lang="es-ES" sz="2800" dirty="0">
              <a:solidFill>
                <a:schemeClr val="dk1"/>
              </a:solidFill>
            </a:endParaRPr>
          </a:p>
          <a:p>
            <a:pPr marL="342900" indent="-342900">
              <a:lnSpc>
                <a:spcPct val="150000"/>
              </a:lnSpc>
              <a:buFont typeface="Arial" panose="020B0604020202020204" pitchFamily="34" charset="0"/>
              <a:buChar char="•"/>
            </a:pPr>
            <a:r>
              <a:rPr lang="es-AR" sz="2800" dirty="0">
                <a:solidFill>
                  <a:schemeClr val="dk1"/>
                </a:solidFill>
              </a:rPr>
              <a:t>Insertar un elemento en la estructura</a:t>
            </a:r>
          </a:p>
          <a:p>
            <a:pPr marL="342900" indent="-342900">
              <a:lnSpc>
                <a:spcPct val="150000"/>
              </a:lnSpc>
              <a:buFont typeface="Arial" panose="020B0604020202020204" pitchFamily="34" charset="0"/>
              <a:buChar char="•"/>
            </a:pPr>
            <a:r>
              <a:rPr lang="es-AR" sz="2800" dirty="0">
                <a:solidFill>
                  <a:schemeClr val="dk1"/>
                </a:solidFill>
              </a:rPr>
              <a:t>Buscar, recuperar y eliminar el elemento mínimo</a:t>
            </a:r>
            <a:endParaRPr lang="es-ES" sz="2800" dirty="0">
              <a:solidFill>
                <a:schemeClr val="dk1"/>
              </a:solidFill>
            </a:endParaRPr>
          </a:p>
          <a:p>
            <a:pPr>
              <a:lnSpc>
                <a:spcPct val="150000"/>
              </a:lnSpc>
            </a:pPr>
            <a:endParaRPr lang="es-ES" sz="1900" dirty="0">
              <a:solidFill>
                <a:schemeClr val="dk1"/>
              </a:solidFill>
            </a:endParaRPr>
          </a:p>
          <a:p>
            <a:pPr>
              <a:lnSpc>
                <a:spcPct val="150000"/>
              </a:lnSpc>
            </a:pPr>
            <a:endParaRPr sz="1900" dirty="0">
              <a:solidFill>
                <a:schemeClr val="dk1"/>
              </a:solidFill>
            </a:endParaRPr>
          </a:p>
        </p:txBody>
      </p:sp>
      <p:sp>
        <p:nvSpPr>
          <p:cNvPr id="207" name="Google Shape;207;p30"/>
          <p:cNvSpPr txBox="1"/>
          <p:nvPr/>
        </p:nvSpPr>
        <p:spPr>
          <a:xfrm>
            <a:off x="1649400" y="346425"/>
            <a:ext cx="5620080" cy="46162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AR" sz="2400" b="1" dirty="0">
                <a:solidFill>
                  <a:schemeClr val="lt1"/>
                </a:solidFill>
              </a:rPr>
              <a:t>Clase 9:  Cola de Prioridades</a:t>
            </a:r>
            <a:endParaRPr sz="1800" dirty="0">
              <a:solidFill>
                <a:schemeClr val="dk1"/>
              </a:solidFill>
              <a:latin typeface="Calibri"/>
              <a:ea typeface="Calibri"/>
              <a:cs typeface="Calibri"/>
              <a:sym typeface="Calibri"/>
            </a:endParaRPr>
          </a:p>
        </p:txBody>
      </p:sp>
      <p:sp>
        <p:nvSpPr>
          <p:cNvPr id="208" name="Google Shape;208;p30"/>
          <p:cNvSpPr txBox="1"/>
          <p:nvPr/>
        </p:nvSpPr>
        <p:spPr>
          <a:xfrm>
            <a:off x="-6" y="205025"/>
            <a:ext cx="1649400" cy="785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AR" sz="1500" b="1">
                <a:solidFill>
                  <a:schemeClr val="lt1"/>
                </a:solidFill>
              </a:rPr>
              <a:t>ESTRUCTURAS </a:t>
            </a:r>
            <a:endParaRPr sz="1500" b="1">
              <a:solidFill>
                <a:schemeClr val="lt1"/>
              </a:solidFill>
              <a:latin typeface="Arial"/>
              <a:ea typeface="Arial"/>
              <a:cs typeface="Arial"/>
              <a:sym typeface="Arial"/>
            </a:endParaRPr>
          </a:p>
          <a:p>
            <a:pPr marL="0" marR="0" lvl="0" indent="0" algn="l" rtl="0">
              <a:spcBef>
                <a:spcPts val="0"/>
              </a:spcBef>
              <a:spcAft>
                <a:spcPts val="0"/>
              </a:spcAft>
              <a:buNone/>
            </a:pPr>
            <a:r>
              <a:rPr lang="es-AR" sz="1500" b="1">
                <a:solidFill>
                  <a:schemeClr val="lt1"/>
                </a:solidFill>
              </a:rPr>
              <a:t>DE </a:t>
            </a:r>
            <a:endParaRPr sz="1500" b="1">
              <a:solidFill>
                <a:schemeClr val="lt1"/>
              </a:solidFill>
              <a:latin typeface="Arial"/>
              <a:ea typeface="Arial"/>
              <a:cs typeface="Arial"/>
              <a:sym typeface="Arial"/>
            </a:endParaRPr>
          </a:p>
          <a:p>
            <a:pPr marL="0" marR="0" lvl="0" indent="0" algn="l" rtl="0">
              <a:spcBef>
                <a:spcPts val="0"/>
              </a:spcBef>
              <a:spcAft>
                <a:spcPts val="0"/>
              </a:spcAft>
              <a:buNone/>
            </a:pPr>
            <a:r>
              <a:rPr lang="es-AR" sz="1500" b="1">
                <a:solidFill>
                  <a:schemeClr val="lt1"/>
                </a:solidFill>
              </a:rPr>
              <a:t>DATOS</a:t>
            </a:r>
            <a:endParaRPr sz="1300">
              <a:solidFill>
                <a:schemeClr val="dk1"/>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06"/>
                                        </p:tgtEl>
                                        <p:attrNameLst>
                                          <p:attrName>style.visibility</p:attrName>
                                        </p:attrNameLst>
                                      </p:cBhvr>
                                      <p:to>
                                        <p:strVal val="visible"/>
                                      </p:to>
                                    </p:set>
                                    <p:animEffect transition="in" filter="fade">
                                      <p:cBhvr>
                                        <p:cTn id="7" dur="500"/>
                                        <p:tgtEl>
                                          <p:spTgt spid="2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30"/>
          <p:cNvSpPr txBox="1"/>
          <p:nvPr/>
        </p:nvSpPr>
        <p:spPr>
          <a:xfrm>
            <a:off x="156738" y="1421278"/>
            <a:ext cx="8724162" cy="523180"/>
          </a:xfrm>
          <a:prstGeom prst="rect">
            <a:avLst/>
          </a:prstGeom>
          <a:noFill/>
          <a:ln>
            <a:noFill/>
          </a:ln>
        </p:spPr>
        <p:txBody>
          <a:bodyPr spcFirstLastPara="1" wrap="square" lIns="91425" tIns="45700" rIns="91425" bIns="45700" anchor="t" anchorCtr="0">
            <a:spAutoFit/>
          </a:bodyPr>
          <a:lstStyle/>
          <a:p>
            <a:pPr lvl="0"/>
            <a:r>
              <a:rPr lang="es-AR" sz="2800" b="1" dirty="0">
                <a:solidFill>
                  <a:srgbClr val="538CD5"/>
                </a:solidFill>
              </a:rPr>
              <a:t> Implementaciones:</a:t>
            </a:r>
            <a:endParaRPr sz="2800" b="1" dirty="0">
              <a:solidFill>
                <a:srgbClr val="538CD5"/>
              </a:solidFill>
            </a:endParaRPr>
          </a:p>
        </p:txBody>
      </p:sp>
      <p:pic>
        <p:nvPicPr>
          <p:cNvPr id="205" name="Google Shape;205;p30"/>
          <p:cNvPicPr preferRelativeResize="0"/>
          <p:nvPr/>
        </p:nvPicPr>
        <p:blipFill rotWithShape="1">
          <a:blip r:embed="rId3">
            <a:alphaModFix/>
          </a:blip>
          <a:srcRect/>
          <a:stretch/>
        </p:blipFill>
        <p:spPr>
          <a:xfrm>
            <a:off x="0" y="1580"/>
            <a:ext cx="9144000" cy="1171495"/>
          </a:xfrm>
          <a:prstGeom prst="rect">
            <a:avLst/>
          </a:prstGeom>
          <a:noFill/>
          <a:ln>
            <a:noFill/>
          </a:ln>
        </p:spPr>
      </p:pic>
      <p:sp>
        <p:nvSpPr>
          <p:cNvPr id="206" name="Google Shape;206;p30"/>
          <p:cNvSpPr txBox="1"/>
          <p:nvPr/>
        </p:nvSpPr>
        <p:spPr>
          <a:xfrm>
            <a:off x="209919" y="1882902"/>
            <a:ext cx="8724162" cy="4524546"/>
          </a:xfrm>
          <a:prstGeom prst="rect">
            <a:avLst/>
          </a:prstGeom>
          <a:noFill/>
          <a:ln>
            <a:noFill/>
          </a:ln>
        </p:spPr>
        <p:txBody>
          <a:bodyPr spcFirstLastPara="1" wrap="square" lIns="91425" tIns="45700" rIns="91425" bIns="45700" numCol="1" anchor="t" anchorCtr="0">
            <a:noAutofit/>
          </a:bodyPr>
          <a:lstStyle/>
          <a:p>
            <a:pPr marL="342900" indent="-342900">
              <a:lnSpc>
                <a:spcPct val="150000"/>
              </a:lnSpc>
              <a:buFont typeface="Arial" panose="020B0604020202020204" pitchFamily="34" charset="0"/>
              <a:buChar char="•"/>
            </a:pPr>
            <a:r>
              <a:rPr lang="es-AR" sz="2000" dirty="0">
                <a:solidFill>
                  <a:schemeClr val="dk1"/>
                </a:solidFill>
              </a:rPr>
              <a:t>Lista Ordenada</a:t>
            </a:r>
          </a:p>
          <a:p>
            <a:pPr lvl="8">
              <a:lnSpc>
                <a:spcPct val="150000"/>
              </a:lnSpc>
            </a:pPr>
            <a:r>
              <a:rPr lang="es-ES" sz="2000" dirty="0">
                <a:solidFill>
                  <a:schemeClr val="dk1"/>
                </a:solidFill>
              </a:rPr>
              <a:t>        	</a:t>
            </a:r>
            <a:r>
              <a:rPr lang="es-ES" sz="2000" i="1" dirty="0">
                <a:solidFill>
                  <a:schemeClr val="dk1"/>
                </a:solidFill>
              </a:rPr>
              <a:t>Insertar</a:t>
            </a:r>
            <a:r>
              <a:rPr lang="es-ES" sz="2000" dirty="0">
                <a:solidFill>
                  <a:schemeClr val="dk1"/>
                </a:solidFill>
              </a:rPr>
              <a:t> tiene un tiempo de ejecución </a:t>
            </a:r>
            <a:r>
              <a:rPr lang="es-ES" sz="2000" b="1" dirty="0">
                <a:solidFill>
                  <a:schemeClr val="dk1"/>
                </a:solidFill>
              </a:rPr>
              <a:t>O(N) </a:t>
            </a:r>
            <a:r>
              <a:rPr lang="es-ES" sz="2000" dirty="0">
                <a:solidFill>
                  <a:schemeClr val="dk1"/>
                </a:solidFill>
              </a:rPr>
              <a:t>operaciones.</a:t>
            </a:r>
          </a:p>
          <a:p>
            <a:pPr lvl="8">
              <a:lnSpc>
                <a:spcPct val="150000"/>
              </a:lnSpc>
            </a:pPr>
            <a:r>
              <a:rPr lang="es-ES" sz="2000" dirty="0">
                <a:solidFill>
                  <a:schemeClr val="dk1"/>
                </a:solidFill>
              </a:rPr>
              <a:t>	</a:t>
            </a:r>
            <a:r>
              <a:rPr lang="es-ES" sz="2000" i="1" dirty="0">
                <a:solidFill>
                  <a:schemeClr val="dk1"/>
                </a:solidFill>
              </a:rPr>
              <a:t>Borrar el mínimo </a:t>
            </a:r>
            <a:r>
              <a:rPr lang="es-ES" sz="2000" dirty="0">
                <a:solidFill>
                  <a:schemeClr val="dk1"/>
                </a:solidFill>
              </a:rPr>
              <a:t>tiene un tiempo de </a:t>
            </a:r>
            <a:r>
              <a:rPr lang="es-ES" sz="2000" b="1" dirty="0">
                <a:solidFill>
                  <a:schemeClr val="dk1"/>
                </a:solidFill>
              </a:rPr>
              <a:t>O(1)</a:t>
            </a:r>
            <a:r>
              <a:rPr lang="es-ES" sz="2000" dirty="0">
                <a:solidFill>
                  <a:schemeClr val="dk1"/>
                </a:solidFill>
              </a:rPr>
              <a:t> operaciones.</a:t>
            </a:r>
            <a:endParaRPr lang="es-AR" sz="2000" dirty="0">
              <a:solidFill>
                <a:schemeClr val="dk1"/>
              </a:solidFill>
            </a:endParaRPr>
          </a:p>
          <a:p>
            <a:pPr marL="342900" indent="-342900">
              <a:lnSpc>
                <a:spcPct val="150000"/>
              </a:lnSpc>
              <a:buFont typeface="Arial" panose="020B0604020202020204" pitchFamily="34" charset="0"/>
              <a:buChar char="•"/>
            </a:pPr>
            <a:r>
              <a:rPr lang="es-ES" sz="2000" dirty="0">
                <a:solidFill>
                  <a:schemeClr val="dk1"/>
                </a:solidFill>
              </a:rPr>
              <a:t>Lista no Ordenada</a:t>
            </a:r>
          </a:p>
          <a:p>
            <a:pPr lvl="8">
              <a:lnSpc>
                <a:spcPct val="150000"/>
              </a:lnSpc>
            </a:pPr>
            <a:r>
              <a:rPr lang="es-ES" sz="2000" i="1" dirty="0">
                <a:solidFill>
                  <a:schemeClr val="dk1"/>
                </a:solidFill>
              </a:rPr>
              <a:t>	Insertar</a:t>
            </a:r>
            <a:r>
              <a:rPr lang="es-ES" sz="2000" dirty="0">
                <a:solidFill>
                  <a:schemeClr val="dk1"/>
                </a:solidFill>
              </a:rPr>
              <a:t> tiene un tiempo de ejecución </a:t>
            </a:r>
            <a:r>
              <a:rPr lang="es-ES" sz="2000" b="1" dirty="0">
                <a:solidFill>
                  <a:schemeClr val="dk1"/>
                </a:solidFill>
              </a:rPr>
              <a:t>O(1) </a:t>
            </a:r>
            <a:r>
              <a:rPr lang="es-ES" sz="2000" dirty="0">
                <a:solidFill>
                  <a:schemeClr val="dk1"/>
                </a:solidFill>
              </a:rPr>
              <a:t>operaciones.</a:t>
            </a:r>
          </a:p>
          <a:p>
            <a:pPr lvl="8">
              <a:lnSpc>
                <a:spcPct val="150000"/>
              </a:lnSpc>
            </a:pPr>
            <a:r>
              <a:rPr lang="es-ES" sz="2000" dirty="0">
                <a:solidFill>
                  <a:schemeClr val="dk1"/>
                </a:solidFill>
              </a:rPr>
              <a:t>	</a:t>
            </a:r>
            <a:r>
              <a:rPr lang="es-ES" sz="2000" i="1" dirty="0">
                <a:solidFill>
                  <a:schemeClr val="dk1"/>
                </a:solidFill>
              </a:rPr>
              <a:t>Borrar el mínimo </a:t>
            </a:r>
            <a:r>
              <a:rPr lang="es-ES" sz="2000" dirty="0">
                <a:solidFill>
                  <a:schemeClr val="dk1"/>
                </a:solidFill>
              </a:rPr>
              <a:t>tiene un tiempo de </a:t>
            </a:r>
            <a:r>
              <a:rPr lang="es-ES" sz="2000" b="1" dirty="0">
                <a:solidFill>
                  <a:schemeClr val="dk1"/>
                </a:solidFill>
              </a:rPr>
              <a:t>O(N)</a:t>
            </a:r>
            <a:r>
              <a:rPr lang="es-ES" sz="2000" dirty="0">
                <a:solidFill>
                  <a:schemeClr val="dk1"/>
                </a:solidFill>
              </a:rPr>
              <a:t> operaciones.</a:t>
            </a:r>
          </a:p>
          <a:p>
            <a:pPr marL="342900" indent="-342900">
              <a:lnSpc>
                <a:spcPct val="150000"/>
              </a:lnSpc>
              <a:buFont typeface="Arial" panose="020B0604020202020204" pitchFamily="34" charset="0"/>
              <a:buChar char="•"/>
            </a:pPr>
            <a:r>
              <a:rPr lang="es-ES" sz="2000" dirty="0">
                <a:solidFill>
                  <a:schemeClr val="dk1"/>
                </a:solidFill>
              </a:rPr>
              <a:t>Árbol binario de búsqueda</a:t>
            </a:r>
          </a:p>
          <a:p>
            <a:pPr lvl="8">
              <a:lnSpc>
                <a:spcPct val="150000"/>
              </a:lnSpc>
            </a:pPr>
            <a:r>
              <a:rPr lang="es-ES" sz="2000" i="1" dirty="0">
                <a:solidFill>
                  <a:schemeClr val="dk1"/>
                </a:solidFill>
              </a:rPr>
              <a:t>	Insertar</a:t>
            </a:r>
            <a:r>
              <a:rPr lang="es-ES" sz="2000" dirty="0">
                <a:solidFill>
                  <a:schemeClr val="dk1"/>
                </a:solidFill>
              </a:rPr>
              <a:t> y </a:t>
            </a:r>
            <a:r>
              <a:rPr lang="es-ES" sz="2000" i="1" dirty="0">
                <a:solidFill>
                  <a:schemeClr val="dk1"/>
                </a:solidFill>
              </a:rPr>
              <a:t>Borrar el mínimo </a:t>
            </a:r>
            <a:r>
              <a:rPr lang="es-ES" sz="2000" dirty="0">
                <a:solidFill>
                  <a:schemeClr val="dk1"/>
                </a:solidFill>
              </a:rPr>
              <a:t>tienen un tiempo de ejecución promedio</a:t>
            </a:r>
          </a:p>
          <a:p>
            <a:pPr lvl="8">
              <a:lnSpc>
                <a:spcPct val="150000"/>
              </a:lnSpc>
            </a:pPr>
            <a:r>
              <a:rPr lang="es-ES" sz="2000" dirty="0">
                <a:solidFill>
                  <a:schemeClr val="dk1"/>
                </a:solidFill>
              </a:rPr>
              <a:t>	de </a:t>
            </a:r>
            <a:r>
              <a:rPr lang="es-ES" sz="2000" b="1" dirty="0">
                <a:solidFill>
                  <a:schemeClr val="dk1"/>
                </a:solidFill>
              </a:rPr>
              <a:t>O(log N)  </a:t>
            </a:r>
            <a:r>
              <a:rPr lang="es-ES" sz="2000" dirty="0">
                <a:solidFill>
                  <a:schemeClr val="dk1"/>
                </a:solidFill>
              </a:rPr>
              <a:t>operaciones.</a:t>
            </a:r>
            <a:endParaRPr lang="es-AR" sz="2000" dirty="0">
              <a:solidFill>
                <a:schemeClr val="dk1"/>
              </a:solidFill>
            </a:endParaRPr>
          </a:p>
          <a:p>
            <a:pPr marL="342900" indent="-342900">
              <a:lnSpc>
                <a:spcPct val="150000"/>
              </a:lnSpc>
              <a:buFont typeface="Arial" panose="020B0604020202020204" pitchFamily="34" charset="0"/>
              <a:buChar char="•"/>
            </a:pPr>
            <a:endParaRPr lang="es-ES" sz="2000" dirty="0">
              <a:solidFill>
                <a:schemeClr val="dk1"/>
              </a:solidFill>
            </a:endParaRPr>
          </a:p>
          <a:p>
            <a:pPr>
              <a:lnSpc>
                <a:spcPct val="150000"/>
              </a:lnSpc>
            </a:pPr>
            <a:endParaRPr lang="es-ES" sz="1900" dirty="0">
              <a:solidFill>
                <a:schemeClr val="dk1"/>
              </a:solidFill>
            </a:endParaRPr>
          </a:p>
          <a:p>
            <a:pPr>
              <a:lnSpc>
                <a:spcPct val="150000"/>
              </a:lnSpc>
            </a:pPr>
            <a:endParaRPr sz="1900" dirty="0">
              <a:solidFill>
                <a:schemeClr val="dk1"/>
              </a:solidFill>
            </a:endParaRPr>
          </a:p>
        </p:txBody>
      </p:sp>
      <p:sp>
        <p:nvSpPr>
          <p:cNvPr id="207" name="Google Shape;207;p30"/>
          <p:cNvSpPr txBox="1"/>
          <p:nvPr/>
        </p:nvSpPr>
        <p:spPr>
          <a:xfrm>
            <a:off x="1649400" y="346425"/>
            <a:ext cx="5620080" cy="46162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AR" sz="2400" b="1" dirty="0">
                <a:solidFill>
                  <a:schemeClr val="lt1"/>
                </a:solidFill>
              </a:rPr>
              <a:t>Clase 9:  Cola de Prioridades</a:t>
            </a:r>
            <a:endParaRPr sz="1800" dirty="0">
              <a:solidFill>
                <a:schemeClr val="dk1"/>
              </a:solidFill>
              <a:latin typeface="Calibri"/>
              <a:ea typeface="Calibri"/>
              <a:cs typeface="Calibri"/>
              <a:sym typeface="Calibri"/>
            </a:endParaRPr>
          </a:p>
        </p:txBody>
      </p:sp>
      <p:sp>
        <p:nvSpPr>
          <p:cNvPr id="208" name="Google Shape;208;p30"/>
          <p:cNvSpPr txBox="1"/>
          <p:nvPr/>
        </p:nvSpPr>
        <p:spPr>
          <a:xfrm>
            <a:off x="-6" y="205025"/>
            <a:ext cx="1649400" cy="785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AR" sz="1500" b="1">
                <a:solidFill>
                  <a:schemeClr val="lt1"/>
                </a:solidFill>
              </a:rPr>
              <a:t>ESTRUCTURAS </a:t>
            </a:r>
            <a:endParaRPr sz="1500" b="1">
              <a:solidFill>
                <a:schemeClr val="lt1"/>
              </a:solidFill>
              <a:latin typeface="Arial"/>
              <a:ea typeface="Arial"/>
              <a:cs typeface="Arial"/>
              <a:sym typeface="Arial"/>
            </a:endParaRPr>
          </a:p>
          <a:p>
            <a:pPr marL="0" marR="0" lvl="0" indent="0" algn="l" rtl="0">
              <a:spcBef>
                <a:spcPts val="0"/>
              </a:spcBef>
              <a:spcAft>
                <a:spcPts val="0"/>
              </a:spcAft>
              <a:buNone/>
            </a:pPr>
            <a:r>
              <a:rPr lang="es-AR" sz="1500" b="1">
                <a:solidFill>
                  <a:schemeClr val="lt1"/>
                </a:solidFill>
              </a:rPr>
              <a:t>DE </a:t>
            </a:r>
            <a:endParaRPr sz="1500" b="1">
              <a:solidFill>
                <a:schemeClr val="lt1"/>
              </a:solidFill>
              <a:latin typeface="Arial"/>
              <a:ea typeface="Arial"/>
              <a:cs typeface="Arial"/>
              <a:sym typeface="Arial"/>
            </a:endParaRPr>
          </a:p>
          <a:p>
            <a:pPr marL="0" marR="0" lvl="0" indent="0" algn="l" rtl="0">
              <a:spcBef>
                <a:spcPts val="0"/>
              </a:spcBef>
              <a:spcAft>
                <a:spcPts val="0"/>
              </a:spcAft>
              <a:buNone/>
            </a:pPr>
            <a:r>
              <a:rPr lang="es-AR" sz="1500" b="1">
                <a:solidFill>
                  <a:schemeClr val="lt1"/>
                </a:solidFill>
              </a:rPr>
              <a:t>DATOS</a:t>
            </a:r>
            <a:endParaRPr sz="13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891956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06"/>
                                        </p:tgtEl>
                                        <p:attrNameLst>
                                          <p:attrName>style.visibility</p:attrName>
                                        </p:attrNameLst>
                                      </p:cBhvr>
                                      <p:to>
                                        <p:strVal val="visible"/>
                                      </p:to>
                                    </p:set>
                                    <p:animEffect transition="in" filter="fade">
                                      <p:cBhvr>
                                        <p:cTn id="7" dur="500"/>
                                        <p:tgtEl>
                                          <p:spTgt spid="2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30"/>
          <p:cNvSpPr txBox="1"/>
          <p:nvPr/>
        </p:nvSpPr>
        <p:spPr>
          <a:xfrm>
            <a:off x="156738" y="1421278"/>
            <a:ext cx="8724162" cy="523180"/>
          </a:xfrm>
          <a:prstGeom prst="rect">
            <a:avLst/>
          </a:prstGeom>
          <a:noFill/>
          <a:ln>
            <a:noFill/>
          </a:ln>
        </p:spPr>
        <p:txBody>
          <a:bodyPr spcFirstLastPara="1" wrap="square" lIns="91425" tIns="45700" rIns="91425" bIns="45700" anchor="t" anchorCtr="0">
            <a:spAutoFit/>
          </a:bodyPr>
          <a:lstStyle/>
          <a:p>
            <a:pPr lvl="0"/>
            <a:r>
              <a:rPr lang="es-AR" sz="2800" b="1" dirty="0">
                <a:solidFill>
                  <a:srgbClr val="538CD5"/>
                </a:solidFill>
              </a:rPr>
              <a:t> </a:t>
            </a:r>
            <a:r>
              <a:rPr lang="es-AR" sz="2800" b="1" dirty="0" err="1">
                <a:solidFill>
                  <a:srgbClr val="538CD5"/>
                </a:solidFill>
              </a:rPr>
              <a:t>Heap</a:t>
            </a:r>
            <a:r>
              <a:rPr lang="es-AR" sz="2800" b="1" dirty="0">
                <a:solidFill>
                  <a:srgbClr val="538CD5"/>
                </a:solidFill>
              </a:rPr>
              <a:t> Binaria:</a:t>
            </a:r>
            <a:endParaRPr sz="2800" b="1" dirty="0">
              <a:solidFill>
                <a:srgbClr val="538CD5"/>
              </a:solidFill>
            </a:endParaRPr>
          </a:p>
        </p:txBody>
      </p:sp>
      <p:pic>
        <p:nvPicPr>
          <p:cNvPr id="205" name="Google Shape;205;p30"/>
          <p:cNvPicPr preferRelativeResize="0"/>
          <p:nvPr/>
        </p:nvPicPr>
        <p:blipFill rotWithShape="1">
          <a:blip r:embed="rId3">
            <a:alphaModFix/>
          </a:blip>
          <a:srcRect/>
          <a:stretch/>
        </p:blipFill>
        <p:spPr>
          <a:xfrm>
            <a:off x="0" y="1580"/>
            <a:ext cx="9144000" cy="1171495"/>
          </a:xfrm>
          <a:prstGeom prst="rect">
            <a:avLst/>
          </a:prstGeom>
          <a:noFill/>
          <a:ln>
            <a:noFill/>
          </a:ln>
        </p:spPr>
      </p:pic>
      <p:sp>
        <p:nvSpPr>
          <p:cNvPr id="206" name="Google Shape;206;p30"/>
          <p:cNvSpPr txBox="1"/>
          <p:nvPr/>
        </p:nvSpPr>
        <p:spPr>
          <a:xfrm>
            <a:off x="209919" y="1983916"/>
            <a:ext cx="8724162" cy="4524546"/>
          </a:xfrm>
          <a:prstGeom prst="rect">
            <a:avLst/>
          </a:prstGeom>
          <a:noFill/>
          <a:ln>
            <a:noFill/>
          </a:ln>
        </p:spPr>
        <p:txBody>
          <a:bodyPr spcFirstLastPara="1" wrap="square" lIns="91425" tIns="45700" rIns="91425" bIns="45700" numCol="1" anchor="t" anchorCtr="0">
            <a:noAutofit/>
          </a:bodyPr>
          <a:lstStyle/>
          <a:p>
            <a:pPr marL="342900" indent="-342900">
              <a:lnSpc>
                <a:spcPct val="150000"/>
              </a:lnSpc>
              <a:buFont typeface="Arial" panose="020B0604020202020204" pitchFamily="34" charset="0"/>
              <a:buChar char="•"/>
            </a:pPr>
            <a:r>
              <a:rPr lang="es-AR" sz="2400" dirty="0">
                <a:solidFill>
                  <a:schemeClr val="dk1"/>
                </a:solidFill>
              </a:rPr>
              <a:t>Es una implementación de colas de prioridad que no usa punteros y permite implementar ambas operaciones con </a:t>
            </a:r>
            <a:r>
              <a:rPr lang="es-AR" sz="2400" b="1" dirty="0">
                <a:solidFill>
                  <a:schemeClr val="dk1"/>
                </a:solidFill>
              </a:rPr>
              <a:t>O(</a:t>
            </a:r>
            <a:r>
              <a:rPr lang="es-AR" sz="2400" b="1" dirty="0" err="1">
                <a:solidFill>
                  <a:schemeClr val="dk1"/>
                </a:solidFill>
              </a:rPr>
              <a:t>logN</a:t>
            </a:r>
            <a:r>
              <a:rPr lang="es-AR" sz="2400" b="1" dirty="0">
                <a:solidFill>
                  <a:schemeClr val="dk1"/>
                </a:solidFill>
              </a:rPr>
              <a:t>) </a:t>
            </a:r>
            <a:r>
              <a:rPr lang="es-AR" sz="2400" dirty="0">
                <a:solidFill>
                  <a:schemeClr val="dk1"/>
                </a:solidFill>
              </a:rPr>
              <a:t>operaciones en el peor caso</a:t>
            </a:r>
            <a:r>
              <a:rPr lang="es-ES" sz="2400" dirty="0">
                <a:solidFill>
                  <a:schemeClr val="dk1"/>
                </a:solidFill>
              </a:rPr>
              <a:t>.</a:t>
            </a:r>
          </a:p>
          <a:p>
            <a:endParaRPr lang="es-AR" sz="2400" dirty="0"/>
          </a:p>
          <a:p>
            <a:pPr marL="342900" indent="-342900">
              <a:buFont typeface="Arial" panose="020B0604020202020204" pitchFamily="34" charset="0"/>
              <a:buChar char="•"/>
            </a:pPr>
            <a:r>
              <a:rPr lang="es-AR" sz="2400" dirty="0">
                <a:solidFill>
                  <a:schemeClr val="dk1"/>
                </a:solidFill>
              </a:rPr>
              <a:t>Cumple con dos propiedades:</a:t>
            </a:r>
          </a:p>
          <a:p>
            <a:pPr lvl="3">
              <a:lnSpc>
                <a:spcPct val="150000"/>
              </a:lnSpc>
            </a:pPr>
            <a:r>
              <a:rPr lang="es-ES" sz="2400" dirty="0">
                <a:solidFill>
                  <a:schemeClr val="dk1"/>
                </a:solidFill>
              </a:rPr>
              <a:t>	</a:t>
            </a:r>
            <a:r>
              <a:rPr lang="es-AR" sz="2400" dirty="0">
                <a:solidFill>
                  <a:schemeClr val="dk1"/>
                </a:solidFill>
              </a:rPr>
              <a:t>Propiedad estructural</a:t>
            </a:r>
          </a:p>
          <a:p>
            <a:pPr lvl="3">
              <a:lnSpc>
                <a:spcPct val="150000"/>
              </a:lnSpc>
            </a:pPr>
            <a:r>
              <a:rPr lang="es-AR" sz="2400" dirty="0">
                <a:solidFill>
                  <a:schemeClr val="dk1"/>
                </a:solidFill>
              </a:rPr>
              <a:t>	Propiedad de orden</a:t>
            </a:r>
          </a:p>
          <a:p>
            <a:endParaRPr lang="es-AR" dirty="0"/>
          </a:p>
          <a:p>
            <a:pPr marL="342900" indent="-342900">
              <a:buFont typeface="Arial" panose="020B0604020202020204" pitchFamily="34" charset="0"/>
              <a:buChar char="•"/>
            </a:pPr>
            <a:endParaRPr lang="es-AR" sz="2000" dirty="0">
              <a:solidFill>
                <a:schemeClr val="dk1"/>
              </a:solidFill>
            </a:endParaRPr>
          </a:p>
          <a:p>
            <a:pPr marL="342900" indent="-342900">
              <a:lnSpc>
                <a:spcPct val="150000"/>
              </a:lnSpc>
              <a:buFont typeface="Arial" panose="020B0604020202020204" pitchFamily="34" charset="0"/>
              <a:buChar char="•"/>
            </a:pPr>
            <a:endParaRPr lang="es-AR" sz="2000" dirty="0">
              <a:solidFill>
                <a:schemeClr val="dk1"/>
              </a:solidFill>
            </a:endParaRPr>
          </a:p>
          <a:p>
            <a:pPr marL="342900" indent="-342900">
              <a:lnSpc>
                <a:spcPct val="150000"/>
              </a:lnSpc>
              <a:buFont typeface="Arial" panose="020B0604020202020204" pitchFamily="34" charset="0"/>
              <a:buChar char="•"/>
            </a:pPr>
            <a:endParaRPr lang="es-ES" sz="2000" dirty="0">
              <a:solidFill>
                <a:schemeClr val="dk1"/>
              </a:solidFill>
            </a:endParaRPr>
          </a:p>
          <a:p>
            <a:pPr>
              <a:lnSpc>
                <a:spcPct val="150000"/>
              </a:lnSpc>
            </a:pPr>
            <a:endParaRPr lang="es-ES" sz="1900" dirty="0">
              <a:solidFill>
                <a:schemeClr val="dk1"/>
              </a:solidFill>
            </a:endParaRPr>
          </a:p>
          <a:p>
            <a:pPr>
              <a:lnSpc>
                <a:spcPct val="150000"/>
              </a:lnSpc>
            </a:pPr>
            <a:endParaRPr sz="1900" dirty="0">
              <a:solidFill>
                <a:schemeClr val="dk1"/>
              </a:solidFill>
            </a:endParaRPr>
          </a:p>
        </p:txBody>
      </p:sp>
      <p:sp>
        <p:nvSpPr>
          <p:cNvPr id="207" name="Google Shape;207;p30"/>
          <p:cNvSpPr txBox="1"/>
          <p:nvPr/>
        </p:nvSpPr>
        <p:spPr>
          <a:xfrm>
            <a:off x="1649400" y="346425"/>
            <a:ext cx="5620080" cy="46162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AR" sz="2400" b="1" dirty="0">
                <a:solidFill>
                  <a:schemeClr val="lt1"/>
                </a:solidFill>
              </a:rPr>
              <a:t>Clase 9:  Cola de Prioridades</a:t>
            </a:r>
            <a:endParaRPr sz="1800" dirty="0">
              <a:solidFill>
                <a:schemeClr val="dk1"/>
              </a:solidFill>
              <a:latin typeface="Calibri"/>
              <a:ea typeface="Calibri"/>
              <a:cs typeface="Calibri"/>
              <a:sym typeface="Calibri"/>
            </a:endParaRPr>
          </a:p>
        </p:txBody>
      </p:sp>
      <p:sp>
        <p:nvSpPr>
          <p:cNvPr id="208" name="Google Shape;208;p30"/>
          <p:cNvSpPr txBox="1"/>
          <p:nvPr/>
        </p:nvSpPr>
        <p:spPr>
          <a:xfrm>
            <a:off x="-6" y="205025"/>
            <a:ext cx="1649400" cy="785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AR" sz="1500" b="1">
                <a:solidFill>
                  <a:schemeClr val="lt1"/>
                </a:solidFill>
              </a:rPr>
              <a:t>ESTRUCTURAS </a:t>
            </a:r>
            <a:endParaRPr sz="1500" b="1">
              <a:solidFill>
                <a:schemeClr val="lt1"/>
              </a:solidFill>
              <a:latin typeface="Arial"/>
              <a:ea typeface="Arial"/>
              <a:cs typeface="Arial"/>
              <a:sym typeface="Arial"/>
            </a:endParaRPr>
          </a:p>
          <a:p>
            <a:pPr marL="0" marR="0" lvl="0" indent="0" algn="l" rtl="0">
              <a:spcBef>
                <a:spcPts val="0"/>
              </a:spcBef>
              <a:spcAft>
                <a:spcPts val="0"/>
              </a:spcAft>
              <a:buNone/>
            </a:pPr>
            <a:r>
              <a:rPr lang="es-AR" sz="1500" b="1">
                <a:solidFill>
                  <a:schemeClr val="lt1"/>
                </a:solidFill>
              </a:rPr>
              <a:t>DE </a:t>
            </a:r>
            <a:endParaRPr sz="1500" b="1">
              <a:solidFill>
                <a:schemeClr val="lt1"/>
              </a:solidFill>
              <a:latin typeface="Arial"/>
              <a:ea typeface="Arial"/>
              <a:cs typeface="Arial"/>
              <a:sym typeface="Arial"/>
            </a:endParaRPr>
          </a:p>
          <a:p>
            <a:pPr marL="0" marR="0" lvl="0" indent="0" algn="l" rtl="0">
              <a:spcBef>
                <a:spcPts val="0"/>
              </a:spcBef>
              <a:spcAft>
                <a:spcPts val="0"/>
              </a:spcAft>
              <a:buNone/>
            </a:pPr>
            <a:r>
              <a:rPr lang="es-AR" sz="1500" b="1">
                <a:solidFill>
                  <a:schemeClr val="lt1"/>
                </a:solidFill>
              </a:rPr>
              <a:t>DATOS</a:t>
            </a:r>
            <a:endParaRPr sz="13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140253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06"/>
                                        </p:tgtEl>
                                        <p:attrNameLst>
                                          <p:attrName>style.visibility</p:attrName>
                                        </p:attrNameLst>
                                      </p:cBhvr>
                                      <p:to>
                                        <p:strVal val="visible"/>
                                      </p:to>
                                    </p:set>
                                    <p:animEffect transition="in" filter="fade">
                                      <p:cBhvr>
                                        <p:cTn id="7" dur="500"/>
                                        <p:tgtEl>
                                          <p:spTgt spid="2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30"/>
          <p:cNvSpPr txBox="1"/>
          <p:nvPr/>
        </p:nvSpPr>
        <p:spPr>
          <a:xfrm>
            <a:off x="156738" y="1421278"/>
            <a:ext cx="8724162" cy="523180"/>
          </a:xfrm>
          <a:prstGeom prst="rect">
            <a:avLst/>
          </a:prstGeom>
          <a:noFill/>
          <a:ln>
            <a:noFill/>
          </a:ln>
        </p:spPr>
        <p:txBody>
          <a:bodyPr spcFirstLastPara="1" wrap="square" lIns="91425" tIns="45700" rIns="91425" bIns="45700" anchor="t" anchorCtr="0">
            <a:spAutoFit/>
          </a:bodyPr>
          <a:lstStyle/>
          <a:p>
            <a:pPr lvl="0"/>
            <a:r>
              <a:rPr lang="es-AR" sz="2800" b="1" dirty="0">
                <a:solidFill>
                  <a:srgbClr val="538CD5"/>
                </a:solidFill>
              </a:rPr>
              <a:t> Propiedad Estructural:</a:t>
            </a:r>
            <a:endParaRPr sz="2800" b="1" dirty="0">
              <a:solidFill>
                <a:srgbClr val="538CD5"/>
              </a:solidFill>
            </a:endParaRPr>
          </a:p>
        </p:txBody>
      </p:sp>
      <p:pic>
        <p:nvPicPr>
          <p:cNvPr id="205" name="Google Shape;205;p30"/>
          <p:cNvPicPr preferRelativeResize="0"/>
          <p:nvPr/>
        </p:nvPicPr>
        <p:blipFill rotWithShape="1">
          <a:blip r:embed="rId3">
            <a:alphaModFix/>
          </a:blip>
          <a:srcRect/>
          <a:stretch/>
        </p:blipFill>
        <p:spPr>
          <a:xfrm>
            <a:off x="0" y="1580"/>
            <a:ext cx="9144000" cy="1171495"/>
          </a:xfrm>
          <a:prstGeom prst="rect">
            <a:avLst/>
          </a:prstGeom>
          <a:noFill/>
          <a:ln>
            <a:noFill/>
          </a:ln>
        </p:spPr>
      </p:pic>
      <p:sp>
        <p:nvSpPr>
          <p:cNvPr id="206" name="Google Shape;206;p30"/>
          <p:cNvSpPr txBox="1"/>
          <p:nvPr/>
        </p:nvSpPr>
        <p:spPr>
          <a:xfrm>
            <a:off x="209919" y="1944458"/>
            <a:ext cx="8724162" cy="4524546"/>
          </a:xfrm>
          <a:prstGeom prst="rect">
            <a:avLst/>
          </a:prstGeom>
          <a:noFill/>
          <a:ln>
            <a:noFill/>
          </a:ln>
        </p:spPr>
        <p:txBody>
          <a:bodyPr spcFirstLastPara="1" wrap="square" lIns="91425" tIns="45700" rIns="91425" bIns="45700" numCol="1" anchor="t" anchorCtr="0">
            <a:noAutofit/>
          </a:bodyPr>
          <a:lstStyle/>
          <a:p>
            <a:pPr>
              <a:lnSpc>
                <a:spcPct val="150000"/>
              </a:lnSpc>
            </a:pPr>
            <a:r>
              <a:rPr lang="es-AR" sz="2800" b="1" dirty="0">
                <a:solidFill>
                  <a:schemeClr val="dk1"/>
                </a:solidFill>
              </a:rPr>
              <a:t>Una </a:t>
            </a:r>
            <a:r>
              <a:rPr lang="es-AR" sz="2800" b="1" dirty="0" err="1">
                <a:solidFill>
                  <a:schemeClr val="dk1"/>
                </a:solidFill>
              </a:rPr>
              <a:t>Heap</a:t>
            </a:r>
            <a:r>
              <a:rPr lang="es-AR" sz="2800" b="1" dirty="0">
                <a:solidFill>
                  <a:schemeClr val="dk1"/>
                </a:solidFill>
              </a:rPr>
              <a:t> es un árbol binario completo</a:t>
            </a:r>
            <a:r>
              <a:rPr lang="es-ES" sz="2800" b="1" dirty="0">
                <a:solidFill>
                  <a:schemeClr val="dk1"/>
                </a:solidFill>
              </a:rPr>
              <a:t>.</a:t>
            </a:r>
          </a:p>
          <a:p>
            <a:endParaRPr lang="es-AR" dirty="0"/>
          </a:p>
          <a:p>
            <a:pPr marL="457200" indent="-457200" algn="just">
              <a:buFont typeface="Arial" panose="020B0604020202020204" pitchFamily="34" charset="0"/>
              <a:buChar char="•"/>
            </a:pPr>
            <a:r>
              <a:rPr lang="es-AR" sz="2800" dirty="0"/>
              <a:t>En un árbol binario lleno de </a:t>
            </a:r>
            <a:r>
              <a:rPr lang="es-AR" sz="2800" i="1" dirty="0"/>
              <a:t>altura h</a:t>
            </a:r>
            <a:r>
              <a:rPr lang="es-AR" sz="2800" dirty="0"/>
              <a:t>, los nodos internos tienen exactamente 2 hijos y las hojas tienen la misma profundidad</a:t>
            </a:r>
          </a:p>
          <a:p>
            <a:pPr marL="457200" indent="-457200" algn="just">
              <a:buFont typeface="Arial" panose="020B0604020202020204" pitchFamily="34" charset="0"/>
              <a:buChar char="•"/>
            </a:pPr>
            <a:endParaRPr lang="es-AR" sz="2800" dirty="0"/>
          </a:p>
          <a:p>
            <a:pPr marL="457200" indent="-457200" algn="just">
              <a:buFont typeface="Arial" panose="020B0604020202020204" pitchFamily="34" charset="0"/>
              <a:buChar char="•"/>
            </a:pPr>
            <a:r>
              <a:rPr lang="es-AR" sz="2800" dirty="0"/>
              <a:t>Un árbol binario completo de </a:t>
            </a:r>
            <a:r>
              <a:rPr lang="es-AR" sz="2800" i="1" dirty="0"/>
              <a:t>altura h </a:t>
            </a:r>
            <a:r>
              <a:rPr lang="es-AR" sz="2800" dirty="0"/>
              <a:t>es un árbol binario lleno de </a:t>
            </a:r>
            <a:r>
              <a:rPr lang="es-AR" sz="2800" i="1" dirty="0"/>
              <a:t>altura h-1 </a:t>
            </a:r>
            <a:r>
              <a:rPr lang="es-AR" sz="2800" dirty="0"/>
              <a:t>y en el nivel h, los nodos se completan de izquierda a derecha</a:t>
            </a:r>
          </a:p>
          <a:p>
            <a:endParaRPr lang="es-AR" sz="2800" dirty="0"/>
          </a:p>
          <a:p>
            <a:pPr marL="342900" indent="-342900">
              <a:buFont typeface="Arial" panose="020B0604020202020204" pitchFamily="34" charset="0"/>
              <a:buChar char="•"/>
            </a:pPr>
            <a:endParaRPr lang="es-AR" sz="2000" dirty="0">
              <a:solidFill>
                <a:schemeClr val="dk1"/>
              </a:solidFill>
            </a:endParaRPr>
          </a:p>
          <a:p>
            <a:pPr marL="342900" indent="-342900">
              <a:lnSpc>
                <a:spcPct val="150000"/>
              </a:lnSpc>
              <a:buFont typeface="Arial" panose="020B0604020202020204" pitchFamily="34" charset="0"/>
              <a:buChar char="•"/>
            </a:pPr>
            <a:endParaRPr lang="es-AR" sz="2000" dirty="0">
              <a:solidFill>
                <a:schemeClr val="dk1"/>
              </a:solidFill>
            </a:endParaRPr>
          </a:p>
          <a:p>
            <a:pPr marL="342900" indent="-342900">
              <a:lnSpc>
                <a:spcPct val="150000"/>
              </a:lnSpc>
              <a:buFont typeface="Arial" panose="020B0604020202020204" pitchFamily="34" charset="0"/>
              <a:buChar char="•"/>
            </a:pPr>
            <a:endParaRPr lang="es-ES" sz="2000" dirty="0">
              <a:solidFill>
                <a:schemeClr val="dk1"/>
              </a:solidFill>
            </a:endParaRPr>
          </a:p>
          <a:p>
            <a:pPr>
              <a:lnSpc>
                <a:spcPct val="150000"/>
              </a:lnSpc>
            </a:pPr>
            <a:endParaRPr lang="es-ES" sz="1900" dirty="0">
              <a:solidFill>
                <a:schemeClr val="dk1"/>
              </a:solidFill>
            </a:endParaRPr>
          </a:p>
          <a:p>
            <a:pPr>
              <a:lnSpc>
                <a:spcPct val="150000"/>
              </a:lnSpc>
            </a:pPr>
            <a:endParaRPr sz="1900" dirty="0">
              <a:solidFill>
                <a:schemeClr val="dk1"/>
              </a:solidFill>
            </a:endParaRPr>
          </a:p>
        </p:txBody>
      </p:sp>
      <p:sp>
        <p:nvSpPr>
          <p:cNvPr id="207" name="Google Shape;207;p30"/>
          <p:cNvSpPr txBox="1"/>
          <p:nvPr/>
        </p:nvSpPr>
        <p:spPr>
          <a:xfrm>
            <a:off x="1649400" y="346425"/>
            <a:ext cx="5620080" cy="46162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AR" sz="2400" b="1" dirty="0">
                <a:solidFill>
                  <a:schemeClr val="lt1"/>
                </a:solidFill>
              </a:rPr>
              <a:t>Clase 9:  </a:t>
            </a:r>
            <a:r>
              <a:rPr lang="es-AR" sz="2400" b="1" dirty="0" err="1">
                <a:solidFill>
                  <a:schemeClr val="lt1"/>
                </a:solidFill>
              </a:rPr>
              <a:t>Heap</a:t>
            </a:r>
            <a:r>
              <a:rPr lang="es-AR" sz="2400" b="1" dirty="0">
                <a:solidFill>
                  <a:schemeClr val="lt1"/>
                </a:solidFill>
              </a:rPr>
              <a:t> Binaria</a:t>
            </a:r>
            <a:endParaRPr sz="1800" dirty="0">
              <a:solidFill>
                <a:schemeClr val="dk1"/>
              </a:solidFill>
              <a:latin typeface="Calibri"/>
              <a:ea typeface="Calibri"/>
              <a:cs typeface="Calibri"/>
              <a:sym typeface="Calibri"/>
            </a:endParaRPr>
          </a:p>
        </p:txBody>
      </p:sp>
      <p:sp>
        <p:nvSpPr>
          <p:cNvPr id="208" name="Google Shape;208;p30"/>
          <p:cNvSpPr txBox="1"/>
          <p:nvPr/>
        </p:nvSpPr>
        <p:spPr>
          <a:xfrm>
            <a:off x="-6" y="205025"/>
            <a:ext cx="1649400" cy="785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AR" sz="1500" b="1">
                <a:solidFill>
                  <a:schemeClr val="lt1"/>
                </a:solidFill>
              </a:rPr>
              <a:t>ESTRUCTURAS </a:t>
            </a:r>
            <a:endParaRPr sz="1500" b="1">
              <a:solidFill>
                <a:schemeClr val="lt1"/>
              </a:solidFill>
              <a:latin typeface="Arial"/>
              <a:ea typeface="Arial"/>
              <a:cs typeface="Arial"/>
              <a:sym typeface="Arial"/>
            </a:endParaRPr>
          </a:p>
          <a:p>
            <a:pPr marL="0" marR="0" lvl="0" indent="0" algn="l" rtl="0">
              <a:spcBef>
                <a:spcPts val="0"/>
              </a:spcBef>
              <a:spcAft>
                <a:spcPts val="0"/>
              </a:spcAft>
              <a:buNone/>
            </a:pPr>
            <a:r>
              <a:rPr lang="es-AR" sz="1500" b="1">
                <a:solidFill>
                  <a:schemeClr val="lt1"/>
                </a:solidFill>
              </a:rPr>
              <a:t>DE </a:t>
            </a:r>
            <a:endParaRPr sz="1500" b="1">
              <a:solidFill>
                <a:schemeClr val="lt1"/>
              </a:solidFill>
              <a:latin typeface="Arial"/>
              <a:ea typeface="Arial"/>
              <a:cs typeface="Arial"/>
              <a:sym typeface="Arial"/>
            </a:endParaRPr>
          </a:p>
          <a:p>
            <a:pPr marL="0" marR="0" lvl="0" indent="0" algn="l" rtl="0">
              <a:spcBef>
                <a:spcPts val="0"/>
              </a:spcBef>
              <a:spcAft>
                <a:spcPts val="0"/>
              </a:spcAft>
              <a:buNone/>
            </a:pPr>
            <a:r>
              <a:rPr lang="es-AR" sz="1500" b="1">
                <a:solidFill>
                  <a:schemeClr val="lt1"/>
                </a:solidFill>
              </a:rPr>
              <a:t>DATOS</a:t>
            </a:r>
            <a:endParaRPr sz="13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776169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06"/>
                                        </p:tgtEl>
                                        <p:attrNameLst>
                                          <p:attrName>style.visibility</p:attrName>
                                        </p:attrNameLst>
                                      </p:cBhvr>
                                      <p:to>
                                        <p:strVal val="visible"/>
                                      </p:to>
                                    </p:set>
                                    <p:animEffect transition="in" filter="fade">
                                      <p:cBhvr>
                                        <p:cTn id="7" dur="500"/>
                                        <p:tgtEl>
                                          <p:spTgt spid="2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30"/>
          <p:cNvSpPr txBox="1"/>
          <p:nvPr/>
        </p:nvSpPr>
        <p:spPr>
          <a:xfrm>
            <a:off x="156738" y="1421278"/>
            <a:ext cx="8724162" cy="523180"/>
          </a:xfrm>
          <a:prstGeom prst="rect">
            <a:avLst/>
          </a:prstGeom>
          <a:noFill/>
          <a:ln>
            <a:noFill/>
          </a:ln>
        </p:spPr>
        <p:txBody>
          <a:bodyPr spcFirstLastPara="1" wrap="square" lIns="91425" tIns="45700" rIns="91425" bIns="45700" anchor="t" anchorCtr="0">
            <a:spAutoFit/>
          </a:bodyPr>
          <a:lstStyle/>
          <a:p>
            <a:pPr lvl="0"/>
            <a:r>
              <a:rPr lang="es-AR" sz="2800" b="1" dirty="0">
                <a:solidFill>
                  <a:srgbClr val="538CD5"/>
                </a:solidFill>
              </a:rPr>
              <a:t> Propiedad Estructural:</a:t>
            </a:r>
            <a:endParaRPr sz="2800" b="1" dirty="0">
              <a:solidFill>
                <a:srgbClr val="538CD5"/>
              </a:solidFill>
            </a:endParaRPr>
          </a:p>
        </p:txBody>
      </p:sp>
      <p:pic>
        <p:nvPicPr>
          <p:cNvPr id="205" name="Google Shape;205;p30"/>
          <p:cNvPicPr preferRelativeResize="0"/>
          <p:nvPr/>
        </p:nvPicPr>
        <p:blipFill rotWithShape="1">
          <a:blip r:embed="rId3">
            <a:alphaModFix/>
          </a:blip>
          <a:srcRect/>
          <a:stretch/>
        </p:blipFill>
        <p:spPr>
          <a:xfrm>
            <a:off x="0" y="1580"/>
            <a:ext cx="9144000" cy="1171495"/>
          </a:xfrm>
          <a:prstGeom prst="rect">
            <a:avLst/>
          </a:prstGeom>
          <a:noFill/>
          <a:ln>
            <a:noFill/>
          </a:ln>
        </p:spPr>
      </p:pic>
      <p:sp>
        <p:nvSpPr>
          <p:cNvPr id="207" name="Google Shape;207;p30"/>
          <p:cNvSpPr txBox="1"/>
          <p:nvPr/>
        </p:nvSpPr>
        <p:spPr>
          <a:xfrm>
            <a:off x="1649400" y="346425"/>
            <a:ext cx="5620080" cy="46162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AR" sz="2400" b="1" dirty="0">
                <a:solidFill>
                  <a:schemeClr val="lt1"/>
                </a:solidFill>
              </a:rPr>
              <a:t>Clase 9:  </a:t>
            </a:r>
            <a:r>
              <a:rPr lang="es-AR" sz="2400" b="1" dirty="0" err="1">
                <a:solidFill>
                  <a:schemeClr val="lt1"/>
                </a:solidFill>
              </a:rPr>
              <a:t>Heap</a:t>
            </a:r>
            <a:r>
              <a:rPr lang="es-AR" sz="2400" b="1" dirty="0">
                <a:solidFill>
                  <a:schemeClr val="lt1"/>
                </a:solidFill>
              </a:rPr>
              <a:t> Binaria</a:t>
            </a:r>
            <a:endParaRPr sz="1800" dirty="0">
              <a:solidFill>
                <a:schemeClr val="dk1"/>
              </a:solidFill>
              <a:latin typeface="Calibri"/>
              <a:ea typeface="Calibri"/>
              <a:cs typeface="Calibri"/>
              <a:sym typeface="Calibri"/>
            </a:endParaRPr>
          </a:p>
        </p:txBody>
      </p:sp>
      <p:sp>
        <p:nvSpPr>
          <p:cNvPr id="208" name="Google Shape;208;p30"/>
          <p:cNvSpPr txBox="1"/>
          <p:nvPr/>
        </p:nvSpPr>
        <p:spPr>
          <a:xfrm>
            <a:off x="-6" y="205025"/>
            <a:ext cx="1649400" cy="785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AR" sz="1500" b="1">
                <a:solidFill>
                  <a:schemeClr val="lt1"/>
                </a:solidFill>
              </a:rPr>
              <a:t>ESTRUCTURAS </a:t>
            </a:r>
            <a:endParaRPr sz="1500" b="1">
              <a:solidFill>
                <a:schemeClr val="lt1"/>
              </a:solidFill>
              <a:latin typeface="Arial"/>
              <a:ea typeface="Arial"/>
              <a:cs typeface="Arial"/>
              <a:sym typeface="Arial"/>
            </a:endParaRPr>
          </a:p>
          <a:p>
            <a:pPr marL="0" marR="0" lvl="0" indent="0" algn="l" rtl="0">
              <a:spcBef>
                <a:spcPts val="0"/>
              </a:spcBef>
              <a:spcAft>
                <a:spcPts val="0"/>
              </a:spcAft>
              <a:buNone/>
            </a:pPr>
            <a:r>
              <a:rPr lang="es-AR" sz="1500" b="1">
                <a:solidFill>
                  <a:schemeClr val="lt1"/>
                </a:solidFill>
              </a:rPr>
              <a:t>DE </a:t>
            </a:r>
            <a:endParaRPr sz="1500" b="1">
              <a:solidFill>
                <a:schemeClr val="lt1"/>
              </a:solidFill>
              <a:latin typeface="Arial"/>
              <a:ea typeface="Arial"/>
              <a:cs typeface="Arial"/>
              <a:sym typeface="Arial"/>
            </a:endParaRPr>
          </a:p>
          <a:p>
            <a:pPr marL="0" marR="0" lvl="0" indent="0" algn="l" rtl="0">
              <a:spcBef>
                <a:spcPts val="0"/>
              </a:spcBef>
              <a:spcAft>
                <a:spcPts val="0"/>
              </a:spcAft>
              <a:buNone/>
            </a:pPr>
            <a:r>
              <a:rPr lang="es-AR" sz="1500" b="1">
                <a:solidFill>
                  <a:schemeClr val="lt1"/>
                </a:solidFill>
              </a:rPr>
              <a:t>DATOS</a:t>
            </a:r>
            <a:endParaRPr sz="1300">
              <a:solidFill>
                <a:schemeClr val="dk1"/>
              </a:solidFill>
              <a:latin typeface="Calibri"/>
              <a:ea typeface="Calibri"/>
              <a:cs typeface="Calibri"/>
              <a:sym typeface="Calibri"/>
            </a:endParaRPr>
          </a:p>
        </p:txBody>
      </p:sp>
      <p:pic>
        <p:nvPicPr>
          <p:cNvPr id="3" name="Imagen 2"/>
          <p:cNvPicPr>
            <a:picLocks noChangeAspect="1"/>
          </p:cNvPicPr>
          <p:nvPr/>
        </p:nvPicPr>
        <p:blipFill>
          <a:blip r:embed="rId4"/>
          <a:stretch>
            <a:fillRect/>
          </a:stretch>
        </p:blipFill>
        <p:spPr>
          <a:xfrm>
            <a:off x="5605106" y="1461756"/>
            <a:ext cx="3394182" cy="2433877"/>
          </a:xfrm>
          <a:prstGeom prst="rect">
            <a:avLst/>
          </a:prstGeom>
        </p:spPr>
      </p:pic>
      <p:pic>
        <p:nvPicPr>
          <p:cNvPr id="4" name="Imagen 3"/>
          <p:cNvPicPr>
            <a:picLocks noChangeAspect="1"/>
          </p:cNvPicPr>
          <p:nvPr/>
        </p:nvPicPr>
        <p:blipFill>
          <a:blip r:embed="rId5"/>
          <a:stretch>
            <a:fillRect/>
          </a:stretch>
        </p:blipFill>
        <p:spPr>
          <a:xfrm>
            <a:off x="5820388" y="4184314"/>
            <a:ext cx="3178900" cy="2624863"/>
          </a:xfrm>
          <a:prstGeom prst="rect">
            <a:avLst/>
          </a:prstGeom>
        </p:spPr>
      </p:pic>
      <p:sp>
        <p:nvSpPr>
          <p:cNvPr id="5" name="CuadroTexto 4"/>
          <p:cNvSpPr txBox="1"/>
          <p:nvPr/>
        </p:nvSpPr>
        <p:spPr>
          <a:xfrm>
            <a:off x="206302" y="1828800"/>
            <a:ext cx="5828738" cy="5109091"/>
          </a:xfrm>
          <a:prstGeom prst="rect">
            <a:avLst/>
          </a:prstGeom>
          <a:noFill/>
        </p:spPr>
        <p:txBody>
          <a:bodyPr wrap="square" rtlCol="0">
            <a:spAutoFit/>
          </a:bodyPr>
          <a:lstStyle/>
          <a:p>
            <a:endParaRPr lang="es-AR" dirty="0"/>
          </a:p>
          <a:p>
            <a:r>
              <a:rPr lang="es-AR" sz="2400" dirty="0"/>
              <a:t>El número de nodos </a:t>
            </a:r>
            <a:r>
              <a:rPr lang="es-AR" sz="2400" b="1" i="1" dirty="0"/>
              <a:t>n</a:t>
            </a:r>
            <a:r>
              <a:rPr lang="es-AR" sz="2400" i="1" dirty="0"/>
              <a:t> </a:t>
            </a:r>
            <a:r>
              <a:rPr lang="es-AR" sz="2400" dirty="0"/>
              <a:t>de un árbol binario completo de altura </a:t>
            </a:r>
            <a:r>
              <a:rPr lang="es-AR" sz="2400" b="1" i="1" dirty="0"/>
              <a:t>h</a:t>
            </a:r>
            <a:r>
              <a:rPr lang="es-AR" sz="2400" dirty="0"/>
              <a:t>, satisface:</a:t>
            </a:r>
          </a:p>
          <a:p>
            <a:pPr algn="ctr"/>
            <a:r>
              <a:rPr lang="es-AR" sz="2400" b="1" dirty="0"/>
              <a:t>2</a:t>
            </a:r>
            <a:r>
              <a:rPr lang="es-AR" sz="2400" b="1" baseline="30000" dirty="0"/>
              <a:t>h</a:t>
            </a:r>
            <a:r>
              <a:rPr lang="es-AR" sz="2400" b="1" dirty="0"/>
              <a:t> ≤ </a:t>
            </a:r>
            <a:r>
              <a:rPr lang="es-AR" sz="2400" b="1" i="1" dirty="0"/>
              <a:t>n </a:t>
            </a:r>
            <a:r>
              <a:rPr lang="es-AR" sz="2400" b="1" dirty="0"/>
              <a:t>≤ (2</a:t>
            </a:r>
            <a:r>
              <a:rPr lang="es-AR" sz="2400" b="1" baseline="30000" dirty="0"/>
              <a:t>h+1</a:t>
            </a:r>
            <a:r>
              <a:rPr lang="es-AR" sz="2400" b="1" dirty="0"/>
              <a:t>-1)</a:t>
            </a:r>
          </a:p>
          <a:p>
            <a:endParaRPr lang="es-AR" sz="2400" dirty="0"/>
          </a:p>
          <a:p>
            <a:pPr marL="285750" indent="-285750">
              <a:buFont typeface="Arial" panose="020B0604020202020204" pitchFamily="34" charset="0"/>
              <a:buChar char="•"/>
            </a:pPr>
            <a:r>
              <a:rPr lang="es-AR" sz="2400" dirty="0"/>
              <a:t>Si el árbol es lleno, </a:t>
            </a:r>
            <a:r>
              <a:rPr lang="es-AR" sz="2400" b="1" dirty="0"/>
              <a:t>n= 2</a:t>
            </a:r>
            <a:r>
              <a:rPr lang="es-AR" sz="2400" b="1" baseline="30000" dirty="0"/>
              <a:t>h+1</a:t>
            </a:r>
            <a:r>
              <a:rPr lang="es-AR" sz="2400" b="1" dirty="0"/>
              <a:t>-1</a:t>
            </a:r>
          </a:p>
          <a:p>
            <a:endParaRPr lang="es-AR" sz="2400" dirty="0"/>
          </a:p>
          <a:p>
            <a:pPr marL="285750" indent="-285750">
              <a:buFont typeface="Arial" panose="020B0604020202020204" pitchFamily="34" charset="0"/>
              <a:buChar char="•"/>
            </a:pPr>
            <a:r>
              <a:rPr lang="es-AR" sz="2400" dirty="0"/>
              <a:t>Si no, el árbol es lleno en la altura h-1 y tiene por lo menos un nodo en el nivel h:</a:t>
            </a:r>
          </a:p>
          <a:p>
            <a:pPr algn="ctr"/>
            <a:r>
              <a:rPr lang="es-AR" sz="2400" b="1" dirty="0"/>
              <a:t>n= 2</a:t>
            </a:r>
            <a:r>
              <a:rPr lang="es-AR" sz="2400" b="1" baseline="30000" dirty="0"/>
              <a:t>h-1+1</a:t>
            </a:r>
            <a:r>
              <a:rPr lang="es-AR" sz="2400" b="1" dirty="0"/>
              <a:t>-1+1=2h</a:t>
            </a:r>
          </a:p>
          <a:p>
            <a:pPr algn="ctr"/>
            <a:endParaRPr lang="es-AR" sz="2400" b="1" dirty="0"/>
          </a:p>
          <a:p>
            <a:r>
              <a:rPr lang="es-AR" sz="2400" dirty="0"/>
              <a:t>La altura h del árbol es de </a:t>
            </a:r>
            <a:r>
              <a:rPr lang="es-AR" sz="2400" b="1" dirty="0"/>
              <a:t>O(log n)</a:t>
            </a:r>
          </a:p>
          <a:p>
            <a:endParaRPr lang="es-AR" sz="2400" dirty="0"/>
          </a:p>
        </p:txBody>
      </p:sp>
    </p:spTree>
    <p:extLst>
      <p:ext uri="{BB962C8B-B14F-4D97-AF65-F5344CB8AC3E}">
        <p14:creationId xmlns:p14="http://schemas.microsoft.com/office/powerpoint/2010/main" val="12650764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30"/>
          <p:cNvSpPr txBox="1"/>
          <p:nvPr/>
        </p:nvSpPr>
        <p:spPr>
          <a:xfrm>
            <a:off x="156738" y="1421278"/>
            <a:ext cx="8724162" cy="523180"/>
          </a:xfrm>
          <a:prstGeom prst="rect">
            <a:avLst/>
          </a:prstGeom>
          <a:noFill/>
          <a:ln>
            <a:noFill/>
          </a:ln>
        </p:spPr>
        <p:txBody>
          <a:bodyPr spcFirstLastPara="1" wrap="square" lIns="91425" tIns="45700" rIns="91425" bIns="45700" anchor="t" anchorCtr="0">
            <a:spAutoFit/>
          </a:bodyPr>
          <a:lstStyle/>
          <a:p>
            <a:pPr lvl="0"/>
            <a:r>
              <a:rPr lang="es-AR" sz="2800" b="1" dirty="0">
                <a:solidFill>
                  <a:srgbClr val="538CD5"/>
                </a:solidFill>
              </a:rPr>
              <a:t> Propiedad Estructural:</a:t>
            </a:r>
            <a:endParaRPr sz="2800" b="1" dirty="0">
              <a:solidFill>
                <a:srgbClr val="538CD5"/>
              </a:solidFill>
            </a:endParaRPr>
          </a:p>
        </p:txBody>
      </p:sp>
      <p:pic>
        <p:nvPicPr>
          <p:cNvPr id="205" name="Google Shape;205;p30"/>
          <p:cNvPicPr preferRelativeResize="0"/>
          <p:nvPr/>
        </p:nvPicPr>
        <p:blipFill rotWithShape="1">
          <a:blip r:embed="rId3">
            <a:alphaModFix/>
          </a:blip>
          <a:srcRect/>
          <a:stretch/>
        </p:blipFill>
        <p:spPr>
          <a:xfrm>
            <a:off x="0" y="1580"/>
            <a:ext cx="9144000" cy="1171495"/>
          </a:xfrm>
          <a:prstGeom prst="rect">
            <a:avLst/>
          </a:prstGeom>
          <a:noFill/>
          <a:ln>
            <a:noFill/>
          </a:ln>
        </p:spPr>
      </p:pic>
      <p:sp>
        <p:nvSpPr>
          <p:cNvPr id="207" name="Google Shape;207;p30"/>
          <p:cNvSpPr txBox="1"/>
          <p:nvPr/>
        </p:nvSpPr>
        <p:spPr>
          <a:xfrm>
            <a:off x="1649400" y="346425"/>
            <a:ext cx="5620080" cy="46162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AR" sz="2400" b="1" dirty="0">
                <a:solidFill>
                  <a:schemeClr val="lt1"/>
                </a:solidFill>
              </a:rPr>
              <a:t>Clase 9:  </a:t>
            </a:r>
            <a:r>
              <a:rPr lang="es-AR" sz="2400" b="1" dirty="0" err="1">
                <a:solidFill>
                  <a:schemeClr val="lt1"/>
                </a:solidFill>
              </a:rPr>
              <a:t>Heap</a:t>
            </a:r>
            <a:r>
              <a:rPr lang="es-AR" sz="2400" b="1" dirty="0">
                <a:solidFill>
                  <a:schemeClr val="lt1"/>
                </a:solidFill>
              </a:rPr>
              <a:t> Binaria</a:t>
            </a:r>
            <a:endParaRPr sz="1800" dirty="0">
              <a:solidFill>
                <a:schemeClr val="dk1"/>
              </a:solidFill>
              <a:latin typeface="Calibri"/>
              <a:ea typeface="Calibri"/>
              <a:cs typeface="Calibri"/>
              <a:sym typeface="Calibri"/>
            </a:endParaRPr>
          </a:p>
        </p:txBody>
      </p:sp>
      <p:sp>
        <p:nvSpPr>
          <p:cNvPr id="208" name="Google Shape;208;p30"/>
          <p:cNvSpPr txBox="1"/>
          <p:nvPr/>
        </p:nvSpPr>
        <p:spPr>
          <a:xfrm>
            <a:off x="-6" y="205025"/>
            <a:ext cx="1649400" cy="785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AR" sz="1500" b="1">
                <a:solidFill>
                  <a:schemeClr val="lt1"/>
                </a:solidFill>
              </a:rPr>
              <a:t>ESTRUCTURAS </a:t>
            </a:r>
            <a:endParaRPr sz="1500" b="1">
              <a:solidFill>
                <a:schemeClr val="lt1"/>
              </a:solidFill>
              <a:latin typeface="Arial"/>
              <a:ea typeface="Arial"/>
              <a:cs typeface="Arial"/>
              <a:sym typeface="Arial"/>
            </a:endParaRPr>
          </a:p>
          <a:p>
            <a:pPr marL="0" marR="0" lvl="0" indent="0" algn="l" rtl="0">
              <a:spcBef>
                <a:spcPts val="0"/>
              </a:spcBef>
              <a:spcAft>
                <a:spcPts val="0"/>
              </a:spcAft>
              <a:buNone/>
            </a:pPr>
            <a:r>
              <a:rPr lang="es-AR" sz="1500" b="1">
                <a:solidFill>
                  <a:schemeClr val="lt1"/>
                </a:solidFill>
              </a:rPr>
              <a:t>DE </a:t>
            </a:r>
            <a:endParaRPr sz="1500" b="1">
              <a:solidFill>
                <a:schemeClr val="lt1"/>
              </a:solidFill>
              <a:latin typeface="Arial"/>
              <a:ea typeface="Arial"/>
              <a:cs typeface="Arial"/>
              <a:sym typeface="Arial"/>
            </a:endParaRPr>
          </a:p>
          <a:p>
            <a:pPr marL="0" marR="0" lvl="0" indent="0" algn="l" rtl="0">
              <a:spcBef>
                <a:spcPts val="0"/>
              </a:spcBef>
              <a:spcAft>
                <a:spcPts val="0"/>
              </a:spcAft>
              <a:buNone/>
            </a:pPr>
            <a:r>
              <a:rPr lang="es-AR" sz="1500" b="1">
                <a:solidFill>
                  <a:schemeClr val="lt1"/>
                </a:solidFill>
              </a:rPr>
              <a:t>DATOS</a:t>
            </a:r>
            <a:endParaRPr sz="1300">
              <a:solidFill>
                <a:schemeClr val="dk1"/>
              </a:solidFill>
              <a:latin typeface="Calibri"/>
              <a:ea typeface="Calibri"/>
              <a:cs typeface="Calibri"/>
              <a:sym typeface="Calibri"/>
            </a:endParaRPr>
          </a:p>
        </p:txBody>
      </p:sp>
      <p:sp>
        <p:nvSpPr>
          <p:cNvPr id="5" name="CuadroTexto 4"/>
          <p:cNvSpPr txBox="1"/>
          <p:nvPr/>
        </p:nvSpPr>
        <p:spPr>
          <a:xfrm>
            <a:off x="234701" y="1517920"/>
            <a:ext cx="8674598" cy="5201424"/>
          </a:xfrm>
          <a:prstGeom prst="rect">
            <a:avLst/>
          </a:prstGeom>
          <a:noFill/>
        </p:spPr>
        <p:txBody>
          <a:bodyPr wrap="square" rtlCol="0">
            <a:spAutoFit/>
          </a:bodyPr>
          <a:lstStyle/>
          <a:p>
            <a:endParaRPr lang="es-AR" dirty="0"/>
          </a:p>
          <a:p>
            <a:endParaRPr lang="es-AR" dirty="0"/>
          </a:p>
          <a:p>
            <a:pPr algn="just"/>
            <a:r>
              <a:rPr lang="es-AR" sz="2400" dirty="0"/>
              <a:t>Dado que un árbol binario completo es una estructura de datos regular, puede almacenarse en un arreglo, tal que:</a:t>
            </a:r>
          </a:p>
          <a:p>
            <a:endParaRPr lang="es-AR" sz="2400" dirty="0"/>
          </a:p>
          <a:p>
            <a:endParaRPr lang="es-AR" dirty="0"/>
          </a:p>
          <a:p>
            <a:pPr marL="342900" indent="-342900">
              <a:buFont typeface="Arial" panose="020B0604020202020204" pitchFamily="34" charset="0"/>
              <a:buChar char="•"/>
            </a:pPr>
            <a:r>
              <a:rPr lang="es-AR" sz="2400" dirty="0"/>
              <a:t>La raíz está almacenada en la posición 1</a:t>
            </a:r>
          </a:p>
          <a:p>
            <a:endParaRPr lang="es-AR" dirty="0"/>
          </a:p>
          <a:p>
            <a:pPr marL="342900" indent="-342900">
              <a:buFont typeface="Arial" panose="020B0604020202020204" pitchFamily="34" charset="0"/>
              <a:buChar char="•"/>
            </a:pPr>
            <a:r>
              <a:rPr lang="es-AR" sz="2400" dirty="0"/>
              <a:t>Para un elemento que está en la posición i: </a:t>
            </a:r>
          </a:p>
          <a:p>
            <a:pPr algn="just">
              <a:lnSpc>
                <a:spcPct val="150000"/>
              </a:lnSpc>
            </a:pPr>
            <a:r>
              <a:rPr lang="es-AR" sz="2400" dirty="0"/>
              <a:t>	El hijo izquierdo está en la posición 2*i</a:t>
            </a:r>
          </a:p>
          <a:p>
            <a:pPr>
              <a:lnSpc>
                <a:spcPct val="150000"/>
              </a:lnSpc>
            </a:pPr>
            <a:r>
              <a:rPr lang="es-AR" sz="2400" dirty="0"/>
              <a:t>	El hijo derecho está en la posición 2*i+1</a:t>
            </a:r>
          </a:p>
          <a:p>
            <a:pPr>
              <a:lnSpc>
                <a:spcPct val="150000"/>
              </a:lnSpc>
            </a:pPr>
            <a:r>
              <a:rPr lang="es-AR" sz="2400" dirty="0"/>
              <a:t>	El padre está en la posición [i/2]</a:t>
            </a:r>
          </a:p>
          <a:p>
            <a:endParaRPr lang="es-AR" sz="2400" b="1" dirty="0"/>
          </a:p>
          <a:p>
            <a:endParaRPr lang="es-AR" sz="2400" dirty="0"/>
          </a:p>
        </p:txBody>
      </p:sp>
    </p:spTree>
    <p:extLst>
      <p:ext uri="{BB962C8B-B14F-4D97-AF65-F5344CB8AC3E}">
        <p14:creationId xmlns:p14="http://schemas.microsoft.com/office/powerpoint/2010/main" val="2312926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30"/>
          <p:cNvSpPr txBox="1"/>
          <p:nvPr/>
        </p:nvSpPr>
        <p:spPr>
          <a:xfrm>
            <a:off x="156738" y="1421278"/>
            <a:ext cx="8724162" cy="523180"/>
          </a:xfrm>
          <a:prstGeom prst="rect">
            <a:avLst/>
          </a:prstGeom>
          <a:noFill/>
          <a:ln>
            <a:noFill/>
          </a:ln>
        </p:spPr>
        <p:txBody>
          <a:bodyPr spcFirstLastPara="1" wrap="square" lIns="91425" tIns="45700" rIns="91425" bIns="45700" anchor="t" anchorCtr="0">
            <a:spAutoFit/>
          </a:bodyPr>
          <a:lstStyle/>
          <a:p>
            <a:pPr lvl="0"/>
            <a:r>
              <a:rPr lang="es-AR" sz="2800" b="1" dirty="0">
                <a:solidFill>
                  <a:srgbClr val="538CD5"/>
                </a:solidFill>
              </a:rPr>
              <a:t> Propiedad Estructural:</a:t>
            </a:r>
            <a:endParaRPr sz="2800" b="1" dirty="0">
              <a:solidFill>
                <a:srgbClr val="538CD5"/>
              </a:solidFill>
            </a:endParaRPr>
          </a:p>
        </p:txBody>
      </p:sp>
      <p:pic>
        <p:nvPicPr>
          <p:cNvPr id="205" name="Google Shape;205;p30"/>
          <p:cNvPicPr preferRelativeResize="0"/>
          <p:nvPr/>
        </p:nvPicPr>
        <p:blipFill rotWithShape="1">
          <a:blip r:embed="rId3">
            <a:alphaModFix/>
          </a:blip>
          <a:srcRect/>
          <a:stretch/>
        </p:blipFill>
        <p:spPr>
          <a:xfrm>
            <a:off x="0" y="1580"/>
            <a:ext cx="9144000" cy="1171495"/>
          </a:xfrm>
          <a:prstGeom prst="rect">
            <a:avLst/>
          </a:prstGeom>
          <a:noFill/>
          <a:ln>
            <a:noFill/>
          </a:ln>
        </p:spPr>
      </p:pic>
      <p:sp>
        <p:nvSpPr>
          <p:cNvPr id="207" name="Google Shape;207;p30"/>
          <p:cNvSpPr txBox="1"/>
          <p:nvPr/>
        </p:nvSpPr>
        <p:spPr>
          <a:xfrm>
            <a:off x="1649400" y="346425"/>
            <a:ext cx="5620080" cy="46162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AR" sz="2400" b="1" dirty="0">
                <a:solidFill>
                  <a:schemeClr val="lt1"/>
                </a:solidFill>
              </a:rPr>
              <a:t>Clase 9:  </a:t>
            </a:r>
            <a:r>
              <a:rPr lang="es-AR" sz="2400" b="1" dirty="0" err="1">
                <a:solidFill>
                  <a:schemeClr val="lt1"/>
                </a:solidFill>
              </a:rPr>
              <a:t>Heap</a:t>
            </a:r>
            <a:r>
              <a:rPr lang="es-AR" sz="2400" b="1" dirty="0">
                <a:solidFill>
                  <a:schemeClr val="lt1"/>
                </a:solidFill>
              </a:rPr>
              <a:t> Binaria</a:t>
            </a:r>
            <a:endParaRPr sz="1800" dirty="0">
              <a:solidFill>
                <a:schemeClr val="dk1"/>
              </a:solidFill>
              <a:latin typeface="Calibri"/>
              <a:ea typeface="Calibri"/>
              <a:cs typeface="Calibri"/>
              <a:sym typeface="Calibri"/>
            </a:endParaRPr>
          </a:p>
        </p:txBody>
      </p:sp>
      <p:sp>
        <p:nvSpPr>
          <p:cNvPr id="208" name="Google Shape;208;p30"/>
          <p:cNvSpPr txBox="1"/>
          <p:nvPr/>
        </p:nvSpPr>
        <p:spPr>
          <a:xfrm>
            <a:off x="-6" y="205025"/>
            <a:ext cx="1649400" cy="785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AR" sz="1500" b="1">
                <a:solidFill>
                  <a:schemeClr val="lt1"/>
                </a:solidFill>
              </a:rPr>
              <a:t>ESTRUCTURAS </a:t>
            </a:r>
            <a:endParaRPr sz="1500" b="1">
              <a:solidFill>
                <a:schemeClr val="lt1"/>
              </a:solidFill>
              <a:latin typeface="Arial"/>
              <a:ea typeface="Arial"/>
              <a:cs typeface="Arial"/>
              <a:sym typeface="Arial"/>
            </a:endParaRPr>
          </a:p>
          <a:p>
            <a:pPr marL="0" marR="0" lvl="0" indent="0" algn="l" rtl="0">
              <a:spcBef>
                <a:spcPts val="0"/>
              </a:spcBef>
              <a:spcAft>
                <a:spcPts val="0"/>
              </a:spcAft>
              <a:buNone/>
            </a:pPr>
            <a:r>
              <a:rPr lang="es-AR" sz="1500" b="1">
                <a:solidFill>
                  <a:schemeClr val="lt1"/>
                </a:solidFill>
              </a:rPr>
              <a:t>DE </a:t>
            </a:r>
            <a:endParaRPr sz="1500" b="1">
              <a:solidFill>
                <a:schemeClr val="lt1"/>
              </a:solidFill>
              <a:latin typeface="Arial"/>
              <a:ea typeface="Arial"/>
              <a:cs typeface="Arial"/>
              <a:sym typeface="Arial"/>
            </a:endParaRPr>
          </a:p>
          <a:p>
            <a:pPr marL="0" marR="0" lvl="0" indent="0" algn="l" rtl="0">
              <a:spcBef>
                <a:spcPts val="0"/>
              </a:spcBef>
              <a:spcAft>
                <a:spcPts val="0"/>
              </a:spcAft>
              <a:buNone/>
            </a:pPr>
            <a:r>
              <a:rPr lang="es-AR" sz="1500" b="1">
                <a:solidFill>
                  <a:schemeClr val="lt1"/>
                </a:solidFill>
              </a:rPr>
              <a:t>DATOS</a:t>
            </a:r>
            <a:endParaRPr sz="1300">
              <a:solidFill>
                <a:schemeClr val="dk1"/>
              </a:solidFill>
              <a:latin typeface="Calibri"/>
              <a:ea typeface="Calibri"/>
              <a:cs typeface="Calibri"/>
              <a:sym typeface="Calibri"/>
            </a:endParaRPr>
          </a:p>
        </p:txBody>
      </p:sp>
      <p:sp>
        <p:nvSpPr>
          <p:cNvPr id="5" name="CuadroTexto 4"/>
          <p:cNvSpPr txBox="1"/>
          <p:nvPr/>
        </p:nvSpPr>
        <p:spPr>
          <a:xfrm>
            <a:off x="234701" y="1517920"/>
            <a:ext cx="8674598" cy="523220"/>
          </a:xfrm>
          <a:prstGeom prst="rect">
            <a:avLst/>
          </a:prstGeom>
          <a:noFill/>
        </p:spPr>
        <p:txBody>
          <a:bodyPr wrap="square" rtlCol="0">
            <a:spAutoFit/>
          </a:bodyPr>
          <a:lstStyle/>
          <a:p>
            <a:endParaRPr lang="es-AR" dirty="0"/>
          </a:p>
          <a:p>
            <a:endParaRPr lang="es-AR" dirty="0"/>
          </a:p>
        </p:txBody>
      </p:sp>
      <p:pic>
        <p:nvPicPr>
          <p:cNvPr id="2" name="Imagen 1"/>
          <p:cNvPicPr>
            <a:picLocks noChangeAspect="1"/>
          </p:cNvPicPr>
          <p:nvPr/>
        </p:nvPicPr>
        <p:blipFill>
          <a:blip r:embed="rId4"/>
          <a:stretch>
            <a:fillRect/>
          </a:stretch>
        </p:blipFill>
        <p:spPr>
          <a:xfrm>
            <a:off x="156738" y="2140670"/>
            <a:ext cx="5934075" cy="3724275"/>
          </a:xfrm>
          <a:prstGeom prst="rect">
            <a:avLst/>
          </a:prstGeom>
        </p:spPr>
      </p:pic>
      <p:pic>
        <p:nvPicPr>
          <p:cNvPr id="3" name="Imagen 2"/>
          <p:cNvPicPr>
            <a:picLocks noChangeAspect="1"/>
          </p:cNvPicPr>
          <p:nvPr/>
        </p:nvPicPr>
        <p:blipFill>
          <a:blip r:embed="rId5"/>
          <a:stretch>
            <a:fillRect/>
          </a:stretch>
        </p:blipFill>
        <p:spPr>
          <a:xfrm>
            <a:off x="3550920" y="5478780"/>
            <a:ext cx="5593080" cy="990600"/>
          </a:xfrm>
          <a:prstGeom prst="rect">
            <a:avLst/>
          </a:prstGeom>
        </p:spPr>
      </p:pic>
      <p:sp>
        <p:nvSpPr>
          <p:cNvPr id="4" name="CuadroTexto 3"/>
          <p:cNvSpPr txBox="1"/>
          <p:nvPr/>
        </p:nvSpPr>
        <p:spPr>
          <a:xfrm>
            <a:off x="5024013" y="2237352"/>
            <a:ext cx="3147015" cy="369332"/>
          </a:xfrm>
          <a:prstGeom prst="rect">
            <a:avLst/>
          </a:prstGeom>
          <a:noFill/>
        </p:spPr>
        <p:txBody>
          <a:bodyPr wrap="none" rtlCol="0">
            <a:spAutoFit/>
          </a:bodyPr>
          <a:lstStyle/>
          <a:p>
            <a:r>
              <a:rPr lang="es-AR" sz="1800" dirty="0"/>
              <a:t>Árbol ordenado en una </a:t>
            </a:r>
            <a:r>
              <a:rPr lang="es-AR" sz="1800" dirty="0" err="1"/>
              <a:t>Heap</a:t>
            </a:r>
            <a:endParaRPr lang="es-AR" sz="1800" dirty="0"/>
          </a:p>
        </p:txBody>
      </p:sp>
    </p:spTree>
    <p:extLst>
      <p:ext uri="{BB962C8B-B14F-4D97-AF65-F5344CB8AC3E}">
        <p14:creationId xmlns:p14="http://schemas.microsoft.com/office/powerpoint/2010/main" val="19034232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30"/>
          <p:cNvSpPr txBox="1"/>
          <p:nvPr/>
        </p:nvSpPr>
        <p:spPr>
          <a:xfrm>
            <a:off x="156738" y="1421278"/>
            <a:ext cx="8724162" cy="523180"/>
          </a:xfrm>
          <a:prstGeom prst="rect">
            <a:avLst/>
          </a:prstGeom>
          <a:noFill/>
          <a:ln>
            <a:noFill/>
          </a:ln>
        </p:spPr>
        <p:txBody>
          <a:bodyPr spcFirstLastPara="1" wrap="square" lIns="91425" tIns="45700" rIns="91425" bIns="45700" anchor="t" anchorCtr="0">
            <a:spAutoFit/>
          </a:bodyPr>
          <a:lstStyle/>
          <a:p>
            <a:pPr lvl="0"/>
            <a:r>
              <a:rPr lang="es-AR" sz="2800" b="1" dirty="0">
                <a:solidFill>
                  <a:srgbClr val="538CD5"/>
                </a:solidFill>
              </a:rPr>
              <a:t> Operaciones:</a:t>
            </a:r>
            <a:endParaRPr sz="2800" b="1" dirty="0">
              <a:solidFill>
                <a:srgbClr val="538CD5"/>
              </a:solidFill>
            </a:endParaRPr>
          </a:p>
        </p:txBody>
      </p:sp>
      <p:pic>
        <p:nvPicPr>
          <p:cNvPr id="205" name="Google Shape;205;p30"/>
          <p:cNvPicPr preferRelativeResize="0"/>
          <p:nvPr/>
        </p:nvPicPr>
        <p:blipFill rotWithShape="1">
          <a:blip r:embed="rId3">
            <a:alphaModFix/>
          </a:blip>
          <a:srcRect/>
          <a:stretch/>
        </p:blipFill>
        <p:spPr>
          <a:xfrm>
            <a:off x="0" y="1580"/>
            <a:ext cx="9144000" cy="1171495"/>
          </a:xfrm>
          <a:prstGeom prst="rect">
            <a:avLst/>
          </a:prstGeom>
          <a:noFill/>
          <a:ln>
            <a:noFill/>
          </a:ln>
        </p:spPr>
      </p:pic>
      <p:sp>
        <p:nvSpPr>
          <p:cNvPr id="207" name="Google Shape;207;p30"/>
          <p:cNvSpPr txBox="1"/>
          <p:nvPr/>
        </p:nvSpPr>
        <p:spPr>
          <a:xfrm>
            <a:off x="1649400" y="346425"/>
            <a:ext cx="5620080" cy="46162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AR" sz="2400" b="1" dirty="0">
                <a:solidFill>
                  <a:schemeClr val="lt1"/>
                </a:solidFill>
              </a:rPr>
              <a:t>Clase 9:  </a:t>
            </a:r>
            <a:r>
              <a:rPr lang="es-AR" sz="2400" b="1" dirty="0" err="1">
                <a:solidFill>
                  <a:schemeClr val="lt1"/>
                </a:solidFill>
              </a:rPr>
              <a:t>Heap</a:t>
            </a:r>
            <a:r>
              <a:rPr lang="es-AR" sz="2400" b="1" dirty="0">
                <a:solidFill>
                  <a:schemeClr val="lt1"/>
                </a:solidFill>
              </a:rPr>
              <a:t> Binaria</a:t>
            </a:r>
            <a:endParaRPr sz="1800" dirty="0">
              <a:solidFill>
                <a:schemeClr val="dk1"/>
              </a:solidFill>
              <a:latin typeface="Calibri"/>
              <a:ea typeface="Calibri"/>
              <a:cs typeface="Calibri"/>
              <a:sym typeface="Calibri"/>
            </a:endParaRPr>
          </a:p>
        </p:txBody>
      </p:sp>
      <p:sp>
        <p:nvSpPr>
          <p:cNvPr id="208" name="Google Shape;208;p30"/>
          <p:cNvSpPr txBox="1"/>
          <p:nvPr/>
        </p:nvSpPr>
        <p:spPr>
          <a:xfrm>
            <a:off x="-6" y="205025"/>
            <a:ext cx="1649400" cy="785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AR" sz="1500" b="1">
                <a:solidFill>
                  <a:schemeClr val="lt1"/>
                </a:solidFill>
              </a:rPr>
              <a:t>ESTRUCTURAS </a:t>
            </a:r>
            <a:endParaRPr sz="1500" b="1">
              <a:solidFill>
                <a:schemeClr val="lt1"/>
              </a:solidFill>
              <a:latin typeface="Arial"/>
              <a:ea typeface="Arial"/>
              <a:cs typeface="Arial"/>
              <a:sym typeface="Arial"/>
            </a:endParaRPr>
          </a:p>
          <a:p>
            <a:pPr marL="0" marR="0" lvl="0" indent="0" algn="l" rtl="0">
              <a:spcBef>
                <a:spcPts val="0"/>
              </a:spcBef>
              <a:spcAft>
                <a:spcPts val="0"/>
              </a:spcAft>
              <a:buNone/>
            </a:pPr>
            <a:r>
              <a:rPr lang="es-AR" sz="1500" b="1">
                <a:solidFill>
                  <a:schemeClr val="lt1"/>
                </a:solidFill>
              </a:rPr>
              <a:t>DE </a:t>
            </a:r>
            <a:endParaRPr sz="1500" b="1">
              <a:solidFill>
                <a:schemeClr val="lt1"/>
              </a:solidFill>
              <a:latin typeface="Arial"/>
              <a:ea typeface="Arial"/>
              <a:cs typeface="Arial"/>
              <a:sym typeface="Arial"/>
            </a:endParaRPr>
          </a:p>
          <a:p>
            <a:pPr marL="0" marR="0" lvl="0" indent="0" algn="l" rtl="0">
              <a:spcBef>
                <a:spcPts val="0"/>
              </a:spcBef>
              <a:spcAft>
                <a:spcPts val="0"/>
              </a:spcAft>
              <a:buNone/>
            </a:pPr>
            <a:r>
              <a:rPr lang="es-AR" sz="1500" b="1">
                <a:solidFill>
                  <a:schemeClr val="lt1"/>
                </a:solidFill>
              </a:rPr>
              <a:t>DATOS</a:t>
            </a:r>
            <a:endParaRPr sz="1300">
              <a:solidFill>
                <a:schemeClr val="dk1"/>
              </a:solidFill>
              <a:latin typeface="Calibri"/>
              <a:ea typeface="Calibri"/>
              <a:cs typeface="Calibri"/>
              <a:sym typeface="Calibri"/>
            </a:endParaRPr>
          </a:p>
        </p:txBody>
      </p:sp>
      <p:pic>
        <p:nvPicPr>
          <p:cNvPr id="6" name="Imagen 5"/>
          <p:cNvPicPr>
            <a:picLocks noChangeAspect="1"/>
          </p:cNvPicPr>
          <p:nvPr/>
        </p:nvPicPr>
        <p:blipFill>
          <a:blip r:embed="rId4"/>
          <a:stretch>
            <a:fillRect/>
          </a:stretch>
        </p:blipFill>
        <p:spPr>
          <a:xfrm>
            <a:off x="626744" y="2327910"/>
            <a:ext cx="4896280" cy="4011930"/>
          </a:xfrm>
          <a:prstGeom prst="rect">
            <a:avLst/>
          </a:prstGeom>
        </p:spPr>
      </p:pic>
      <p:sp>
        <p:nvSpPr>
          <p:cNvPr id="7" name="CuadroTexto 6"/>
          <p:cNvSpPr txBox="1"/>
          <p:nvPr/>
        </p:nvSpPr>
        <p:spPr>
          <a:xfrm>
            <a:off x="5374229" y="2582036"/>
            <a:ext cx="3506671" cy="400110"/>
          </a:xfrm>
          <a:prstGeom prst="rect">
            <a:avLst/>
          </a:prstGeom>
          <a:noFill/>
        </p:spPr>
        <p:txBody>
          <a:bodyPr wrap="square" rtlCol="0">
            <a:spAutoFit/>
          </a:bodyPr>
          <a:lstStyle/>
          <a:p>
            <a:r>
              <a:rPr lang="es-ES" sz="2000" b="1" dirty="0"/>
              <a:t>Insertar</a:t>
            </a:r>
            <a:r>
              <a:rPr lang="es-ES" sz="2000" dirty="0"/>
              <a:t> un nodo en el árbol</a:t>
            </a:r>
            <a:endParaRPr lang="es-AR" sz="2000" dirty="0"/>
          </a:p>
        </p:txBody>
      </p:sp>
      <p:sp>
        <p:nvSpPr>
          <p:cNvPr id="9" name="Flecha abajo 8"/>
          <p:cNvSpPr/>
          <p:nvPr/>
        </p:nvSpPr>
        <p:spPr>
          <a:xfrm>
            <a:off x="6652259" y="3312253"/>
            <a:ext cx="701040" cy="89916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0" name="Elipse 9"/>
          <p:cNvSpPr/>
          <p:nvPr/>
        </p:nvSpPr>
        <p:spPr>
          <a:xfrm>
            <a:off x="6568438" y="4724400"/>
            <a:ext cx="868681" cy="7772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23</a:t>
            </a:r>
            <a:endParaRPr lang="es-AR" dirty="0"/>
          </a:p>
        </p:txBody>
      </p:sp>
    </p:spTree>
    <p:extLst>
      <p:ext uri="{BB962C8B-B14F-4D97-AF65-F5344CB8AC3E}">
        <p14:creationId xmlns:p14="http://schemas.microsoft.com/office/powerpoint/2010/main" val="32796064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30"/>
          <p:cNvSpPr txBox="1"/>
          <p:nvPr/>
        </p:nvSpPr>
        <p:spPr>
          <a:xfrm>
            <a:off x="156738" y="1421278"/>
            <a:ext cx="8724162" cy="523180"/>
          </a:xfrm>
          <a:prstGeom prst="rect">
            <a:avLst/>
          </a:prstGeom>
          <a:noFill/>
          <a:ln>
            <a:noFill/>
          </a:ln>
        </p:spPr>
        <p:txBody>
          <a:bodyPr spcFirstLastPara="1" wrap="square" lIns="91425" tIns="45700" rIns="91425" bIns="45700" anchor="t" anchorCtr="0">
            <a:spAutoFit/>
          </a:bodyPr>
          <a:lstStyle/>
          <a:p>
            <a:pPr lvl="0"/>
            <a:r>
              <a:rPr lang="es-AR" sz="2800" b="1" dirty="0">
                <a:solidFill>
                  <a:srgbClr val="538CD5"/>
                </a:solidFill>
              </a:rPr>
              <a:t> Operaciones:</a:t>
            </a:r>
            <a:endParaRPr sz="2800" b="1" dirty="0">
              <a:solidFill>
                <a:srgbClr val="538CD5"/>
              </a:solidFill>
            </a:endParaRPr>
          </a:p>
        </p:txBody>
      </p:sp>
      <p:pic>
        <p:nvPicPr>
          <p:cNvPr id="205" name="Google Shape;205;p30"/>
          <p:cNvPicPr preferRelativeResize="0"/>
          <p:nvPr/>
        </p:nvPicPr>
        <p:blipFill rotWithShape="1">
          <a:blip r:embed="rId3">
            <a:alphaModFix/>
          </a:blip>
          <a:srcRect/>
          <a:stretch/>
        </p:blipFill>
        <p:spPr>
          <a:xfrm>
            <a:off x="0" y="1580"/>
            <a:ext cx="9144000" cy="1171495"/>
          </a:xfrm>
          <a:prstGeom prst="rect">
            <a:avLst/>
          </a:prstGeom>
          <a:noFill/>
          <a:ln>
            <a:noFill/>
          </a:ln>
        </p:spPr>
      </p:pic>
      <p:sp>
        <p:nvSpPr>
          <p:cNvPr id="207" name="Google Shape;207;p30"/>
          <p:cNvSpPr txBox="1"/>
          <p:nvPr/>
        </p:nvSpPr>
        <p:spPr>
          <a:xfrm>
            <a:off x="1649400" y="346425"/>
            <a:ext cx="5620080" cy="46162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AR" sz="2400" b="1" dirty="0">
                <a:solidFill>
                  <a:schemeClr val="lt1"/>
                </a:solidFill>
              </a:rPr>
              <a:t>Clase 9:  </a:t>
            </a:r>
            <a:r>
              <a:rPr lang="es-AR" sz="2400" b="1" dirty="0" err="1">
                <a:solidFill>
                  <a:schemeClr val="lt1"/>
                </a:solidFill>
              </a:rPr>
              <a:t>Heap</a:t>
            </a:r>
            <a:r>
              <a:rPr lang="es-AR" sz="2400" b="1" dirty="0">
                <a:solidFill>
                  <a:schemeClr val="lt1"/>
                </a:solidFill>
              </a:rPr>
              <a:t> Binaria</a:t>
            </a:r>
            <a:endParaRPr sz="1800" dirty="0">
              <a:solidFill>
                <a:schemeClr val="dk1"/>
              </a:solidFill>
              <a:latin typeface="Calibri"/>
              <a:ea typeface="Calibri"/>
              <a:cs typeface="Calibri"/>
              <a:sym typeface="Calibri"/>
            </a:endParaRPr>
          </a:p>
        </p:txBody>
      </p:sp>
      <p:sp>
        <p:nvSpPr>
          <p:cNvPr id="208" name="Google Shape;208;p30"/>
          <p:cNvSpPr txBox="1"/>
          <p:nvPr/>
        </p:nvSpPr>
        <p:spPr>
          <a:xfrm>
            <a:off x="-6" y="205025"/>
            <a:ext cx="1649400" cy="785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AR" sz="1500" b="1">
                <a:solidFill>
                  <a:schemeClr val="lt1"/>
                </a:solidFill>
              </a:rPr>
              <a:t>ESTRUCTURAS </a:t>
            </a:r>
            <a:endParaRPr sz="1500" b="1">
              <a:solidFill>
                <a:schemeClr val="lt1"/>
              </a:solidFill>
              <a:latin typeface="Arial"/>
              <a:ea typeface="Arial"/>
              <a:cs typeface="Arial"/>
              <a:sym typeface="Arial"/>
            </a:endParaRPr>
          </a:p>
          <a:p>
            <a:pPr marL="0" marR="0" lvl="0" indent="0" algn="l" rtl="0">
              <a:spcBef>
                <a:spcPts val="0"/>
              </a:spcBef>
              <a:spcAft>
                <a:spcPts val="0"/>
              </a:spcAft>
              <a:buNone/>
            </a:pPr>
            <a:r>
              <a:rPr lang="es-AR" sz="1500" b="1">
                <a:solidFill>
                  <a:schemeClr val="lt1"/>
                </a:solidFill>
              </a:rPr>
              <a:t>DE </a:t>
            </a:r>
            <a:endParaRPr sz="1500" b="1">
              <a:solidFill>
                <a:schemeClr val="lt1"/>
              </a:solidFill>
              <a:latin typeface="Arial"/>
              <a:ea typeface="Arial"/>
              <a:cs typeface="Arial"/>
              <a:sym typeface="Arial"/>
            </a:endParaRPr>
          </a:p>
          <a:p>
            <a:pPr marL="0" marR="0" lvl="0" indent="0" algn="l" rtl="0">
              <a:spcBef>
                <a:spcPts val="0"/>
              </a:spcBef>
              <a:spcAft>
                <a:spcPts val="0"/>
              </a:spcAft>
              <a:buNone/>
            </a:pPr>
            <a:r>
              <a:rPr lang="es-AR" sz="1500" b="1">
                <a:solidFill>
                  <a:schemeClr val="lt1"/>
                </a:solidFill>
              </a:rPr>
              <a:t>DATOS</a:t>
            </a:r>
            <a:endParaRPr sz="1300">
              <a:solidFill>
                <a:schemeClr val="dk1"/>
              </a:solidFill>
              <a:latin typeface="Calibri"/>
              <a:ea typeface="Calibri"/>
              <a:cs typeface="Calibri"/>
              <a:sym typeface="Calibri"/>
            </a:endParaRPr>
          </a:p>
        </p:txBody>
      </p:sp>
      <p:pic>
        <p:nvPicPr>
          <p:cNvPr id="3" name="Imagen 2"/>
          <p:cNvPicPr>
            <a:picLocks noChangeAspect="1"/>
          </p:cNvPicPr>
          <p:nvPr/>
        </p:nvPicPr>
        <p:blipFill>
          <a:blip r:embed="rId4"/>
          <a:stretch>
            <a:fillRect/>
          </a:stretch>
        </p:blipFill>
        <p:spPr>
          <a:xfrm>
            <a:off x="384600" y="3163273"/>
            <a:ext cx="8496300" cy="3638550"/>
          </a:xfrm>
          <a:prstGeom prst="rect">
            <a:avLst/>
          </a:prstGeom>
        </p:spPr>
      </p:pic>
      <p:sp>
        <p:nvSpPr>
          <p:cNvPr id="7" name="CuadroTexto 6"/>
          <p:cNvSpPr txBox="1"/>
          <p:nvPr/>
        </p:nvSpPr>
        <p:spPr>
          <a:xfrm>
            <a:off x="289350" y="2026864"/>
            <a:ext cx="8591550" cy="1015663"/>
          </a:xfrm>
          <a:prstGeom prst="rect">
            <a:avLst/>
          </a:prstGeom>
          <a:noFill/>
        </p:spPr>
        <p:txBody>
          <a:bodyPr wrap="square" rtlCol="0">
            <a:spAutoFit/>
          </a:bodyPr>
          <a:lstStyle/>
          <a:p>
            <a:r>
              <a:rPr lang="es-ES" sz="2000" dirty="0"/>
              <a:t>El nodo se </a:t>
            </a:r>
            <a:r>
              <a:rPr lang="es-ES" sz="2000" b="1" i="1" dirty="0"/>
              <a:t>inserta</a:t>
            </a:r>
            <a:r>
              <a:rPr lang="es-ES" sz="2000" dirty="0"/>
              <a:t> al final del árbol y luego se debe verificar que el árbol quede ordenado, si no es así, se intercambian los elementos: hijo por el padre, sucesivamente hasta que quede ordenado.</a:t>
            </a:r>
            <a:endParaRPr lang="es-AR" sz="2000" dirty="0"/>
          </a:p>
        </p:txBody>
      </p:sp>
    </p:spTree>
    <p:extLst>
      <p:ext uri="{BB962C8B-B14F-4D97-AF65-F5344CB8AC3E}">
        <p14:creationId xmlns:p14="http://schemas.microsoft.com/office/powerpoint/2010/main" val="16574252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pic>
        <p:nvPicPr>
          <p:cNvPr id="2" name="Imagen 1"/>
          <p:cNvPicPr>
            <a:picLocks noChangeAspect="1"/>
          </p:cNvPicPr>
          <p:nvPr/>
        </p:nvPicPr>
        <p:blipFill>
          <a:blip r:embed="rId3"/>
          <a:stretch>
            <a:fillRect/>
          </a:stretch>
        </p:blipFill>
        <p:spPr>
          <a:xfrm>
            <a:off x="156738" y="3561788"/>
            <a:ext cx="8347182" cy="3296212"/>
          </a:xfrm>
          <a:prstGeom prst="rect">
            <a:avLst/>
          </a:prstGeom>
        </p:spPr>
      </p:pic>
      <p:sp>
        <p:nvSpPr>
          <p:cNvPr id="204" name="Google Shape;204;p30"/>
          <p:cNvSpPr txBox="1"/>
          <p:nvPr/>
        </p:nvSpPr>
        <p:spPr>
          <a:xfrm>
            <a:off x="156738" y="1366200"/>
            <a:ext cx="8724162" cy="523180"/>
          </a:xfrm>
          <a:prstGeom prst="rect">
            <a:avLst/>
          </a:prstGeom>
          <a:noFill/>
          <a:ln>
            <a:noFill/>
          </a:ln>
        </p:spPr>
        <p:txBody>
          <a:bodyPr spcFirstLastPara="1" wrap="square" lIns="91425" tIns="45700" rIns="91425" bIns="45700" anchor="t" anchorCtr="0">
            <a:spAutoFit/>
          </a:bodyPr>
          <a:lstStyle/>
          <a:p>
            <a:pPr lvl="0"/>
            <a:r>
              <a:rPr lang="es-AR" sz="2800" b="1" dirty="0">
                <a:solidFill>
                  <a:srgbClr val="538CD5"/>
                </a:solidFill>
              </a:rPr>
              <a:t> Operaciones:</a:t>
            </a:r>
            <a:endParaRPr sz="2800" b="1" dirty="0">
              <a:solidFill>
                <a:srgbClr val="538CD5"/>
              </a:solidFill>
            </a:endParaRPr>
          </a:p>
        </p:txBody>
      </p:sp>
      <p:pic>
        <p:nvPicPr>
          <p:cNvPr id="205" name="Google Shape;205;p30"/>
          <p:cNvPicPr preferRelativeResize="0"/>
          <p:nvPr/>
        </p:nvPicPr>
        <p:blipFill rotWithShape="1">
          <a:blip r:embed="rId4">
            <a:alphaModFix/>
          </a:blip>
          <a:srcRect/>
          <a:stretch/>
        </p:blipFill>
        <p:spPr>
          <a:xfrm>
            <a:off x="0" y="1580"/>
            <a:ext cx="9144000" cy="1171495"/>
          </a:xfrm>
          <a:prstGeom prst="rect">
            <a:avLst/>
          </a:prstGeom>
          <a:noFill/>
          <a:ln>
            <a:noFill/>
          </a:ln>
        </p:spPr>
      </p:pic>
      <p:sp>
        <p:nvSpPr>
          <p:cNvPr id="207" name="Google Shape;207;p30"/>
          <p:cNvSpPr txBox="1"/>
          <p:nvPr/>
        </p:nvSpPr>
        <p:spPr>
          <a:xfrm>
            <a:off x="1649400" y="346425"/>
            <a:ext cx="5620080" cy="46162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AR" sz="2400" b="1" dirty="0">
                <a:solidFill>
                  <a:schemeClr val="lt1"/>
                </a:solidFill>
              </a:rPr>
              <a:t>Clase 9:  </a:t>
            </a:r>
            <a:r>
              <a:rPr lang="es-AR" sz="2400" b="1" dirty="0" err="1">
                <a:solidFill>
                  <a:schemeClr val="lt1"/>
                </a:solidFill>
              </a:rPr>
              <a:t>Heap</a:t>
            </a:r>
            <a:r>
              <a:rPr lang="es-AR" sz="2400" b="1" dirty="0">
                <a:solidFill>
                  <a:schemeClr val="lt1"/>
                </a:solidFill>
              </a:rPr>
              <a:t> Binaria</a:t>
            </a:r>
            <a:endParaRPr sz="1800" dirty="0">
              <a:solidFill>
                <a:schemeClr val="dk1"/>
              </a:solidFill>
              <a:latin typeface="Calibri"/>
              <a:ea typeface="Calibri"/>
              <a:cs typeface="Calibri"/>
              <a:sym typeface="Calibri"/>
            </a:endParaRPr>
          </a:p>
        </p:txBody>
      </p:sp>
      <p:sp>
        <p:nvSpPr>
          <p:cNvPr id="208" name="Google Shape;208;p30"/>
          <p:cNvSpPr txBox="1"/>
          <p:nvPr/>
        </p:nvSpPr>
        <p:spPr>
          <a:xfrm>
            <a:off x="-6" y="205025"/>
            <a:ext cx="1649400" cy="785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AR" sz="1500" b="1">
                <a:solidFill>
                  <a:schemeClr val="lt1"/>
                </a:solidFill>
              </a:rPr>
              <a:t>ESTRUCTURAS </a:t>
            </a:r>
            <a:endParaRPr sz="1500" b="1">
              <a:solidFill>
                <a:schemeClr val="lt1"/>
              </a:solidFill>
              <a:latin typeface="Arial"/>
              <a:ea typeface="Arial"/>
              <a:cs typeface="Arial"/>
              <a:sym typeface="Arial"/>
            </a:endParaRPr>
          </a:p>
          <a:p>
            <a:pPr marL="0" marR="0" lvl="0" indent="0" algn="l" rtl="0">
              <a:spcBef>
                <a:spcPts val="0"/>
              </a:spcBef>
              <a:spcAft>
                <a:spcPts val="0"/>
              </a:spcAft>
              <a:buNone/>
            </a:pPr>
            <a:r>
              <a:rPr lang="es-AR" sz="1500" b="1">
                <a:solidFill>
                  <a:schemeClr val="lt1"/>
                </a:solidFill>
              </a:rPr>
              <a:t>DE </a:t>
            </a:r>
            <a:endParaRPr sz="1500" b="1">
              <a:solidFill>
                <a:schemeClr val="lt1"/>
              </a:solidFill>
              <a:latin typeface="Arial"/>
              <a:ea typeface="Arial"/>
              <a:cs typeface="Arial"/>
              <a:sym typeface="Arial"/>
            </a:endParaRPr>
          </a:p>
          <a:p>
            <a:pPr marL="0" marR="0" lvl="0" indent="0" algn="l" rtl="0">
              <a:spcBef>
                <a:spcPts val="0"/>
              </a:spcBef>
              <a:spcAft>
                <a:spcPts val="0"/>
              </a:spcAft>
              <a:buNone/>
            </a:pPr>
            <a:r>
              <a:rPr lang="es-AR" sz="1500" b="1">
                <a:solidFill>
                  <a:schemeClr val="lt1"/>
                </a:solidFill>
              </a:rPr>
              <a:t>DATOS</a:t>
            </a:r>
            <a:endParaRPr sz="1300">
              <a:solidFill>
                <a:schemeClr val="dk1"/>
              </a:solidFill>
              <a:latin typeface="Calibri"/>
              <a:ea typeface="Calibri"/>
              <a:cs typeface="Calibri"/>
              <a:sym typeface="Calibri"/>
            </a:endParaRPr>
          </a:p>
        </p:txBody>
      </p:sp>
      <p:sp>
        <p:nvSpPr>
          <p:cNvPr id="4" name="CuadroTexto 3"/>
          <p:cNvSpPr txBox="1"/>
          <p:nvPr/>
        </p:nvSpPr>
        <p:spPr>
          <a:xfrm>
            <a:off x="253200" y="1682868"/>
            <a:ext cx="8627700" cy="2462213"/>
          </a:xfrm>
          <a:prstGeom prst="rect">
            <a:avLst/>
          </a:prstGeom>
          <a:noFill/>
        </p:spPr>
        <p:txBody>
          <a:bodyPr wrap="square" rtlCol="0">
            <a:spAutoFit/>
          </a:bodyPr>
          <a:lstStyle/>
          <a:p>
            <a:endParaRPr lang="es-AR" sz="2000" dirty="0"/>
          </a:p>
          <a:p>
            <a:pPr marL="342900" indent="-342900" algn="just">
              <a:buFont typeface="Arial" panose="020B0604020202020204" pitchFamily="34" charset="0"/>
              <a:buChar char="•"/>
            </a:pPr>
            <a:r>
              <a:rPr lang="es-AR" sz="2000" dirty="0"/>
              <a:t>El filtrado hacia arriba restaura la propiedad de orden intercambiando </a:t>
            </a:r>
            <a:r>
              <a:rPr lang="es-AR" sz="2000" b="1" i="1" dirty="0"/>
              <a:t>k </a:t>
            </a:r>
            <a:r>
              <a:rPr lang="es-AR" sz="2000" dirty="0"/>
              <a:t>a lo largo del camino hacia arriba desde el lugar de inserción </a:t>
            </a:r>
          </a:p>
          <a:p>
            <a:pPr marL="342900" indent="-342900" algn="just">
              <a:buFont typeface="Arial" panose="020B0604020202020204" pitchFamily="34" charset="0"/>
              <a:buChar char="•"/>
            </a:pPr>
            <a:r>
              <a:rPr lang="es-AR" sz="2000" dirty="0"/>
              <a:t>El filtrado termina cuando la clave </a:t>
            </a:r>
            <a:r>
              <a:rPr lang="es-AR" sz="2000" b="1" i="1" dirty="0"/>
              <a:t>k </a:t>
            </a:r>
            <a:r>
              <a:rPr lang="es-AR" sz="2000" dirty="0"/>
              <a:t>alcanza la raíz o un nodo cuyo padre tiene una clave menor </a:t>
            </a:r>
          </a:p>
          <a:p>
            <a:pPr marL="342900" indent="-342900" algn="just">
              <a:buFont typeface="Arial" panose="020B0604020202020204" pitchFamily="34" charset="0"/>
              <a:buChar char="•"/>
            </a:pPr>
            <a:r>
              <a:rPr lang="es-AR" sz="2000" dirty="0"/>
              <a:t> Ya que el algoritmo recorre la altura de la </a:t>
            </a:r>
            <a:r>
              <a:rPr lang="es-AR" sz="2000" dirty="0" err="1"/>
              <a:t>heap</a:t>
            </a:r>
            <a:r>
              <a:rPr lang="es-AR" sz="2000" dirty="0"/>
              <a:t>, tiene </a:t>
            </a:r>
            <a:r>
              <a:rPr lang="es-AR" sz="2000" b="1" i="1" dirty="0"/>
              <a:t>O(log n) </a:t>
            </a:r>
            <a:r>
              <a:rPr lang="es-AR" sz="2000" dirty="0"/>
              <a:t>intercambios </a:t>
            </a:r>
          </a:p>
          <a:p>
            <a:endParaRPr lang="es-AR" dirty="0"/>
          </a:p>
        </p:txBody>
      </p:sp>
      <p:sp>
        <p:nvSpPr>
          <p:cNvPr id="5" name="CuadroTexto 4"/>
          <p:cNvSpPr txBox="1"/>
          <p:nvPr/>
        </p:nvSpPr>
        <p:spPr>
          <a:xfrm>
            <a:off x="5928360" y="4145081"/>
            <a:ext cx="304892" cy="307777"/>
          </a:xfrm>
          <a:prstGeom prst="rect">
            <a:avLst/>
          </a:prstGeom>
          <a:noFill/>
        </p:spPr>
        <p:txBody>
          <a:bodyPr wrap="none" rtlCol="0">
            <a:spAutoFit/>
          </a:bodyPr>
          <a:lstStyle/>
          <a:p>
            <a:r>
              <a:rPr lang="es-ES" dirty="0"/>
              <a:t>K</a:t>
            </a:r>
            <a:endParaRPr lang="es-AR" dirty="0"/>
          </a:p>
        </p:txBody>
      </p:sp>
    </p:spTree>
    <p:extLst>
      <p:ext uri="{BB962C8B-B14F-4D97-AF65-F5344CB8AC3E}">
        <p14:creationId xmlns:p14="http://schemas.microsoft.com/office/powerpoint/2010/main" val="5580638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30"/>
          <p:cNvSpPr txBox="1"/>
          <p:nvPr/>
        </p:nvSpPr>
        <p:spPr>
          <a:xfrm>
            <a:off x="156738" y="1421278"/>
            <a:ext cx="8724162" cy="523180"/>
          </a:xfrm>
          <a:prstGeom prst="rect">
            <a:avLst/>
          </a:prstGeom>
          <a:noFill/>
          <a:ln>
            <a:noFill/>
          </a:ln>
        </p:spPr>
        <p:txBody>
          <a:bodyPr spcFirstLastPara="1" wrap="square" lIns="91425" tIns="45700" rIns="91425" bIns="45700" anchor="t" anchorCtr="0">
            <a:spAutoFit/>
          </a:bodyPr>
          <a:lstStyle/>
          <a:p>
            <a:pPr lvl="0"/>
            <a:r>
              <a:rPr lang="es-AR" sz="2800" b="1" dirty="0">
                <a:solidFill>
                  <a:srgbClr val="538CD5"/>
                </a:solidFill>
              </a:rPr>
              <a:t> Operaciones:</a:t>
            </a:r>
            <a:endParaRPr sz="2800" b="1" dirty="0">
              <a:solidFill>
                <a:srgbClr val="538CD5"/>
              </a:solidFill>
            </a:endParaRPr>
          </a:p>
        </p:txBody>
      </p:sp>
      <p:pic>
        <p:nvPicPr>
          <p:cNvPr id="205" name="Google Shape;205;p30"/>
          <p:cNvPicPr preferRelativeResize="0"/>
          <p:nvPr/>
        </p:nvPicPr>
        <p:blipFill rotWithShape="1">
          <a:blip r:embed="rId3">
            <a:alphaModFix/>
          </a:blip>
          <a:srcRect/>
          <a:stretch/>
        </p:blipFill>
        <p:spPr>
          <a:xfrm>
            <a:off x="0" y="1580"/>
            <a:ext cx="9144000" cy="1171495"/>
          </a:xfrm>
          <a:prstGeom prst="rect">
            <a:avLst/>
          </a:prstGeom>
          <a:noFill/>
          <a:ln>
            <a:noFill/>
          </a:ln>
        </p:spPr>
      </p:pic>
      <p:sp>
        <p:nvSpPr>
          <p:cNvPr id="207" name="Google Shape;207;p30"/>
          <p:cNvSpPr txBox="1"/>
          <p:nvPr/>
        </p:nvSpPr>
        <p:spPr>
          <a:xfrm>
            <a:off x="1649400" y="346425"/>
            <a:ext cx="5620080" cy="46162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AR" sz="2400" b="1" dirty="0">
                <a:solidFill>
                  <a:schemeClr val="lt1"/>
                </a:solidFill>
              </a:rPr>
              <a:t>Clase 9:  </a:t>
            </a:r>
            <a:r>
              <a:rPr lang="es-AR" sz="2400" b="1" dirty="0" err="1">
                <a:solidFill>
                  <a:schemeClr val="lt1"/>
                </a:solidFill>
              </a:rPr>
              <a:t>Heap</a:t>
            </a:r>
            <a:r>
              <a:rPr lang="es-AR" sz="2400" b="1" dirty="0">
                <a:solidFill>
                  <a:schemeClr val="lt1"/>
                </a:solidFill>
              </a:rPr>
              <a:t> Binaria</a:t>
            </a:r>
            <a:endParaRPr sz="1800" dirty="0">
              <a:solidFill>
                <a:schemeClr val="dk1"/>
              </a:solidFill>
              <a:latin typeface="Calibri"/>
              <a:ea typeface="Calibri"/>
              <a:cs typeface="Calibri"/>
              <a:sym typeface="Calibri"/>
            </a:endParaRPr>
          </a:p>
        </p:txBody>
      </p:sp>
      <p:sp>
        <p:nvSpPr>
          <p:cNvPr id="208" name="Google Shape;208;p30"/>
          <p:cNvSpPr txBox="1"/>
          <p:nvPr/>
        </p:nvSpPr>
        <p:spPr>
          <a:xfrm>
            <a:off x="-6" y="205025"/>
            <a:ext cx="1649400" cy="785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AR" sz="1500" b="1">
                <a:solidFill>
                  <a:schemeClr val="lt1"/>
                </a:solidFill>
              </a:rPr>
              <a:t>ESTRUCTURAS </a:t>
            </a:r>
            <a:endParaRPr sz="1500" b="1">
              <a:solidFill>
                <a:schemeClr val="lt1"/>
              </a:solidFill>
              <a:latin typeface="Arial"/>
              <a:ea typeface="Arial"/>
              <a:cs typeface="Arial"/>
              <a:sym typeface="Arial"/>
            </a:endParaRPr>
          </a:p>
          <a:p>
            <a:pPr marL="0" marR="0" lvl="0" indent="0" algn="l" rtl="0">
              <a:spcBef>
                <a:spcPts val="0"/>
              </a:spcBef>
              <a:spcAft>
                <a:spcPts val="0"/>
              </a:spcAft>
              <a:buNone/>
            </a:pPr>
            <a:r>
              <a:rPr lang="es-AR" sz="1500" b="1">
                <a:solidFill>
                  <a:schemeClr val="lt1"/>
                </a:solidFill>
              </a:rPr>
              <a:t>DE </a:t>
            </a:r>
            <a:endParaRPr sz="1500" b="1">
              <a:solidFill>
                <a:schemeClr val="lt1"/>
              </a:solidFill>
              <a:latin typeface="Arial"/>
              <a:ea typeface="Arial"/>
              <a:cs typeface="Arial"/>
              <a:sym typeface="Arial"/>
            </a:endParaRPr>
          </a:p>
          <a:p>
            <a:pPr marL="0" marR="0" lvl="0" indent="0" algn="l" rtl="0">
              <a:spcBef>
                <a:spcPts val="0"/>
              </a:spcBef>
              <a:spcAft>
                <a:spcPts val="0"/>
              </a:spcAft>
              <a:buNone/>
            </a:pPr>
            <a:r>
              <a:rPr lang="es-AR" sz="1500" b="1">
                <a:solidFill>
                  <a:schemeClr val="lt1"/>
                </a:solidFill>
              </a:rPr>
              <a:t>DATOS</a:t>
            </a:r>
            <a:endParaRPr sz="1300">
              <a:solidFill>
                <a:schemeClr val="dk1"/>
              </a:solidFill>
              <a:latin typeface="Calibri"/>
              <a:ea typeface="Calibri"/>
              <a:cs typeface="Calibri"/>
              <a:sym typeface="Calibri"/>
            </a:endParaRPr>
          </a:p>
        </p:txBody>
      </p:sp>
      <p:pic>
        <p:nvPicPr>
          <p:cNvPr id="2" name="Imagen 1"/>
          <p:cNvPicPr>
            <a:picLocks noChangeAspect="1"/>
          </p:cNvPicPr>
          <p:nvPr/>
        </p:nvPicPr>
        <p:blipFill>
          <a:blip r:embed="rId4"/>
          <a:stretch>
            <a:fillRect/>
          </a:stretch>
        </p:blipFill>
        <p:spPr>
          <a:xfrm>
            <a:off x="-6" y="2465046"/>
            <a:ext cx="5394960" cy="4392954"/>
          </a:xfrm>
          <a:prstGeom prst="rect">
            <a:avLst/>
          </a:prstGeom>
        </p:spPr>
      </p:pic>
      <p:sp>
        <p:nvSpPr>
          <p:cNvPr id="9" name="Flecha abajo 8"/>
          <p:cNvSpPr/>
          <p:nvPr/>
        </p:nvSpPr>
        <p:spPr>
          <a:xfrm>
            <a:off x="6652257" y="4093473"/>
            <a:ext cx="701040" cy="89916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0" name="Elipse 9"/>
          <p:cNvSpPr/>
          <p:nvPr/>
        </p:nvSpPr>
        <p:spPr>
          <a:xfrm>
            <a:off x="6568437" y="5186354"/>
            <a:ext cx="868681" cy="77724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a:t>92</a:t>
            </a:r>
            <a:endParaRPr lang="es-AR" dirty="0"/>
          </a:p>
        </p:txBody>
      </p:sp>
      <p:sp>
        <p:nvSpPr>
          <p:cNvPr id="7" name="CuadroTexto 6"/>
          <p:cNvSpPr txBox="1"/>
          <p:nvPr/>
        </p:nvSpPr>
        <p:spPr>
          <a:xfrm>
            <a:off x="4337909" y="2473118"/>
            <a:ext cx="4806091" cy="1015663"/>
          </a:xfrm>
          <a:prstGeom prst="rect">
            <a:avLst/>
          </a:prstGeom>
          <a:noFill/>
        </p:spPr>
        <p:txBody>
          <a:bodyPr wrap="square" rtlCol="0">
            <a:spAutoFit/>
          </a:bodyPr>
          <a:lstStyle/>
          <a:p>
            <a:r>
              <a:rPr lang="es-ES" sz="2000" b="1" dirty="0"/>
              <a:t>Eliminar</a:t>
            </a:r>
            <a:r>
              <a:rPr lang="es-ES" sz="2000" dirty="0"/>
              <a:t> un nodo del árbol.</a:t>
            </a:r>
          </a:p>
          <a:p>
            <a:r>
              <a:rPr lang="es-ES" sz="2000" dirty="0"/>
              <a:t>Cuando se elimina un nodo siempre es el que se encuentra en la raíz del árbol</a:t>
            </a:r>
            <a:endParaRPr lang="es-AR" sz="2000" dirty="0"/>
          </a:p>
        </p:txBody>
      </p:sp>
    </p:spTree>
    <p:extLst>
      <p:ext uri="{BB962C8B-B14F-4D97-AF65-F5344CB8AC3E}">
        <p14:creationId xmlns:p14="http://schemas.microsoft.com/office/powerpoint/2010/main" val="10861814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30"/>
          <p:cNvSpPr txBox="1"/>
          <p:nvPr/>
        </p:nvSpPr>
        <p:spPr>
          <a:xfrm>
            <a:off x="156738" y="1421278"/>
            <a:ext cx="8724162" cy="523180"/>
          </a:xfrm>
          <a:prstGeom prst="rect">
            <a:avLst/>
          </a:prstGeom>
          <a:noFill/>
          <a:ln>
            <a:noFill/>
          </a:ln>
        </p:spPr>
        <p:txBody>
          <a:bodyPr spcFirstLastPara="1" wrap="square" lIns="91425" tIns="45700" rIns="91425" bIns="45700" anchor="t" anchorCtr="0">
            <a:spAutoFit/>
          </a:bodyPr>
          <a:lstStyle/>
          <a:p>
            <a:pPr lvl="0"/>
            <a:r>
              <a:rPr lang="es-AR" sz="2800" b="1" dirty="0">
                <a:solidFill>
                  <a:srgbClr val="538CD5"/>
                </a:solidFill>
              </a:rPr>
              <a:t> Operaciones:</a:t>
            </a:r>
            <a:endParaRPr sz="2800" b="1" dirty="0">
              <a:solidFill>
                <a:srgbClr val="538CD5"/>
              </a:solidFill>
            </a:endParaRPr>
          </a:p>
        </p:txBody>
      </p:sp>
      <p:pic>
        <p:nvPicPr>
          <p:cNvPr id="205" name="Google Shape;205;p30"/>
          <p:cNvPicPr preferRelativeResize="0"/>
          <p:nvPr/>
        </p:nvPicPr>
        <p:blipFill rotWithShape="1">
          <a:blip r:embed="rId3">
            <a:alphaModFix/>
          </a:blip>
          <a:srcRect/>
          <a:stretch/>
        </p:blipFill>
        <p:spPr>
          <a:xfrm>
            <a:off x="0" y="1580"/>
            <a:ext cx="9144000" cy="1171495"/>
          </a:xfrm>
          <a:prstGeom prst="rect">
            <a:avLst/>
          </a:prstGeom>
          <a:noFill/>
          <a:ln>
            <a:noFill/>
          </a:ln>
        </p:spPr>
      </p:pic>
      <p:sp>
        <p:nvSpPr>
          <p:cNvPr id="207" name="Google Shape;207;p30"/>
          <p:cNvSpPr txBox="1"/>
          <p:nvPr/>
        </p:nvSpPr>
        <p:spPr>
          <a:xfrm>
            <a:off x="1649400" y="346425"/>
            <a:ext cx="5620080" cy="46162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AR" sz="2400" b="1" dirty="0">
                <a:solidFill>
                  <a:schemeClr val="lt1"/>
                </a:solidFill>
              </a:rPr>
              <a:t>Clase 9:  </a:t>
            </a:r>
            <a:r>
              <a:rPr lang="es-AR" sz="2400" b="1" dirty="0" err="1">
                <a:solidFill>
                  <a:schemeClr val="lt1"/>
                </a:solidFill>
              </a:rPr>
              <a:t>Heap</a:t>
            </a:r>
            <a:r>
              <a:rPr lang="es-AR" sz="2400" b="1" dirty="0">
                <a:solidFill>
                  <a:schemeClr val="lt1"/>
                </a:solidFill>
              </a:rPr>
              <a:t> Binaria</a:t>
            </a:r>
            <a:endParaRPr sz="1800" dirty="0">
              <a:solidFill>
                <a:schemeClr val="dk1"/>
              </a:solidFill>
              <a:latin typeface="Calibri"/>
              <a:ea typeface="Calibri"/>
              <a:cs typeface="Calibri"/>
              <a:sym typeface="Calibri"/>
            </a:endParaRPr>
          </a:p>
        </p:txBody>
      </p:sp>
      <p:sp>
        <p:nvSpPr>
          <p:cNvPr id="208" name="Google Shape;208;p30"/>
          <p:cNvSpPr txBox="1"/>
          <p:nvPr/>
        </p:nvSpPr>
        <p:spPr>
          <a:xfrm>
            <a:off x="-6" y="205025"/>
            <a:ext cx="1649400" cy="785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AR" sz="1500" b="1">
                <a:solidFill>
                  <a:schemeClr val="lt1"/>
                </a:solidFill>
              </a:rPr>
              <a:t>ESTRUCTURAS </a:t>
            </a:r>
            <a:endParaRPr sz="1500" b="1">
              <a:solidFill>
                <a:schemeClr val="lt1"/>
              </a:solidFill>
              <a:latin typeface="Arial"/>
              <a:ea typeface="Arial"/>
              <a:cs typeface="Arial"/>
              <a:sym typeface="Arial"/>
            </a:endParaRPr>
          </a:p>
          <a:p>
            <a:pPr marL="0" marR="0" lvl="0" indent="0" algn="l" rtl="0">
              <a:spcBef>
                <a:spcPts val="0"/>
              </a:spcBef>
              <a:spcAft>
                <a:spcPts val="0"/>
              </a:spcAft>
              <a:buNone/>
            </a:pPr>
            <a:r>
              <a:rPr lang="es-AR" sz="1500" b="1">
                <a:solidFill>
                  <a:schemeClr val="lt1"/>
                </a:solidFill>
              </a:rPr>
              <a:t>DE </a:t>
            </a:r>
            <a:endParaRPr sz="1500" b="1">
              <a:solidFill>
                <a:schemeClr val="lt1"/>
              </a:solidFill>
              <a:latin typeface="Arial"/>
              <a:ea typeface="Arial"/>
              <a:cs typeface="Arial"/>
              <a:sym typeface="Arial"/>
            </a:endParaRPr>
          </a:p>
          <a:p>
            <a:pPr marL="0" marR="0" lvl="0" indent="0" algn="l" rtl="0">
              <a:spcBef>
                <a:spcPts val="0"/>
              </a:spcBef>
              <a:spcAft>
                <a:spcPts val="0"/>
              </a:spcAft>
              <a:buNone/>
            </a:pPr>
            <a:r>
              <a:rPr lang="es-AR" sz="1500" b="1">
                <a:solidFill>
                  <a:schemeClr val="lt1"/>
                </a:solidFill>
              </a:rPr>
              <a:t>DATOS</a:t>
            </a:r>
            <a:endParaRPr sz="1300">
              <a:solidFill>
                <a:schemeClr val="dk1"/>
              </a:solidFill>
              <a:latin typeface="Calibri"/>
              <a:ea typeface="Calibri"/>
              <a:cs typeface="Calibri"/>
              <a:sym typeface="Calibri"/>
            </a:endParaRPr>
          </a:p>
        </p:txBody>
      </p:sp>
      <p:pic>
        <p:nvPicPr>
          <p:cNvPr id="3" name="Imagen 2"/>
          <p:cNvPicPr>
            <a:picLocks noChangeAspect="1"/>
          </p:cNvPicPr>
          <p:nvPr/>
        </p:nvPicPr>
        <p:blipFill>
          <a:blip r:embed="rId4"/>
          <a:stretch>
            <a:fillRect/>
          </a:stretch>
        </p:blipFill>
        <p:spPr>
          <a:xfrm>
            <a:off x="156738" y="2943757"/>
            <a:ext cx="4415262" cy="3619545"/>
          </a:xfrm>
          <a:prstGeom prst="rect">
            <a:avLst/>
          </a:prstGeom>
        </p:spPr>
      </p:pic>
      <p:sp>
        <p:nvSpPr>
          <p:cNvPr id="7" name="CuadroTexto 6"/>
          <p:cNvSpPr txBox="1"/>
          <p:nvPr/>
        </p:nvSpPr>
        <p:spPr>
          <a:xfrm>
            <a:off x="4337909" y="2001952"/>
            <a:ext cx="4806091" cy="707886"/>
          </a:xfrm>
          <a:prstGeom prst="rect">
            <a:avLst/>
          </a:prstGeom>
          <a:noFill/>
        </p:spPr>
        <p:txBody>
          <a:bodyPr wrap="square" rtlCol="0">
            <a:spAutoFit/>
          </a:bodyPr>
          <a:lstStyle/>
          <a:p>
            <a:r>
              <a:rPr lang="es-ES" sz="2000" dirty="0"/>
              <a:t>Se</a:t>
            </a:r>
            <a:r>
              <a:rPr lang="es-ES" sz="2000" b="1" dirty="0"/>
              <a:t> Elimina </a:t>
            </a:r>
            <a:r>
              <a:rPr lang="es-ES" sz="2000" dirty="0"/>
              <a:t>el  nodo 92 del árbol.</a:t>
            </a:r>
          </a:p>
          <a:p>
            <a:r>
              <a:rPr lang="es-ES" sz="2000" dirty="0"/>
              <a:t>Ahora debemos reordenar los nodos</a:t>
            </a:r>
            <a:endParaRPr lang="es-AR" sz="2000" dirty="0"/>
          </a:p>
        </p:txBody>
      </p:sp>
      <p:pic>
        <p:nvPicPr>
          <p:cNvPr id="4" name="Imagen 3"/>
          <p:cNvPicPr>
            <a:picLocks noChangeAspect="1"/>
          </p:cNvPicPr>
          <p:nvPr/>
        </p:nvPicPr>
        <p:blipFill>
          <a:blip r:embed="rId5"/>
          <a:stretch>
            <a:fillRect/>
          </a:stretch>
        </p:blipFill>
        <p:spPr>
          <a:xfrm>
            <a:off x="4572000" y="2981902"/>
            <a:ext cx="4343400" cy="3581400"/>
          </a:xfrm>
          <a:prstGeom prst="rect">
            <a:avLst/>
          </a:prstGeom>
        </p:spPr>
      </p:pic>
    </p:spTree>
    <p:extLst>
      <p:ext uri="{BB962C8B-B14F-4D97-AF65-F5344CB8AC3E}">
        <p14:creationId xmlns:p14="http://schemas.microsoft.com/office/powerpoint/2010/main" val="9162588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30"/>
          <p:cNvSpPr txBox="1"/>
          <p:nvPr/>
        </p:nvSpPr>
        <p:spPr>
          <a:xfrm>
            <a:off x="156738" y="1421278"/>
            <a:ext cx="8724162" cy="523180"/>
          </a:xfrm>
          <a:prstGeom prst="rect">
            <a:avLst/>
          </a:prstGeom>
          <a:noFill/>
          <a:ln>
            <a:noFill/>
          </a:ln>
        </p:spPr>
        <p:txBody>
          <a:bodyPr spcFirstLastPara="1" wrap="square" lIns="91425" tIns="45700" rIns="91425" bIns="45700" anchor="t" anchorCtr="0">
            <a:spAutoFit/>
          </a:bodyPr>
          <a:lstStyle/>
          <a:p>
            <a:pPr lvl="0"/>
            <a:r>
              <a:rPr lang="es-AR" sz="2800" b="1" dirty="0">
                <a:solidFill>
                  <a:srgbClr val="538CD5"/>
                </a:solidFill>
              </a:rPr>
              <a:t> Operaciones:</a:t>
            </a:r>
            <a:endParaRPr sz="2800" b="1" dirty="0">
              <a:solidFill>
                <a:srgbClr val="538CD5"/>
              </a:solidFill>
            </a:endParaRPr>
          </a:p>
        </p:txBody>
      </p:sp>
      <p:pic>
        <p:nvPicPr>
          <p:cNvPr id="205" name="Google Shape;205;p30"/>
          <p:cNvPicPr preferRelativeResize="0"/>
          <p:nvPr/>
        </p:nvPicPr>
        <p:blipFill rotWithShape="1">
          <a:blip r:embed="rId3">
            <a:alphaModFix/>
          </a:blip>
          <a:srcRect/>
          <a:stretch/>
        </p:blipFill>
        <p:spPr>
          <a:xfrm>
            <a:off x="0" y="1580"/>
            <a:ext cx="9144000" cy="1171495"/>
          </a:xfrm>
          <a:prstGeom prst="rect">
            <a:avLst/>
          </a:prstGeom>
          <a:noFill/>
          <a:ln>
            <a:noFill/>
          </a:ln>
        </p:spPr>
      </p:pic>
      <p:sp>
        <p:nvSpPr>
          <p:cNvPr id="207" name="Google Shape;207;p30"/>
          <p:cNvSpPr txBox="1"/>
          <p:nvPr/>
        </p:nvSpPr>
        <p:spPr>
          <a:xfrm>
            <a:off x="1649400" y="346425"/>
            <a:ext cx="5620080" cy="46162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AR" sz="2400" b="1" dirty="0">
                <a:solidFill>
                  <a:schemeClr val="lt1"/>
                </a:solidFill>
              </a:rPr>
              <a:t>Clase 9:  </a:t>
            </a:r>
            <a:r>
              <a:rPr lang="es-AR" sz="2400" b="1" dirty="0" err="1">
                <a:solidFill>
                  <a:schemeClr val="lt1"/>
                </a:solidFill>
              </a:rPr>
              <a:t>Heap</a:t>
            </a:r>
            <a:r>
              <a:rPr lang="es-AR" sz="2400" b="1" dirty="0">
                <a:solidFill>
                  <a:schemeClr val="lt1"/>
                </a:solidFill>
              </a:rPr>
              <a:t> Binaria</a:t>
            </a:r>
            <a:endParaRPr sz="1800" dirty="0">
              <a:solidFill>
                <a:schemeClr val="dk1"/>
              </a:solidFill>
              <a:latin typeface="Calibri"/>
              <a:ea typeface="Calibri"/>
              <a:cs typeface="Calibri"/>
              <a:sym typeface="Calibri"/>
            </a:endParaRPr>
          </a:p>
        </p:txBody>
      </p:sp>
      <p:sp>
        <p:nvSpPr>
          <p:cNvPr id="208" name="Google Shape;208;p30"/>
          <p:cNvSpPr txBox="1"/>
          <p:nvPr/>
        </p:nvSpPr>
        <p:spPr>
          <a:xfrm>
            <a:off x="-6" y="205025"/>
            <a:ext cx="1649400" cy="785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AR" sz="1500" b="1">
                <a:solidFill>
                  <a:schemeClr val="lt1"/>
                </a:solidFill>
              </a:rPr>
              <a:t>ESTRUCTURAS </a:t>
            </a:r>
            <a:endParaRPr sz="1500" b="1">
              <a:solidFill>
                <a:schemeClr val="lt1"/>
              </a:solidFill>
              <a:latin typeface="Arial"/>
              <a:ea typeface="Arial"/>
              <a:cs typeface="Arial"/>
              <a:sym typeface="Arial"/>
            </a:endParaRPr>
          </a:p>
          <a:p>
            <a:pPr marL="0" marR="0" lvl="0" indent="0" algn="l" rtl="0">
              <a:spcBef>
                <a:spcPts val="0"/>
              </a:spcBef>
              <a:spcAft>
                <a:spcPts val="0"/>
              </a:spcAft>
              <a:buNone/>
            </a:pPr>
            <a:r>
              <a:rPr lang="es-AR" sz="1500" b="1">
                <a:solidFill>
                  <a:schemeClr val="lt1"/>
                </a:solidFill>
              </a:rPr>
              <a:t>DE </a:t>
            </a:r>
            <a:endParaRPr sz="1500" b="1">
              <a:solidFill>
                <a:schemeClr val="lt1"/>
              </a:solidFill>
              <a:latin typeface="Arial"/>
              <a:ea typeface="Arial"/>
              <a:cs typeface="Arial"/>
              <a:sym typeface="Arial"/>
            </a:endParaRPr>
          </a:p>
          <a:p>
            <a:pPr marL="0" marR="0" lvl="0" indent="0" algn="l" rtl="0">
              <a:spcBef>
                <a:spcPts val="0"/>
              </a:spcBef>
              <a:spcAft>
                <a:spcPts val="0"/>
              </a:spcAft>
              <a:buNone/>
            </a:pPr>
            <a:r>
              <a:rPr lang="es-AR" sz="1500" b="1">
                <a:solidFill>
                  <a:schemeClr val="lt1"/>
                </a:solidFill>
              </a:rPr>
              <a:t>DATOS</a:t>
            </a:r>
            <a:endParaRPr sz="1300">
              <a:solidFill>
                <a:schemeClr val="dk1"/>
              </a:solidFill>
              <a:latin typeface="Calibri"/>
              <a:ea typeface="Calibri"/>
              <a:cs typeface="Calibri"/>
              <a:sym typeface="Calibri"/>
            </a:endParaRPr>
          </a:p>
        </p:txBody>
      </p:sp>
      <p:sp>
        <p:nvSpPr>
          <p:cNvPr id="7" name="CuadroTexto 6"/>
          <p:cNvSpPr txBox="1"/>
          <p:nvPr/>
        </p:nvSpPr>
        <p:spPr>
          <a:xfrm>
            <a:off x="4337909" y="2001952"/>
            <a:ext cx="4806091" cy="1015663"/>
          </a:xfrm>
          <a:prstGeom prst="rect">
            <a:avLst/>
          </a:prstGeom>
          <a:noFill/>
        </p:spPr>
        <p:txBody>
          <a:bodyPr wrap="square" rtlCol="0">
            <a:spAutoFit/>
          </a:bodyPr>
          <a:lstStyle/>
          <a:p>
            <a:r>
              <a:rPr lang="es-ES" sz="2000" dirty="0"/>
              <a:t>Intercambiamos el 3 por el 36</a:t>
            </a:r>
          </a:p>
          <a:p>
            <a:r>
              <a:rPr lang="es-ES" sz="2000" dirty="0"/>
              <a:t>Reordenamos nuevamente</a:t>
            </a:r>
          </a:p>
          <a:p>
            <a:r>
              <a:rPr lang="es-ES" sz="2000" dirty="0"/>
              <a:t>Realizando el último intercambio</a:t>
            </a:r>
            <a:endParaRPr lang="es-AR" sz="2000" dirty="0"/>
          </a:p>
        </p:txBody>
      </p:sp>
      <p:pic>
        <p:nvPicPr>
          <p:cNvPr id="2" name="Imagen 1"/>
          <p:cNvPicPr>
            <a:picLocks noChangeAspect="1"/>
          </p:cNvPicPr>
          <p:nvPr/>
        </p:nvPicPr>
        <p:blipFill>
          <a:blip r:embed="rId4"/>
          <a:stretch>
            <a:fillRect/>
          </a:stretch>
        </p:blipFill>
        <p:spPr>
          <a:xfrm>
            <a:off x="156738" y="2981902"/>
            <a:ext cx="4781550" cy="3476625"/>
          </a:xfrm>
          <a:prstGeom prst="rect">
            <a:avLst/>
          </a:prstGeom>
        </p:spPr>
      </p:pic>
      <p:pic>
        <p:nvPicPr>
          <p:cNvPr id="5" name="Imagen 4"/>
          <p:cNvPicPr>
            <a:picLocks noChangeAspect="1"/>
          </p:cNvPicPr>
          <p:nvPr/>
        </p:nvPicPr>
        <p:blipFill>
          <a:blip r:embed="rId5"/>
          <a:stretch>
            <a:fillRect/>
          </a:stretch>
        </p:blipFill>
        <p:spPr>
          <a:xfrm>
            <a:off x="4610100" y="3067627"/>
            <a:ext cx="4533900" cy="3390900"/>
          </a:xfrm>
          <a:prstGeom prst="rect">
            <a:avLst/>
          </a:prstGeom>
        </p:spPr>
      </p:pic>
      <p:sp>
        <p:nvSpPr>
          <p:cNvPr id="4" name="CuadroTexto 3"/>
          <p:cNvSpPr txBox="1"/>
          <p:nvPr/>
        </p:nvSpPr>
        <p:spPr>
          <a:xfrm>
            <a:off x="6507480" y="5836920"/>
            <a:ext cx="2233304" cy="307777"/>
          </a:xfrm>
          <a:prstGeom prst="rect">
            <a:avLst/>
          </a:prstGeom>
          <a:noFill/>
        </p:spPr>
        <p:txBody>
          <a:bodyPr wrap="none" rtlCol="0">
            <a:spAutoFit/>
          </a:bodyPr>
          <a:lstStyle/>
          <a:p>
            <a:r>
              <a:rPr lang="es-ES" dirty="0">
                <a:solidFill>
                  <a:srgbClr val="FF0000"/>
                </a:solidFill>
              </a:rPr>
              <a:t>El árbol no está ordenado</a:t>
            </a:r>
            <a:endParaRPr lang="es-AR" dirty="0">
              <a:solidFill>
                <a:srgbClr val="FF0000"/>
              </a:solidFill>
            </a:endParaRPr>
          </a:p>
        </p:txBody>
      </p:sp>
    </p:spTree>
    <p:extLst>
      <p:ext uri="{BB962C8B-B14F-4D97-AF65-F5344CB8AC3E}">
        <p14:creationId xmlns:p14="http://schemas.microsoft.com/office/powerpoint/2010/main" val="42887188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30"/>
          <p:cNvSpPr txBox="1"/>
          <p:nvPr/>
        </p:nvSpPr>
        <p:spPr>
          <a:xfrm>
            <a:off x="97359" y="1419379"/>
            <a:ext cx="8724162" cy="523180"/>
          </a:xfrm>
          <a:prstGeom prst="rect">
            <a:avLst/>
          </a:prstGeom>
          <a:noFill/>
          <a:ln>
            <a:noFill/>
          </a:ln>
        </p:spPr>
        <p:txBody>
          <a:bodyPr spcFirstLastPara="1" wrap="square" lIns="91425" tIns="45700" rIns="91425" bIns="45700" anchor="t" anchorCtr="0">
            <a:spAutoFit/>
          </a:bodyPr>
          <a:lstStyle/>
          <a:p>
            <a:pPr lvl="0"/>
            <a:r>
              <a:rPr lang="es-AR" sz="2800" b="1" dirty="0">
                <a:solidFill>
                  <a:srgbClr val="538CD5"/>
                </a:solidFill>
              </a:rPr>
              <a:t> Propiedad de Orden:</a:t>
            </a:r>
            <a:endParaRPr sz="2800" b="1" dirty="0">
              <a:solidFill>
                <a:srgbClr val="538CD5"/>
              </a:solidFill>
            </a:endParaRPr>
          </a:p>
        </p:txBody>
      </p:sp>
      <p:pic>
        <p:nvPicPr>
          <p:cNvPr id="205" name="Google Shape;205;p30"/>
          <p:cNvPicPr preferRelativeResize="0"/>
          <p:nvPr/>
        </p:nvPicPr>
        <p:blipFill rotWithShape="1">
          <a:blip r:embed="rId3">
            <a:alphaModFix/>
          </a:blip>
          <a:srcRect/>
          <a:stretch/>
        </p:blipFill>
        <p:spPr>
          <a:xfrm>
            <a:off x="0" y="1580"/>
            <a:ext cx="9144000" cy="1171495"/>
          </a:xfrm>
          <a:prstGeom prst="rect">
            <a:avLst/>
          </a:prstGeom>
          <a:noFill/>
          <a:ln>
            <a:noFill/>
          </a:ln>
        </p:spPr>
      </p:pic>
      <p:sp>
        <p:nvSpPr>
          <p:cNvPr id="207" name="Google Shape;207;p30"/>
          <p:cNvSpPr txBox="1"/>
          <p:nvPr/>
        </p:nvSpPr>
        <p:spPr>
          <a:xfrm>
            <a:off x="1649400" y="346425"/>
            <a:ext cx="5620080" cy="46162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AR" sz="2400" b="1" dirty="0">
                <a:solidFill>
                  <a:schemeClr val="lt1"/>
                </a:solidFill>
              </a:rPr>
              <a:t>Clase 9:  </a:t>
            </a:r>
            <a:r>
              <a:rPr lang="es-AR" sz="2400" b="1" dirty="0" err="1">
                <a:solidFill>
                  <a:schemeClr val="lt1"/>
                </a:solidFill>
              </a:rPr>
              <a:t>Heap</a:t>
            </a:r>
            <a:r>
              <a:rPr lang="es-AR" sz="2400" b="1" dirty="0">
                <a:solidFill>
                  <a:schemeClr val="lt1"/>
                </a:solidFill>
              </a:rPr>
              <a:t> Binaria</a:t>
            </a:r>
            <a:endParaRPr sz="1800" dirty="0">
              <a:solidFill>
                <a:schemeClr val="dk1"/>
              </a:solidFill>
              <a:latin typeface="Calibri"/>
              <a:ea typeface="Calibri"/>
              <a:cs typeface="Calibri"/>
              <a:sym typeface="Calibri"/>
            </a:endParaRPr>
          </a:p>
        </p:txBody>
      </p:sp>
      <p:sp>
        <p:nvSpPr>
          <p:cNvPr id="208" name="Google Shape;208;p30"/>
          <p:cNvSpPr txBox="1"/>
          <p:nvPr/>
        </p:nvSpPr>
        <p:spPr>
          <a:xfrm>
            <a:off x="-6" y="205025"/>
            <a:ext cx="1649400" cy="785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AR" sz="1500" b="1">
                <a:solidFill>
                  <a:schemeClr val="lt1"/>
                </a:solidFill>
              </a:rPr>
              <a:t>ESTRUCTURAS </a:t>
            </a:r>
            <a:endParaRPr sz="1500" b="1">
              <a:solidFill>
                <a:schemeClr val="lt1"/>
              </a:solidFill>
              <a:latin typeface="Arial"/>
              <a:ea typeface="Arial"/>
              <a:cs typeface="Arial"/>
              <a:sym typeface="Arial"/>
            </a:endParaRPr>
          </a:p>
          <a:p>
            <a:pPr marL="0" marR="0" lvl="0" indent="0" algn="l" rtl="0">
              <a:spcBef>
                <a:spcPts val="0"/>
              </a:spcBef>
              <a:spcAft>
                <a:spcPts val="0"/>
              </a:spcAft>
              <a:buNone/>
            </a:pPr>
            <a:r>
              <a:rPr lang="es-AR" sz="1500" b="1">
                <a:solidFill>
                  <a:schemeClr val="lt1"/>
                </a:solidFill>
              </a:rPr>
              <a:t>DE </a:t>
            </a:r>
            <a:endParaRPr sz="1500" b="1">
              <a:solidFill>
                <a:schemeClr val="lt1"/>
              </a:solidFill>
              <a:latin typeface="Arial"/>
              <a:ea typeface="Arial"/>
              <a:cs typeface="Arial"/>
              <a:sym typeface="Arial"/>
            </a:endParaRPr>
          </a:p>
          <a:p>
            <a:pPr marL="0" marR="0" lvl="0" indent="0" algn="l" rtl="0">
              <a:spcBef>
                <a:spcPts val="0"/>
              </a:spcBef>
              <a:spcAft>
                <a:spcPts val="0"/>
              </a:spcAft>
              <a:buNone/>
            </a:pPr>
            <a:r>
              <a:rPr lang="es-AR" sz="1500" b="1">
                <a:solidFill>
                  <a:schemeClr val="lt1"/>
                </a:solidFill>
              </a:rPr>
              <a:t>DATOS</a:t>
            </a:r>
            <a:endParaRPr sz="1300">
              <a:solidFill>
                <a:schemeClr val="dk1"/>
              </a:solidFill>
              <a:latin typeface="Calibri"/>
              <a:ea typeface="Calibri"/>
              <a:cs typeface="Calibri"/>
              <a:sym typeface="Calibri"/>
            </a:endParaRPr>
          </a:p>
        </p:txBody>
      </p:sp>
      <p:pic>
        <p:nvPicPr>
          <p:cNvPr id="4" name="Imagen 3"/>
          <p:cNvPicPr>
            <a:picLocks noChangeAspect="1"/>
          </p:cNvPicPr>
          <p:nvPr/>
        </p:nvPicPr>
        <p:blipFill>
          <a:blip r:embed="rId4"/>
          <a:stretch>
            <a:fillRect/>
          </a:stretch>
        </p:blipFill>
        <p:spPr>
          <a:xfrm>
            <a:off x="289350" y="4356735"/>
            <a:ext cx="8591550" cy="2501265"/>
          </a:xfrm>
          <a:prstGeom prst="rect">
            <a:avLst/>
          </a:prstGeom>
        </p:spPr>
      </p:pic>
      <p:sp>
        <p:nvSpPr>
          <p:cNvPr id="7" name="CuadroTexto 6"/>
          <p:cNvSpPr txBox="1"/>
          <p:nvPr/>
        </p:nvSpPr>
        <p:spPr>
          <a:xfrm>
            <a:off x="203014" y="1942559"/>
            <a:ext cx="8737971" cy="3000821"/>
          </a:xfrm>
          <a:prstGeom prst="rect">
            <a:avLst/>
          </a:prstGeom>
          <a:noFill/>
        </p:spPr>
        <p:txBody>
          <a:bodyPr wrap="square" rtlCol="0">
            <a:spAutoFit/>
          </a:bodyPr>
          <a:lstStyle/>
          <a:p>
            <a:pPr algn="just">
              <a:lnSpc>
                <a:spcPct val="150000"/>
              </a:lnSpc>
            </a:pPr>
            <a:r>
              <a:rPr lang="es-AR" sz="1800" dirty="0"/>
              <a:t>Es una </a:t>
            </a:r>
            <a:r>
              <a:rPr lang="es-AR" sz="1800" dirty="0" err="1"/>
              <a:t>heap</a:t>
            </a:r>
            <a:r>
              <a:rPr lang="es-AR" sz="1800" dirty="0"/>
              <a:t>  o sea es un árbol binario ordenado por una condición de orden específica, lo que hace que sea un </a:t>
            </a:r>
            <a:r>
              <a:rPr lang="es-AR" sz="1800" b="1" dirty="0"/>
              <a:t>"min-</a:t>
            </a:r>
            <a:r>
              <a:rPr lang="es-AR" sz="1800" b="1" dirty="0" err="1"/>
              <a:t>heap</a:t>
            </a:r>
            <a:r>
              <a:rPr lang="es-AR" sz="1800" b="1" dirty="0"/>
              <a:t>" o un "</a:t>
            </a:r>
            <a:r>
              <a:rPr lang="es-AR" sz="1800" b="1" dirty="0" err="1"/>
              <a:t>max-heap</a:t>
            </a:r>
            <a:r>
              <a:rPr lang="es-AR" sz="1800" b="1" dirty="0"/>
              <a:t>". </a:t>
            </a:r>
            <a:r>
              <a:rPr lang="es-AR" sz="1800" dirty="0"/>
              <a:t>En un </a:t>
            </a:r>
            <a:r>
              <a:rPr lang="es-AR" sz="1800" b="1" dirty="0"/>
              <a:t>min-</a:t>
            </a:r>
            <a:r>
              <a:rPr lang="es-AR" sz="1800" b="1" dirty="0" err="1"/>
              <a:t>heap</a:t>
            </a:r>
            <a:r>
              <a:rPr lang="es-AR" sz="1800" dirty="0"/>
              <a:t>, cada nodo tiene un valor que es menor o igual que el valor de sus hijos. Esto implica que el nodo con el valor más pequeño siempre estará en la raíz del árbol. Por otro lado, en un </a:t>
            </a:r>
            <a:r>
              <a:rPr lang="es-AR" sz="1800" b="1" dirty="0" err="1"/>
              <a:t>max-heap</a:t>
            </a:r>
            <a:r>
              <a:rPr lang="es-AR" sz="1800" dirty="0"/>
              <a:t>, cada nodo tiene un valor mayor o igual que el valor de sus hijos, lo que significa que el nodo con el valor más grande siempre estará en la raíz del árbol.</a:t>
            </a:r>
          </a:p>
        </p:txBody>
      </p:sp>
    </p:spTree>
    <p:extLst>
      <p:ext uri="{BB962C8B-B14F-4D97-AF65-F5344CB8AC3E}">
        <p14:creationId xmlns:p14="http://schemas.microsoft.com/office/powerpoint/2010/main" val="24628450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30"/>
          <p:cNvSpPr txBox="1"/>
          <p:nvPr/>
        </p:nvSpPr>
        <p:spPr>
          <a:xfrm>
            <a:off x="156738" y="1421278"/>
            <a:ext cx="8724162" cy="523180"/>
          </a:xfrm>
          <a:prstGeom prst="rect">
            <a:avLst/>
          </a:prstGeom>
          <a:noFill/>
          <a:ln>
            <a:noFill/>
          </a:ln>
        </p:spPr>
        <p:txBody>
          <a:bodyPr spcFirstLastPara="1" wrap="square" lIns="91425" tIns="45700" rIns="91425" bIns="45700" anchor="t" anchorCtr="0">
            <a:spAutoFit/>
          </a:bodyPr>
          <a:lstStyle/>
          <a:p>
            <a:pPr lvl="0"/>
            <a:r>
              <a:rPr lang="es-AR" sz="2800" b="1" dirty="0">
                <a:solidFill>
                  <a:srgbClr val="538CD5"/>
                </a:solidFill>
              </a:rPr>
              <a:t> </a:t>
            </a:r>
            <a:r>
              <a:rPr lang="es-AR" sz="2800" b="1" dirty="0" err="1">
                <a:solidFill>
                  <a:srgbClr val="538CD5"/>
                </a:solidFill>
              </a:rPr>
              <a:t>Heapsort</a:t>
            </a:r>
            <a:r>
              <a:rPr lang="es-AR" sz="2800" b="1" dirty="0">
                <a:solidFill>
                  <a:srgbClr val="538CD5"/>
                </a:solidFill>
              </a:rPr>
              <a:t> presentada por un vector ordenado:</a:t>
            </a:r>
            <a:endParaRPr sz="2800" b="1" dirty="0">
              <a:solidFill>
                <a:srgbClr val="538CD5"/>
              </a:solidFill>
            </a:endParaRPr>
          </a:p>
        </p:txBody>
      </p:sp>
      <p:pic>
        <p:nvPicPr>
          <p:cNvPr id="205" name="Google Shape;205;p30"/>
          <p:cNvPicPr preferRelativeResize="0"/>
          <p:nvPr/>
        </p:nvPicPr>
        <p:blipFill rotWithShape="1">
          <a:blip r:embed="rId3">
            <a:alphaModFix/>
          </a:blip>
          <a:srcRect/>
          <a:stretch/>
        </p:blipFill>
        <p:spPr>
          <a:xfrm>
            <a:off x="0" y="1580"/>
            <a:ext cx="9144000" cy="1171495"/>
          </a:xfrm>
          <a:prstGeom prst="rect">
            <a:avLst/>
          </a:prstGeom>
          <a:noFill/>
          <a:ln>
            <a:noFill/>
          </a:ln>
        </p:spPr>
      </p:pic>
      <p:sp>
        <p:nvSpPr>
          <p:cNvPr id="207" name="Google Shape;207;p30"/>
          <p:cNvSpPr txBox="1"/>
          <p:nvPr/>
        </p:nvSpPr>
        <p:spPr>
          <a:xfrm>
            <a:off x="1649400" y="346425"/>
            <a:ext cx="5620080" cy="46162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AR" sz="2400" b="1" dirty="0">
                <a:solidFill>
                  <a:schemeClr val="lt1"/>
                </a:solidFill>
              </a:rPr>
              <a:t>Clase 9:  </a:t>
            </a:r>
            <a:r>
              <a:rPr lang="es-AR" sz="2400" b="1" dirty="0" err="1">
                <a:solidFill>
                  <a:schemeClr val="lt1"/>
                </a:solidFill>
              </a:rPr>
              <a:t>Heapsort</a:t>
            </a:r>
            <a:endParaRPr sz="1800" dirty="0">
              <a:solidFill>
                <a:schemeClr val="dk1"/>
              </a:solidFill>
              <a:latin typeface="Calibri"/>
              <a:ea typeface="Calibri"/>
              <a:cs typeface="Calibri"/>
              <a:sym typeface="Calibri"/>
            </a:endParaRPr>
          </a:p>
        </p:txBody>
      </p:sp>
      <p:sp>
        <p:nvSpPr>
          <p:cNvPr id="208" name="Google Shape;208;p30"/>
          <p:cNvSpPr txBox="1"/>
          <p:nvPr/>
        </p:nvSpPr>
        <p:spPr>
          <a:xfrm>
            <a:off x="-6" y="205025"/>
            <a:ext cx="1649400" cy="785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AR" sz="1500" b="1">
                <a:solidFill>
                  <a:schemeClr val="lt1"/>
                </a:solidFill>
              </a:rPr>
              <a:t>ESTRUCTURAS </a:t>
            </a:r>
            <a:endParaRPr sz="1500" b="1">
              <a:solidFill>
                <a:schemeClr val="lt1"/>
              </a:solidFill>
              <a:latin typeface="Arial"/>
              <a:ea typeface="Arial"/>
              <a:cs typeface="Arial"/>
              <a:sym typeface="Arial"/>
            </a:endParaRPr>
          </a:p>
          <a:p>
            <a:pPr marL="0" marR="0" lvl="0" indent="0" algn="l" rtl="0">
              <a:spcBef>
                <a:spcPts val="0"/>
              </a:spcBef>
              <a:spcAft>
                <a:spcPts val="0"/>
              </a:spcAft>
              <a:buNone/>
            </a:pPr>
            <a:r>
              <a:rPr lang="es-AR" sz="1500" b="1">
                <a:solidFill>
                  <a:schemeClr val="lt1"/>
                </a:solidFill>
              </a:rPr>
              <a:t>DE </a:t>
            </a:r>
            <a:endParaRPr sz="1500" b="1">
              <a:solidFill>
                <a:schemeClr val="lt1"/>
              </a:solidFill>
              <a:latin typeface="Arial"/>
              <a:ea typeface="Arial"/>
              <a:cs typeface="Arial"/>
              <a:sym typeface="Arial"/>
            </a:endParaRPr>
          </a:p>
          <a:p>
            <a:pPr marL="0" marR="0" lvl="0" indent="0" algn="l" rtl="0">
              <a:spcBef>
                <a:spcPts val="0"/>
              </a:spcBef>
              <a:spcAft>
                <a:spcPts val="0"/>
              </a:spcAft>
              <a:buNone/>
            </a:pPr>
            <a:r>
              <a:rPr lang="es-AR" sz="1500" b="1">
                <a:solidFill>
                  <a:schemeClr val="lt1"/>
                </a:solidFill>
              </a:rPr>
              <a:t>DATOS</a:t>
            </a:r>
            <a:endParaRPr sz="1300">
              <a:solidFill>
                <a:schemeClr val="dk1"/>
              </a:solidFill>
              <a:latin typeface="Calibri"/>
              <a:ea typeface="Calibri"/>
              <a:cs typeface="Calibri"/>
              <a:sym typeface="Calibri"/>
            </a:endParaRPr>
          </a:p>
        </p:txBody>
      </p:sp>
      <p:sp>
        <p:nvSpPr>
          <p:cNvPr id="7" name="CuadroTexto 6"/>
          <p:cNvSpPr txBox="1"/>
          <p:nvPr/>
        </p:nvSpPr>
        <p:spPr>
          <a:xfrm>
            <a:off x="340174" y="1944458"/>
            <a:ext cx="8677886" cy="2062103"/>
          </a:xfrm>
          <a:prstGeom prst="rect">
            <a:avLst/>
          </a:prstGeom>
          <a:noFill/>
        </p:spPr>
        <p:txBody>
          <a:bodyPr wrap="square" rtlCol="0">
            <a:spAutoFit/>
          </a:bodyPr>
          <a:lstStyle/>
          <a:p>
            <a:pPr algn="just"/>
            <a:r>
              <a:rPr lang="es-AR" sz="1600" dirty="0"/>
              <a:t>El Algoritmo creado por William Joseph Williams en 19641 para ordenar los elementos toma el mayor o menor (dependiendo si es un máximo o mínimo), es decir el que esta situado en la primer posición del vector y lo intercambia con el ultimo elemento del vector. Luego reubica el elemento colocado en la primera posición lo intercambia(para restablecer la propiedad de orden) y marca el ultimo elemento como ordenado </a:t>
            </a:r>
            <a:r>
              <a:rPr lang="es-AR" sz="1600" dirty="0" err="1"/>
              <a:t>decrementando</a:t>
            </a:r>
            <a:r>
              <a:rPr lang="es-AR" sz="1600" dirty="0"/>
              <a:t> el tamaño del vector. Y se repite sucesivamente este proceso con el resto de los elementos del vector hasta que el tamaño del vector desordenado es uno. Se puede observar el funcionamiento del algoritmo para ordenar un vector.</a:t>
            </a:r>
          </a:p>
        </p:txBody>
      </p:sp>
      <p:pic>
        <p:nvPicPr>
          <p:cNvPr id="3" name="Imagen 2"/>
          <p:cNvPicPr>
            <a:picLocks noChangeAspect="1"/>
          </p:cNvPicPr>
          <p:nvPr/>
        </p:nvPicPr>
        <p:blipFill>
          <a:blip r:embed="rId4"/>
          <a:stretch>
            <a:fillRect/>
          </a:stretch>
        </p:blipFill>
        <p:spPr>
          <a:xfrm>
            <a:off x="470370" y="3947852"/>
            <a:ext cx="4381500" cy="2828222"/>
          </a:xfrm>
          <a:prstGeom prst="rect">
            <a:avLst/>
          </a:prstGeom>
        </p:spPr>
      </p:pic>
      <p:pic>
        <p:nvPicPr>
          <p:cNvPr id="6" name="Imagen 5"/>
          <p:cNvPicPr>
            <a:picLocks noChangeAspect="1"/>
          </p:cNvPicPr>
          <p:nvPr/>
        </p:nvPicPr>
        <p:blipFill>
          <a:blip r:embed="rId5"/>
          <a:stretch>
            <a:fillRect/>
          </a:stretch>
        </p:blipFill>
        <p:spPr>
          <a:xfrm>
            <a:off x="6998132" y="3895119"/>
            <a:ext cx="1990725" cy="2526982"/>
          </a:xfrm>
          <a:prstGeom prst="rect">
            <a:avLst/>
          </a:prstGeom>
        </p:spPr>
      </p:pic>
      <p:pic>
        <p:nvPicPr>
          <p:cNvPr id="5" name="Imagen 4"/>
          <p:cNvPicPr>
            <a:picLocks noChangeAspect="1"/>
          </p:cNvPicPr>
          <p:nvPr/>
        </p:nvPicPr>
        <p:blipFill>
          <a:blip r:embed="rId6"/>
          <a:stretch>
            <a:fillRect/>
          </a:stretch>
        </p:blipFill>
        <p:spPr>
          <a:xfrm>
            <a:off x="5157226" y="3793201"/>
            <a:ext cx="1928516" cy="2628900"/>
          </a:xfrm>
          <a:prstGeom prst="rect">
            <a:avLst/>
          </a:prstGeom>
        </p:spPr>
      </p:pic>
      <p:sp>
        <p:nvSpPr>
          <p:cNvPr id="8" name="Flecha derecha 7"/>
          <p:cNvSpPr/>
          <p:nvPr/>
        </p:nvSpPr>
        <p:spPr>
          <a:xfrm>
            <a:off x="7085742" y="4331621"/>
            <a:ext cx="381000" cy="19812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32941485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30"/>
          <p:cNvSpPr txBox="1"/>
          <p:nvPr/>
        </p:nvSpPr>
        <p:spPr>
          <a:xfrm>
            <a:off x="156738" y="1421278"/>
            <a:ext cx="8724162" cy="523180"/>
          </a:xfrm>
          <a:prstGeom prst="rect">
            <a:avLst/>
          </a:prstGeom>
          <a:noFill/>
          <a:ln>
            <a:noFill/>
          </a:ln>
        </p:spPr>
        <p:txBody>
          <a:bodyPr spcFirstLastPara="1" wrap="square" lIns="91425" tIns="45700" rIns="91425" bIns="45700" anchor="t" anchorCtr="0">
            <a:spAutoFit/>
          </a:bodyPr>
          <a:lstStyle/>
          <a:p>
            <a:pPr lvl="0"/>
            <a:r>
              <a:rPr lang="es-AR" sz="2800" b="1" dirty="0">
                <a:solidFill>
                  <a:srgbClr val="538CD5"/>
                </a:solidFill>
              </a:rPr>
              <a:t> </a:t>
            </a:r>
            <a:r>
              <a:rPr lang="es-AR" sz="2800" b="1" dirty="0" err="1">
                <a:solidFill>
                  <a:srgbClr val="538CD5"/>
                </a:solidFill>
              </a:rPr>
              <a:t>Heapsort</a:t>
            </a:r>
            <a:r>
              <a:rPr lang="es-AR" sz="2800" b="1" dirty="0">
                <a:solidFill>
                  <a:srgbClr val="538CD5"/>
                </a:solidFill>
              </a:rPr>
              <a:t> ejemplo paso a paso:</a:t>
            </a:r>
            <a:endParaRPr sz="2800" b="1" dirty="0">
              <a:solidFill>
                <a:srgbClr val="538CD5"/>
              </a:solidFill>
            </a:endParaRPr>
          </a:p>
        </p:txBody>
      </p:sp>
      <p:pic>
        <p:nvPicPr>
          <p:cNvPr id="205" name="Google Shape;205;p30"/>
          <p:cNvPicPr preferRelativeResize="0"/>
          <p:nvPr/>
        </p:nvPicPr>
        <p:blipFill rotWithShape="1">
          <a:blip r:embed="rId3">
            <a:alphaModFix/>
          </a:blip>
          <a:srcRect/>
          <a:stretch/>
        </p:blipFill>
        <p:spPr>
          <a:xfrm>
            <a:off x="0" y="1580"/>
            <a:ext cx="9144000" cy="1171495"/>
          </a:xfrm>
          <a:prstGeom prst="rect">
            <a:avLst/>
          </a:prstGeom>
          <a:noFill/>
          <a:ln>
            <a:noFill/>
          </a:ln>
        </p:spPr>
      </p:pic>
      <p:sp>
        <p:nvSpPr>
          <p:cNvPr id="207" name="Google Shape;207;p30"/>
          <p:cNvSpPr txBox="1"/>
          <p:nvPr/>
        </p:nvSpPr>
        <p:spPr>
          <a:xfrm>
            <a:off x="1649400" y="346425"/>
            <a:ext cx="5620080" cy="46162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AR" sz="2400" b="1" dirty="0">
                <a:solidFill>
                  <a:schemeClr val="lt1"/>
                </a:solidFill>
              </a:rPr>
              <a:t>Clase 9:  </a:t>
            </a:r>
            <a:r>
              <a:rPr lang="es-AR" sz="2400" b="1" dirty="0" err="1">
                <a:solidFill>
                  <a:schemeClr val="lt1"/>
                </a:solidFill>
              </a:rPr>
              <a:t>Heapsort</a:t>
            </a:r>
            <a:endParaRPr sz="1800" dirty="0">
              <a:solidFill>
                <a:schemeClr val="dk1"/>
              </a:solidFill>
              <a:latin typeface="Calibri"/>
              <a:ea typeface="Calibri"/>
              <a:cs typeface="Calibri"/>
              <a:sym typeface="Calibri"/>
            </a:endParaRPr>
          </a:p>
        </p:txBody>
      </p:sp>
      <p:sp>
        <p:nvSpPr>
          <p:cNvPr id="208" name="Google Shape;208;p30"/>
          <p:cNvSpPr txBox="1"/>
          <p:nvPr/>
        </p:nvSpPr>
        <p:spPr>
          <a:xfrm>
            <a:off x="-6" y="205025"/>
            <a:ext cx="1649400" cy="785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AR" sz="1500" b="1">
                <a:solidFill>
                  <a:schemeClr val="lt1"/>
                </a:solidFill>
              </a:rPr>
              <a:t>ESTRUCTURAS </a:t>
            </a:r>
            <a:endParaRPr sz="1500" b="1">
              <a:solidFill>
                <a:schemeClr val="lt1"/>
              </a:solidFill>
              <a:latin typeface="Arial"/>
              <a:ea typeface="Arial"/>
              <a:cs typeface="Arial"/>
              <a:sym typeface="Arial"/>
            </a:endParaRPr>
          </a:p>
          <a:p>
            <a:pPr marL="0" marR="0" lvl="0" indent="0" algn="l" rtl="0">
              <a:spcBef>
                <a:spcPts val="0"/>
              </a:spcBef>
              <a:spcAft>
                <a:spcPts val="0"/>
              </a:spcAft>
              <a:buNone/>
            </a:pPr>
            <a:r>
              <a:rPr lang="es-AR" sz="1500" b="1">
                <a:solidFill>
                  <a:schemeClr val="lt1"/>
                </a:solidFill>
              </a:rPr>
              <a:t>DE </a:t>
            </a:r>
            <a:endParaRPr sz="1500" b="1">
              <a:solidFill>
                <a:schemeClr val="lt1"/>
              </a:solidFill>
              <a:latin typeface="Arial"/>
              <a:ea typeface="Arial"/>
              <a:cs typeface="Arial"/>
              <a:sym typeface="Arial"/>
            </a:endParaRPr>
          </a:p>
          <a:p>
            <a:pPr marL="0" marR="0" lvl="0" indent="0" algn="l" rtl="0">
              <a:spcBef>
                <a:spcPts val="0"/>
              </a:spcBef>
              <a:spcAft>
                <a:spcPts val="0"/>
              </a:spcAft>
              <a:buNone/>
            </a:pPr>
            <a:r>
              <a:rPr lang="es-AR" sz="1500" b="1">
                <a:solidFill>
                  <a:schemeClr val="lt1"/>
                </a:solidFill>
              </a:rPr>
              <a:t>DATOS</a:t>
            </a:r>
            <a:endParaRPr sz="1300">
              <a:solidFill>
                <a:schemeClr val="dk1"/>
              </a:solidFill>
              <a:latin typeface="Calibri"/>
              <a:ea typeface="Calibri"/>
              <a:cs typeface="Calibri"/>
              <a:sym typeface="Calibri"/>
            </a:endParaRPr>
          </a:p>
        </p:txBody>
      </p:sp>
      <p:pic>
        <p:nvPicPr>
          <p:cNvPr id="2" name="Imagen 1"/>
          <p:cNvPicPr>
            <a:picLocks noChangeAspect="1"/>
          </p:cNvPicPr>
          <p:nvPr/>
        </p:nvPicPr>
        <p:blipFill>
          <a:blip r:embed="rId4"/>
          <a:stretch>
            <a:fillRect/>
          </a:stretch>
        </p:blipFill>
        <p:spPr>
          <a:xfrm>
            <a:off x="452437" y="2028825"/>
            <a:ext cx="8239125" cy="2497455"/>
          </a:xfrm>
          <a:prstGeom prst="rect">
            <a:avLst/>
          </a:prstGeom>
        </p:spPr>
      </p:pic>
      <p:pic>
        <p:nvPicPr>
          <p:cNvPr id="5" name="Imagen 4"/>
          <p:cNvPicPr>
            <a:picLocks noChangeAspect="1"/>
          </p:cNvPicPr>
          <p:nvPr/>
        </p:nvPicPr>
        <p:blipFill>
          <a:blip r:embed="rId5"/>
          <a:stretch>
            <a:fillRect/>
          </a:stretch>
        </p:blipFill>
        <p:spPr>
          <a:xfrm>
            <a:off x="2975400" y="4526280"/>
            <a:ext cx="5905500" cy="2225040"/>
          </a:xfrm>
          <a:prstGeom prst="rect">
            <a:avLst/>
          </a:prstGeom>
        </p:spPr>
      </p:pic>
      <p:sp>
        <p:nvSpPr>
          <p:cNvPr id="6" name="CuadroTexto 5"/>
          <p:cNvSpPr txBox="1"/>
          <p:nvPr/>
        </p:nvSpPr>
        <p:spPr>
          <a:xfrm>
            <a:off x="685800" y="4038600"/>
            <a:ext cx="2289600" cy="2554545"/>
          </a:xfrm>
          <a:prstGeom prst="rect">
            <a:avLst/>
          </a:prstGeom>
          <a:noFill/>
        </p:spPr>
        <p:txBody>
          <a:bodyPr wrap="square" rtlCol="0">
            <a:spAutoFit/>
          </a:bodyPr>
          <a:lstStyle/>
          <a:p>
            <a:pPr algn="just"/>
            <a:r>
              <a:rPr lang="es-ES" sz="1600" dirty="0"/>
              <a:t>-Intercambiamos la raíz con el último elemento del vector</a:t>
            </a:r>
          </a:p>
          <a:p>
            <a:pPr algn="just"/>
            <a:r>
              <a:rPr lang="es-ES" sz="1600" dirty="0"/>
              <a:t>-Luego ordenamos la raíz con respecto a los hijos</a:t>
            </a:r>
          </a:p>
          <a:p>
            <a:pPr algn="just"/>
            <a:r>
              <a:rPr lang="es-ES" sz="1600" dirty="0"/>
              <a:t>-Intercambiamos nuevamente la raíz con el anteúltimo elemento del vector</a:t>
            </a:r>
            <a:endParaRPr lang="es-AR" sz="1600" dirty="0"/>
          </a:p>
        </p:txBody>
      </p:sp>
    </p:spTree>
    <p:extLst>
      <p:ext uri="{BB962C8B-B14F-4D97-AF65-F5344CB8AC3E}">
        <p14:creationId xmlns:p14="http://schemas.microsoft.com/office/powerpoint/2010/main" val="33673532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pic>
        <p:nvPicPr>
          <p:cNvPr id="205" name="Google Shape;205;p30"/>
          <p:cNvPicPr preferRelativeResize="0"/>
          <p:nvPr/>
        </p:nvPicPr>
        <p:blipFill rotWithShape="1">
          <a:blip r:embed="rId3">
            <a:alphaModFix/>
          </a:blip>
          <a:srcRect/>
          <a:stretch/>
        </p:blipFill>
        <p:spPr>
          <a:xfrm>
            <a:off x="0" y="1580"/>
            <a:ext cx="9144000" cy="1171495"/>
          </a:xfrm>
          <a:prstGeom prst="rect">
            <a:avLst/>
          </a:prstGeom>
          <a:noFill/>
          <a:ln>
            <a:noFill/>
          </a:ln>
        </p:spPr>
      </p:pic>
      <p:sp>
        <p:nvSpPr>
          <p:cNvPr id="207" name="Google Shape;207;p30"/>
          <p:cNvSpPr txBox="1"/>
          <p:nvPr/>
        </p:nvSpPr>
        <p:spPr>
          <a:xfrm>
            <a:off x="1649400" y="346425"/>
            <a:ext cx="5620080" cy="46162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AR" sz="2400" b="1" dirty="0">
                <a:solidFill>
                  <a:schemeClr val="lt1"/>
                </a:solidFill>
              </a:rPr>
              <a:t>Clase 9:  </a:t>
            </a:r>
            <a:r>
              <a:rPr lang="es-AR" sz="2400" b="1" dirty="0" err="1">
                <a:solidFill>
                  <a:schemeClr val="lt1"/>
                </a:solidFill>
              </a:rPr>
              <a:t>Heapsort</a:t>
            </a:r>
            <a:endParaRPr sz="1800" dirty="0">
              <a:solidFill>
                <a:schemeClr val="dk1"/>
              </a:solidFill>
              <a:latin typeface="Calibri"/>
              <a:ea typeface="Calibri"/>
              <a:cs typeface="Calibri"/>
              <a:sym typeface="Calibri"/>
            </a:endParaRPr>
          </a:p>
        </p:txBody>
      </p:sp>
      <p:sp>
        <p:nvSpPr>
          <p:cNvPr id="208" name="Google Shape;208;p30"/>
          <p:cNvSpPr txBox="1"/>
          <p:nvPr/>
        </p:nvSpPr>
        <p:spPr>
          <a:xfrm>
            <a:off x="-6" y="205025"/>
            <a:ext cx="1649400" cy="785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AR" sz="1500" b="1">
                <a:solidFill>
                  <a:schemeClr val="lt1"/>
                </a:solidFill>
              </a:rPr>
              <a:t>ESTRUCTURAS </a:t>
            </a:r>
            <a:endParaRPr sz="1500" b="1">
              <a:solidFill>
                <a:schemeClr val="lt1"/>
              </a:solidFill>
              <a:latin typeface="Arial"/>
              <a:ea typeface="Arial"/>
              <a:cs typeface="Arial"/>
              <a:sym typeface="Arial"/>
            </a:endParaRPr>
          </a:p>
          <a:p>
            <a:pPr marL="0" marR="0" lvl="0" indent="0" algn="l" rtl="0">
              <a:spcBef>
                <a:spcPts val="0"/>
              </a:spcBef>
              <a:spcAft>
                <a:spcPts val="0"/>
              </a:spcAft>
              <a:buNone/>
            </a:pPr>
            <a:r>
              <a:rPr lang="es-AR" sz="1500" b="1">
                <a:solidFill>
                  <a:schemeClr val="lt1"/>
                </a:solidFill>
              </a:rPr>
              <a:t>DE </a:t>
            </a:r>
            <a:endParaRPr sz="1500" b="1">
              <a:solidFill>
                <a:schemeClr val="lt1"/>
              </a:solidFill>
              <a:latin typeface="Arial"/>
              <a:ea typeface="Arial"/>
              <a:cs typeface="Arial"/>
              <a:sym typeface="Arial"/>
            </a:endParaRPr>
          </a:p>
          <a:p>
            <a:pPr marL="0" marR="0" lvl="0" indent="0" algn="l" rtl="0">
              <a:spcBef>
                <a:spcPts val="0"/>
              </a:spcBef>
              <a:spcAft>
                <a:spcPts val="0"/>
              </a:spcAft>
              <a:buNone/>
            </a:pPr>
            <a:r>
              <a:rPr lang="es-AR" sz="1500" b="1">
                <a:solidFill>
                  <a:schemeClr val="lt1"/>
                </a:solidFill>
              </a:rPr>
              <a:t>DATOS</a:t>
            </a:r>
            <a:endParaRPr sz="1300">
              <a:solidFill>
                <a:schemeClr val="dk1"/>
              </a:solidFill>
              <a:latin typeface="Calibri"/>
              <a:ea typeface="Calibri"/>
              <a:cs typeface="Calibri"/>
              <a:sym typeface="Calibri"/>
            </a:endParaRPr>
          </a:p>
        </p:txBody>
      </p:sp>
      <p:pic>
        <p:nvPicPr>
          <p:cNvPr id="3" name="Imagen 2"/>
          <p:cNvPicPr>
            <a:picLocks noChangeAspect="1"/>
          </p:cNvPicPr>
          <p:nvPr/>
        </p:nvPicPr>
        <p:blipFill>
          <a:blip r:embed="rId4"/>
          <a:stretch>
            <a:fillRect/>
          </a:stretch>
        </p:blipFill>
        <p:spPr>
          <a:xfrm>
            <a:off x="236696" y="1376520"/>
            <a:ext cx="8670608" cy="2809875"/>
          </a:xfrm>
          <a:prstGeom prst="rect">
            <a:avLst/>
          </a:prstGeom>
        </p:spPr>
      </p:pic>
      <p:pic>
        <p:nvPicPr>
          <p:cNvPr id="6" name="Imagen 5"/>
          <p:cNvPicPr>
            <a:picLocks noChangeAspect="1"/>
          </p:cNvPicPr>
          <p:nvPr/>
        </p:nvPicPr>
        <p:blipFill>
          <a:blip r:embed="rId5"/>
          <a:stretch>
            <a:fillRect/>
          </a:stretch>
        </p:blipFill>
        <p:spPr>
          <a:xfrm>
            <a:off x="-5" y="3990975"/>
            <a:ext cx="9144006" cy="2867025"/>
          </a:xfrm>
          <a:prstGeom prst="rect">
            <a:avLst/>
          </a:prstGeom>
        </p:spPr>
      </p:pic>
      <p:sp>
        <p:nvSpPr>
          <p:cNvPr id="7" name="CuadroTexto 6"/>
          <p:cNvSpPr txBox="1"/>
          <p:nvPr/>
        </p:nvSpPr>
        <p:spPr>
          <a:xfrm>
            <a:off x="236696" y="1968246"/>
            <a:ext cx="2194832" cy="307777"/>
          </a:xfrm>
          <a:prstGeom prst="rect">
            <a:avLst/>
          </a:prstGeom>
          <a:noFill/>
        </p:spPr>
        <p:txBody>
          <a:bodyPr wrap="none" rtlCol="0">
            <a:spAutoFit/>
          </a:bodyPr>
          <a:lstStyle/>
          <a:p>
            <a:r>
              <a:rPr lang="es-ES" dirty="0"/>
              <a:t>Se intercambia el 9 x el 2</a:t>
            </a:r>
            <a:endParaRPr lang="es-AR" dirty="0"/>
          </a:p>
        </p:txBody>
      </p:sp>
      <p:sp>
        <p:nvSpPr>
          <p:cNvPr id="8" name="CuadroTexto 7"/>
          <p:cNvSpPr txBox="1"/>
          <p:nvPr/>
        </p:nvSpPr>
        <p:spPr>
          <a:xfrm>
            <a:off x="2448428" y="1941540"/>
            <a:ext cx="2343911" cy="307777"/>
          </a:xfrm>
          <a:prstGeom prst="rect">
            <a:avLst/>
          </a:prstGeom>
          <a:noFill/>
        </p:spPr>
        <p:txBody>
          <a:bodyPr wrap="none" rtlCol="0">
            <a:spAutoFit/>
          </a:bodyPr>
          <a:lstStyle/>
          <a:p>
            <a:r>
              <a:rPr lang="es-ES" dirty="0"/>
              <a:t>Ordeno la raíz con los hijos</a:t>
            </a:r>
            <a:endParaRPr lang="es-AR" dirty="0"/>
          </a:p>
        </p:txBody>
      </p:sp>
      <p:sp>
        <p:nvSpPr>
          <p:cNvPr id="9" name="CuadroTexto 8"/>
          <p:cNvSpPr txBox="1"/>
          <p:nvPr/>
        </p:nvSpPr>
        <p:spPr>
          <a:xfrm>
            <a:off x="4792339" y="1968246"/>
            <a:ext cx="2332690" cy="307777"/>
          </a:xfrm>
          <a:prstGeom prst="rect">
            <a:avLst/>
          </a:prstGeom>
          <a:noFill/>
        </p:spPr>
        <p:txBody>
          <a:bodyPr wrap="none" rtlCol="0">
            <a:spAutoFit/>
          </a:bodyPr>
          <a:lstStyle/>
          <a:p>
            <a:r>
              <a:rPr lang="es-ES" dirty="0"/>
              <a:t>Intercambio la raíz con el 6</a:t>
            </a:r>
            <a:endParaRPr lang="es-AR" dirty="0"/>
          </a:p>
        </p:txBody>
      </p:sp>
      <p:sp>
        <p:nvSpPr>
          <p:cNvPr id="10" name="CuadroTexto 9"/>
          <p:cNvSpPr txBox="1"/>
          <p:nvPr/>
        </p:nvSpPr>
        <p:spPr>
          <a:xfrm>
            <a:off x="5999136" y="4624232"/>
            <a:ext cx="2908168" cy="307777"/>
          </a:xfrm>
          <a:prstGeom prst="rect">
            <a:avLst/>
          </a:prstGeom>
          <a:noFill/>
        </p:spPr>
        <p:txBody>
          <a:bodyPr wrap="none" rtlCol="0">
            <a:spAutoFit/>
          </a:bodyPr>
          <a:lstStyle/>
          <a:p>
            <a:r>
              <a:rPr lang="es-ES" dirty="0"/>
              <a:t>No quedan elementos por ordenar</a:t>
            </a:r>
            <a:endParaRPr lang="es-AR" dirty="0"/>
          </a:p>
        </p:txBody>
      </p:sp>
    </p:spTree>
    <p:extLst>
      <p:ext uri="{BB962C8B-B14F-4D97-AF65-F5344CB8AC3E}">
        <p14:creationId xmlns:p14="http://schemas.microsoft.com/office/powerpoint/2010/main" val="11150889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30"/>
          <p:cNvSpPr txBox="1"/>
          <p:nvPr/>
        </p:nvSpPr>
        <p:spPr>
          <a:xfrm>
            <a:off x="156738" y="1421278"/>
            <a:ext cx="8724162" cy="523180"/>
          </a:xfrm>
          <a:prstGeom prst="rect">
            <a:avLst/>
          </a:prstGeom>
          <a:noFill/>
          <a:ln>
            <a:noFill/>
          </a:ln>
        </p:spPr>
        <p:txBody>
          <a:bodyPr spcFirstLastPara="1" wrap="square" lIns="91425" tIns="45700" rIns="91425" bIns="45700" anchor="t" anchorCtr="0">
            <a:spAutoFit/>
          </a:bodyPr>
          <a:lstStyle/>
          <a:p>
            <a:pPr lvl="0"/>
            <a:r>
              <a:rPr lang="es-AR" sz="2800" b="1" dirty="0">
                <a:solidFill>
                  <a:srgbClr val="538CD5"/>
                </a:solidFill>
              </a:rPr>
              <a:t> Implementación de la </a:t>
            </a:r>
            <a:r>
              <a:rPr lang="es-AR" sz="2800" b="1" dirty="0" err="1">
                <a:solidFill>
                  <a:srgbClr val="538CD5"/>
                </a:solidFill>
              </a:rPr>
              <a:t>Heap</a:t>
            </a:r>
            <a:r>
              <a:rPr lang="es-AR" sz="2800" b="1" dirty="0">
                <a:solidFill>
                  <a:srgbClr val="538CD5"/>
                </a:solidFill>
              </a:rPr>
              <a:t>:</a:t>
            </a:r>
            <a:endParaRPr sz="2800" b="1" dirty="0">
              <a:solidFill>
                <a:srgbClr val="538CD5"/>
              </a:solidFill>
            </a:endParaRPr>
          </a:p>
        </p:txBody>
      </p:sp>
      <p:pic>
        <p:nvPicPr>
          <p:cNvPr id="205" name="Google Shape;205;p30"/>
          <p:cNvPicPr preferRelativeResize="0"/>
          <p:nvPr/>
        </p:nvPicPr>
        <p:blipFill rotWithShape="1">
          <a:blip r:embed="rId3">
            <a:alphaModFix/>
          </a:blip>
          <a:srcRect/>
          <a:stretch/>
        </p:blipFill>
        <p:spPr>
          <a:xfrm>
            <a:off x="0" y="1580"/>
            <a:ext cx="9144000" cy="1171495"/>
          </a:xfrm>
          <a:prstGeom prst="rect">
            <a:avLst/>
          </a:prstGeom>
          <a:noFill/>
          <a:ln>
            <a:noFill/>
          </a:ln>
        </p:spPr>
      </p:pic>
      <p:sp>
        <p:nvSpPr>
          <p:cNvPr id="207" name="Google Shape;207;p30"/>
          <p:cNvSpPr txBox="1"/>
          <p:nvPr/>
        </p:nvSpPr>
        <p:spPr>
          <a:xfrm>
            <a:off x="1649400" y="346425"/>
            <a:ext cx="5620080" cy="46162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AR" sz="2400" b="1" dirty="0">
                <a:solidFill>
                  <a:schemeClr val="lt1"/>
                </a:solidFill>
              </a:rPr>
              <a:t>Clase 9:  </a:t>
            </a:r>
            <a:r>
              <a:rPr lang="es-AR" sz="2400" b="1" dirty="0" err="1">
                <a:solidFill>
                  <a:schemeClr val="lt1"/>
                </a:solidFill>
              </a:rPr>
              <a:t>Heap</a:t>
            </a:r>
            <a:r>
              <a:rPr lang="es-AR" sz="2400" b="1" dirty="0">
                <a:solidFill>
                  <a:schemeClr val="lt1"/>
                </a:solidFill>
              </a:rPr>
              <a:t> Binaria</a:t>
            </a:r>
            <a:endParaRPr sz="1800" dirty="0">
              <a:solidFill>
                <a:schemeClr val="dk1"/>
              </a:solidFill>
              <a:latin typeface="Calibri"/>
              <a:ea typeface="Calibri"/>
              <a:cs typeface="Calibri"/>
              <a:sym typeface="Calibri"/>
            </a:endParaRPr>
          </a:p>
        </p:txBody>
      </p:sp>
      <p:sp>
        <p:nvSpPr>
          <p:cNvPr id="208" name="Google Shape;208;p30"/>
          <p:cNvSpPr txBox="1"/>
          <p:nvPr/>
        </p:nvSpPr>
        <p:spPr>
          <a:xfrm>
            <a:off x="-6" y="205025"/>
            <a:ext cx="1649400" cy="785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AR" sz="1500" b="1">
                <a:solidFill>
                  <a:schemeClr val="lt1"/>
                </a:solidFill>
              </a:rPr>
              <a:t>ESTRUCTURAS </a:t>
            </a:r>
            <a:endParaRPr sz="1500" b="1">
              <a:solidFill>
                <a:schemeClr val="lt1"/>
              </a:solidFill>
              <a:latin typeface="Arial"/>
              <a:ea typeface="Arial"/>
              <a:cs typeface="Arial"/>
              <a:sym typeface="Arial"/>
            </a:endParaRPr>
          </a:p>
          <a:p>
            <a:pPr marL="0" marR="0" lvl="0" indent="0" algn="l" rtl="0">
              <a:spcBef>
                <a:spcPts val="0"/>
              </a:spcBef>
              <a:spcAft>
                <a:spcPts val="0"/>
              </a:spcAft>
              <a:buNone/>
            </a:pPr>
            <a:r>
              <a:rPr lang="es-AR" sz="1500" b="1">
                <a:solidFill>
                  <a:schemeClr val="lt1"/>
                </a:solidFill>
              </a:rPr>
              <a:t>DE </a:t>
            </a:r>
            <a:endParaRPr sz="1500" b="1">
              <a:solidFill>
                <a:schemeClr val="lt1"/>
              </a:solidFill>
              <a:latin typeface="Arial"/>
              <a:ea typeface="Arial"/>
              <a:cs typeface="Arial"/>
              <a:sym typeface="Arial"/>
            </a:endParaRPr>
          </a:p>
          <a:p>
            <a:pPr marL="0" marR="0" lvl="0" indent="0" algn="l" rtl="0">
              <a:spcBef>
                <a:spcPts val="0"/>
              </a:spcBef>
              <a:spcAft>
                <a:spcPts val="0"/>
              </a:spcAft>
              <a:buNone/>
            </a:pPr>
            <a:r>
              <a:rPr lang="es-AR" sz="1500" b="1">
                <a:solidFill>
                  <a:schemeClr val="lt1"/>
                </a:solidFill>
              </a:rPr>
              <a:t>DATOS</a:t>
            </a:r>
            <a:endParaRPr sz="1300">
              <a:solidFill>
                <a:schemeClr val="dk1"/>
              </a:solidFill>
              <a:latin typeface="Calibri"/>
              <a:ea typeface="Calibri"/>
              <a:cs typeface="Calibri"/>
              <a:sym typeface="Calibri"/>
            </a:endParaRPr>
          </a:p>
        </p:txBody>
      </p:sp>
      <p:pic>
        <p:nvPicPr>
          <p:cNvPr id="3" name="Imagen 2"/>
          <p:cNvPicPr>
            <a:picLocks noChangeAspect="1"/>
          </p:cNvPicPr>
          <p:nvPr/>
        </p:nvPicPr>
        <p:blipFill>
          <a:blip r:embed="rId4"/>
          <a:stretch>
            <a:fillRect/>
          </a:stretch>
        </p:blipFill>
        <p:spPr>
          <a:xfrm>
            <a:off x="543877" y="2192661"/>
            <a:ext cx="7262813" cy="1809750"/>
          </a:xfrm>
          <a:prstGeom prst="rect">
            <a:avLst/>
          </a:prstGeom>
        </p:spPr>
      </p:pic>
      <p:sp>
        <p:nvSpPr>
          <p:cNvPr id="6" name="CuadroTexto 5"/>
          <p:cNvSpPr txBox="1"/>
          <p:nvPr/>
        </p:nvSpPr>
        <p:spPr>
          <a:xfrm>
            <a:off x="543877" y="4250614"/>
            <a:ext cx="7511993" cy="2677656"/>
          </a:xfrm>
          <a:prstGeom prst="rect">
            <a:avLst/>
          </a:prstGeom>
          <a:noFill/>
        </p:spPr>
        <p:txBody>
          <a:bodyPr wrap="none" rtlCol="0">
            <a:spAutoFit/>
          </a:bodyPr>
          <a:lstStyle/>
          <a:p>
            <a:r>
              <a:rPr lang="es-AR" sz="2000" dirty="0"/>
              <a:t>Una </a:t>
            </a:r>
            <a:r>
              <a:rPr lang="es-AR" sz="2000" dirty="0" err="1"/>
              <a:t>heap</a:t>
            </a:r>
            <a:r>
              <a:rPr lang="es-AR" sz="2000" dirty="0"/>
              <a:t> H consta de:</a:t>
            </a:r>
          </a:p>
          <a:p>
            <a:pPr marL="285750" indent="-285750">
              <a:buFont typeface="Arial" panose="020B0604020202020204" pitchFamily="34" charset="0"/>
              <a:buChar char="•"/>
            </a:pPr>
            <a:r>
              <a:rPr lang="es-AR" sz="2000" i="1" dirty="0"/>
              <a:t>Un arreglo que contiene los datos</a:t>
            </a:r>
            <a:endParaRPr lang="es-AR" sz="2000" dirty="0"/>
          </a:p>
          <a:p>
            <a:pPr marL="285750" indent="-285750">
              <a:buFont typeface="Arial" panose="020B0604020202020204" pitchFamily="34" charset="0"/>
              <a:buChar char="•"/>
            </a:pPr>
            <a:r>
              <a:rPr lang="es-AR" sz="2000" i="1" dirty="0"/>
              <a:t>Un valor que me indica el número de elementos almacenados</a:t>
            </a:r>
          </a:p>
          <a:p>
            <a:pPr marL="285750" indent="-285750">
              <a:buFont typeface="Arial" panose="020B0604020202020204" pitchFamily="34" charset="0"/>
              <a:buChar char="•"/>
            </a:pPr>
            <a:endParaRPr lang="es-ES" sz="2000" i="1" dirty="0"/>
          </a:p>
          <a:p>
            <a:r>
              <a:rPr lang="es-AR" sz="2000" dirty="0"/>
              <a:t>Ventaja:</a:t>
            </a:r>
          </a:p>
          <a:p>
            <a:pPr marL="342900" indent="-342900">
              <a:buFont typeface="Arial" panose="020B0604020202020204" pitchFamily="34" charset="0"/>
              <a:buChar char="•"/>
            </a:pPr>
            <a:r>
              <a:rPr lang="es-AR" sz="2000" dirty="0"/>
              <a:t>No se necesita usar punteros</a:t>
            </a:r>
          </a:p>
          <a:p>
            <a:pPr marL="342900" indent="-342900">
              <a:buFont typeface="Arial" panose="020B0604020202020204" pitchFamily="34" charset="0"/>
              <a:buChar char="•"/>
            </a:pPr>
            <a:r>
              <a:rPr lang="es-AR" sz="2000" dirty="0"/>
              <a:t>Fácil implementación de las operaciones</a:t>
            </a:r>
          </a:p>
          <a:p>
            <a:pPr marL="285750" indent="-285750">
              <a:buFont typeface="Arial" panose="020B0604020202020204" pitchFamily="34" charset="0"/>
              <a:buChar char="•"/>
            </a:pPr>
            <a:endParaRPr lang="es-AR" dirty="0"/>
          </a:p>
          <a:p>
            <a:endParaRPr lang="es-AR" dirty="0"/>
          </a:p>
        </p:txBody>
      </p:sp>
    </p:spTree>
    <p:extLst>
      <p:ext uri="{BB962C8B-B14F-4D97-AF65-F5344CB8AC3E}">
        <p14:creationId xmlns:p14="http://schemas.microsoft.com/office/powerpoint/2010/main" val="17667104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3">
          <a:extLst>
            <a:ext uri="{FF2B5EF4-FFF2-40B4-BE49-F238E27FC236}">
              <a16:creationId xmlns:a16="http://schemas.microsoft.com/office/drawing/2014/main" id="{BEFEC198-0F98-1CD5-E674-03F725449BAC}"/>
            </a:ext>
          </a:extLst>
        </p:cNvPr>
        <p:cNvGrpSpPr/>
        <p:nvPr/>
      </p:nvGrpSpPr>
      <p:grpSpPr>
        <a:xfrm>
          <a:off x="0" y="0"/>
          <a:ext cx="0" cy="0"/>
          <a:chOff x="0" y="0"/>
          <a:chExt cx="0" cy="0"/>
        </a:xfrm>
      </p:grpSpPr>
      <p:pic>
        <p:nvPicPr>
          <p:cNvPr id="205" name="Google Shape;205;p30">
            <a:extLst>
              <a:ext uri="{FF2B5EF4-FFF2-40B4-BE49-F238E27FC236}">
                <a16:creationId xmlns:a16="http://schemas.microsoft.com/office/drawing/2014/main" id="{AFE4F5D9-6794-5FDA-6C34-919611CC69A0}"/>
              </a:ext>
            </a:extLst>
          </p:cNvPr>
          <p:cNvPicPr preferRelativeResize="0"/>
          <p:nvPr/>
        </p:nvPicPr>
        <p:blipFill rotWithShape="1">
          <a:blip r:embed="rId3">
            <a:alphaModFix/>
          </a:blip>
          <a:srcRect/>
          <a:stretch/>
        </p:blipFill>
        <p:spPr>
          <a:xfrm>
            <a:off x="0" y="1580"/>
            <a:ext cx="9144000" cy="1171495"/>
          </a:xfrm>
          <a:prstGeom prst="rect">
            <a:avLst/>
          </a:prstGeom>
          <a:noFill/>
          <a:ln>
            <a:noFill/>
          </a:ln>
        </p:spPr>
      </p:pic>
      <p:sp>
        <p:nvSpPr>
          <p:cNvPr id="207" name="Google Shape;207;p30">
            <a:extLst>
              <a:ext uri="{FF2B5EF4-FFF2-40B4-BE49-F238E27FC236}">
                <a16:creationId xmlns:a16="http://schemas.microsoft.com/office/drawing/2014/main" id="{9A15EAF8-9DEF-2FC0-892B-FD56F6C4D17C}"/>
              </a:ext>
            </a:extLst>
          </p:cNvPr>
          <p:cNvSpPr txBox="1"/>
          <p:nvPr/>
        </p:nvSpPr>
        <p:spPr>
          <a:xfrm>
            <a:off x="1649400" y="346425"/>
            <a:ext cx="5620080" cy="46162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AR" sz="2400" b="1" dirty="0">
                <a:solidFill>
                  <a:schemeClr val="lt1"/>
                </a:solidFill>
              </a:rPr>
              <a:t>Clase 9</a:t>
            </a:r>
            <a:endParaRPr sz="1800" dirty="0">
              <a:solidFill>
                <a:schemeClr val="dk1"/>
              </a:solidFill>
              <a:latin typeface="Calibri"/>
              <a:ea typeface="Calibri"/>
              <a:cs typeface="Calibri"/>
              <a:sym typeface="Calibri"/>
            </a:endParaRPr>
          </a:p>
        </p:txBody>
      </p:sp>
      <p:sp>
        <p:nvSpPr>
          <p:cNvPr id="208" name="Google Shape;208;p30">
            <a:extLst>
              <a:ext uri="{FF2B5EF4-FFF2-40B4-BE49-F238E27FC236}">
                <a16:creationId xmlns:a16="http://schemas.microsoft.com/office/drawing/2014/main" id="{A7CB1BA6-B4D7-EB03-DFA2-0AECA0538592}"/>
              </a:ext>
            </a:extLst>
          </p:cNvPr>
          <p:cNvSpPr txBox="1"/>
          <p:nvPr/>
        </p:nvSpPr>
        <p:spPr>
          <a:xfrm>
            <a:off x="-6" y="205025"/>
            <a:ext cx="1649400" cy="785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AR" sz="1500" b="1">
                <a:solidFill>
                  <a:schemeClr val="lt1"/>
                </a:solidFill>
              </a:rPr>
              <a:t>ESTRUCTURAS </a:t>
            </a:r>
            <a:endParaRPr sz="1500" b="1">
              <a:solidFill>
                <a:schemeClr val="lt1"/>
              </a:solidFill>
              <a:latin typeface="Arial"/>
              <a:ea typeface="Arial"/>
              <a:cs typeface="Arial"/>
              <a:sym typeface="Arial"/>
            </a:endParaRPr>
          </a:p>
          <a:p>
            <a:pPr marL="0" marR="0" lvl="0" indent="0" algn="l" rtl="0">
              <a:spcBef>
                <a:spcPts val="0"/>
              </a:spcBef>
              <a:spcAft>
                <a:spcPts val="0"/>
              </a:spcAft>
              <a:buNone/>
            </a:pPr>
            <a:r>
              <a:rPr lang="es-AR" sz="1500" b="1">
                <a:solidFill>
                  <a:schemeClr val="lt1"/>
                </a:solidFill>
              </a:rPr>
              <a:t>DE </a:t>
            </a:r>
            <a:endParaRPr sz="1500" b="1">
              <a:solidFill>
                <a:schemeClr val="lt1"/>
              </a:solidFill>
              <a:latin typeface="Arial"/>
              <a:ea typeface="Arial"/>
              <a:cs typeface="Arial"/>
              <a:sym typeface="Arial"/>
            </a:endParaRPr>
          </a:p>
          <a:p>
            <a:pPr marL="0" marR="0" lvl="0" indent="0" algn="l" rtl="0">
              <a:spcBef>
                <a:spcPts val="0"/>
              </a:spcBef>
              <a:spcAft>
                <a:spcPts val="0"/>
              </a:spcAft>
              <a:buNone/>
            </a:pPr>
            <a:r>
              <a:rPr lang="es-AR" sz="1500" b="1">
                <a:solidFill>
                  <a:schemeClr val="lt1"/>
                </a:solidFill>
              </a:rPr>
              <a:t>DATOS</a:t>
            </a:r>
            <a:endParaRPr sz="1300">
              <a:solidFill>
                <a:schemeClr val="dk1"/>
              </a:solidFill>
              <a:latin typeface="Calibri"/>
              <a:ea typeface="Calibri"/>
              <a:cs typeface="Calibri"/>
              <a:sym typeface="Calibri"/>
            </a:endParaRPr>
          </a:p>
        </p:txBody>
      </p:sp>
      <p:pic>
        <p:nvPicPr>
          <p:cNvPr id="2" name="Google Shape;289;g2f390fb78e8_0_16">
            <a:extLst>
              <a:ext uri="{FF2B5EF4-FFF2-40B4-BE49-F238E27FC236}">
                <a16:creationId xmlns:a16="http://schemas.microsoft.com/office/drawing/2014/main" id="{9A9C3FF5-874A-A30B-C25E-DC9F931C1544}"/>
              </a:ext>
            </a:extLst>
          </p:cNvPr>
          <p:cNvPicPr preferRelativeResize="0"/>
          <p:nvPr/>
        </p:nvPicPr>
        <p:blipFill rotWithShape="1">
          <a:blip r:embed="rId4">
            <a:alphaModFix/>
          </a:blip>
          <a:srcRect/>
          <a:stretch/>
        </p:blipFill>
        <p:spPr>
          <a:xfrm>
            <a:off x="2358087" y="2807125"/>
            <a:ext cx="3875225" cy="1790825"/>
          </a:xfrm>
          <a:prstGeom prst="rect">
            <a:avLst/>
          </a:prstGeom>
          <a:noFill/>
          <a:ln>
            <a:noFill/>
          </a:ln>
        </p:spPr>
      </p:pic>
    </p:spTree>
    <p:extLst>
      <p:ext uri="{BB962C8B-B14F-4D97-AF65-F5344CB8AC3E}">
        <p14:creationId xmlns:p14="http://schemas.microsoft.com/office/powerpoint/2010/main" val="32009991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03">
          <a:extLst>
            <a:ext uri="{FF2B5EF4-FFF2-40B4-BE49-F238E27FC236}">
              <a16:creationId xmlns:a16="http://schemas.microsoft.com/office/drawing/2014/main" id="{8BB985D0-170B-265F-1B68-3A602ED56BE3}"/>
            </a:ext>
          </a:extLst>
        </p:cNvPr>
        <p:cNvGrpSpPr/>
        <p:nvPr/>
      </p:nvGrpSpPr>
      <p:grpSpPr>
        <a:xfrm>
          <a:off x="0" y="0"/>
          <a:ext cx="0" cy="0"/>
          <a:chOff x="0" y="0"/>
          <a:chExt cx="0" cy="0"/>
        </a:xfrm>
      </p:grpSpPr>
      <p:pic>
        <p:nvPicPr>
          <p:cNvPr id="205" name="Google Shape;205;p30">
            <a:extLst>
              <a:ext uri="{FF2B5EF4-FFF2-40B4-BE49-F238E27FC236}">
                <a16:creationId xmlns:a16="http://schemas.microsoft.com/office/drawing/2014/main" id="{7F920114-352A-5149-6A9B-5D8536DF3FCE}"/>
              </a:ext>
            </a:extLst>
          </p:cNvPr>
          <p:cNvPicPr preferRelativeResize="0"/>
          <p:nvPr/>
        </p:nvPicPr>
        <p:blipFill rotWithShape="1">
          <a:blip r:embed="rId3">
            <a:alphaModFix/>
          </a:blip>
          <a:srcRect/>
          <a:stretch/>
        </p:blipFill>
        <p:spPr>
          <a:xfrm>
            <a:off x="0" y="1580"/>
            <a:ext cx="9144000" cy="1171495"/>
          </a:xfrm>
          <a:prstGeom prst="rect">
            <a:avLst/>
          </a:prstGeom>
          <a:noFill/>
          <a:ln>
            <a:noFill/>
          </a:ln>
        </p:spPr>
      </p:pic>
      <p:sp>
        <p:nvSpPr>
          <p:cNvPr id="207" name="Google Shape;207;p30">
            <a:extLst>
              <a:ext uri="{FF2B5EF4-FFF2-40B4-BE49-F238E27FC236}">
                <a16:creationId xmlns:a16="http://schemas.microsoft.com/office/drawing/2014/main" id="{4322F5C8-9347-3B6A-A8B3-B5FF02559905}"/>
              </a:ext>
            </a:extLst>
          </p:cNvPr>
          <p:cNvSpPr txBox="1"/>
          <p:nvPr/>
        </p:nvSpPr>
        <p:spPr>
          <a:xfrm>
            <a:off x="1649400" y="346425"/>
            <a:ext cx="5620080" cy="46162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AR" sz="2400" b="1" dirty="0">
                <a:solidFill>
                  <a:schemeClr val="lt1"/>
                </a:solidFill>
              </a:rPr>
              <a:t>Clase 9</a:t>
            </a:r>
            <a:endParaRPr sz="1800" dirty="0">
              <a:solidFill>
                <a:schemeClr val="dk1"/>
              </a:solidFill>
              <a:latin typeface="Calibri"/>
              <a:ea typeface="Calibri"/>
              <a:cs typeface="Calibri"/>
              <a:sym typeface="Calibri"/>
            </a:endParaRPr>
          </a:p>
        </p:txBody>
      </p:sp>
      <p:sp>
        <p:nvSpPr>
          <p:cNvPr id="208" name="Google Shape;208;p30">
            <a:extLst>
              <a:ext uri="{FF2B5EF4-FFF2-40B4-BE49-F238E27FC236}">
                <a16:creationId xmlns:a16="http://schemas.microsoft.com/office/drawing/2014/main" id="{15F3B6DE-DEEB-9BFB-2DDD-81A4468B0196}"/>
              </a:ext>
            </a:extLst>
          </p:cNvPr>
          <p:cNvSpPr txBox="1"/>
          <p:nvPr/>
        </p:nvSpPr>
        <p:spPr>
          <a:xfrm>
            <a:off x="-6" y="205025"/>
            <a:ext cx="1649400" cy="785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AR" sz="1500" b="1">
                <a:solidFill>
                  <a:schemeClr val="lt1"/>
                </a:solidFill>
              </a:rPr>
              <a:t>ESTRUCTURAS </a:t>
            </a:r>
            <a:endParaRPr sz="1500" b="1">
              <a:solidFill>
                <a:schemeClr val="lt1"/>
              </a:solidFill>
              <a:latin typeface="Arial"/>
              <a:ea typeface="Arial"/>
              <a:cs typeface="Arial"/>
              <a:sym typeface="Arial"/>
            </a:endParaRPr>
          </a:p>
          <a:p>
            <a:pPr marL="0" marR="0" lvl="0" indent="0" algn="l" rtl="0">
              <a:spcBef>
                <a:spcPts val="0"/>
              </a:spcBef>
              <a:spcAft>
                <a:spcPts val="0"/>
              </a:spcAft>
              <a:buNone/>
            </a:pPr>
            <a:r>
              <a:rPr lang="es-AR" sz="1500" b="1">
                <a:solidFill>
                  <a:schemeClr val="lt1"/>
                </a:solidFill>
              </a:rPr>
              <a:t>DE </a:t>
            </a:r>
            <a:endParaRPr sz="1500" b="1">
              <a:solidFill>
                <a:schemeClr val="lt1"/>
              </a:solidFill>
              <a:latin typeface="Arial"/>
              <a:ea typeface="Arial"/>
              <a:cs typeface="Arial"/>
              <a:sym typeface="Arial"/>
            </a:endParaRPr>
          </a:p>
          <a:p>
            <a:pPr marL="0" marR="0" lvl="0" indent="0" algn="l" rtl="0">
              <a:spcBef>
                <a:spcPts val="0"/>
              </a:spcBef>
              <a:spcAft>
                <a:spcPts val="0"/>
              </a:spcAft>
              <a:buNone/>
            </a:pPr>
            <a:r>
              <a:rPr lang="es-AR" sz="1500" b="1">
                <a:solidFill>
                  <a:schemeClr val="lt1"/>
                </a:solidFill>
              </a:rPr>
              <a:t>DATOS</a:t>
            </a:r>
            <a:endParaRPr sz="1300">
              <a:solidFill>
                <a:schemeClr val="dk1"/>
              </a:solidFill>
              <a:latin typeface="Calibri"/>
              <a:ea typeface="Calibri"/>
              <a:cs typeface="Calibri"/>
              <a:sym typeface="Calibri"/>
            </a:endParaRPr>
          </a:p>
        </p:txBody>
      </p:sp>
      <p:pic>
        <p:nvPicPr>
          <p:cNvPr id="2" name="Google Shape;297;g2f390fb78e8_0_23">
            <a:extLst>
              <a:ext uri="{FF2B5EF4-FFF2-40B4-BE49-F238E27FC236}">
                <a16:creationId xmlns:a16="http://schemas.microsoft.com/office/drawing/2014/main" id="{DEB863E3-7933-C852-73AE-69C029E5BFB1}"/>
              </a:ext>
            </a:extLst>
          </p:cNvPr>
          <p:cNvPicPr preferRelativeResize="0"/>
          <p:nvPr/>
        </p:nvPicPr>
        <p:blipFill rotWithShape="1">
          <a:blip r:embed="rId4">
            <a:alphaModFix/>
          </a:blip>
          <a:srcRect/>
          <a:stretch/>
        </p:blipFill>
        <p:spPr>
          <a:xfrm>
            <a:off x="687859" y="1611543"/>
            <a:ext cx="8839200" cy="818301"/>
          </a:xfrm>
          <a:prstGeom prst="rect">
            <a:avLst/>
          </a:prstGeom>
          <a:noFill/>
          <a:ln>
            <a:noFill/>
          </a:ln>
        </p:spPr>
      </p:pic>
      <p:sp>
        <p:nvSpPr>
          <p:cNvPr id="3" name="Google Shape;298;g2f390fb78e8_0_23">
            <a:extLst>
              <a:ext uri="{FF2B5EF4-FFF2-40B4-BE49-F238E27FC236}">
                <a16:creationId xmlns:a16="http://schemas.microsoft.com/office/drawing/2014/main" id="{9431B3F2-0CCB-2186-42BE-162C5CDC305D}"/>
              </a:ext>
            </a:extLst>
          </p:cNvPr>
          <p:cNvSpPr txBox="1"/>
          <p:nvPr/>
        </p:nvSpPr>
        <p:spPr>
          <a:xfrm>
            <a:off x="974566" y="2720017"/>
            <a:ext cx="7392600" cy="3785611"/>
          </a:xfrm>
          <a:prstGeom prst="rect">
            <a:avLst/>
          </a:prstGeom>
          <a:noFill/>
          <a:ln>
            <a:noFill/>
          </a:ln>
        </p:spPr>
        <p:txBody>
          <a:bodyPr spcFirstLastPara="1" wrap="square" lIns="91425" tIns="45700" rIns="91425" bIns="45700" anchor="t" anchorCtr="0">
            <a:spAutoFit/>
          </a:bodyPr>
          <a:lstStyle/>
          <a:p>
            <a:pPr marL="457200" marR="0" lvl="0" indent="-381000" algn="just" rtl="0">
              <a:lnSpc>
                <a:spcPct val="100000"/>
              </a:lnSpc>
              <a:spcBef>
                <a:spcPts val="0"/>
              </a:spcBef>
              <a:spcAft>
                <a:spcPts val="0"/>
              </a:spcAft>
              <a:buClr>
                <a:srgbClr val="000000"/>
              </a:buClr>
              <a:buSzPts val="2400"/>
              <a:buFont typeface="Arial"/>
              <a:buChar char="❏"/>
            </a:pPr>
            <a:r>
              <a:rPr lang="es-MX" sz="2400" b="0" i="0" dirty="0">
                <a:solidFill>
                  <a:srgbClr val="000000"/>
                </a:solidFill>
                <a:effectLst/>
                <a:latin typeface="Arial" panose="020B0604020202020204" pitchFamily="34" charset="0"/>
              </a:rPr>
              <a:t>Análisis asintótico, comportamiento en el mejor caso, caso promedio y peor caso. </a:t>
            </a:r>
            <a:endParaRPr lang="es-MX" sz="2800" dirty="0">
              <a:latin typeface="Arial" panose="020B0604020202020204" pitchFamily="34" charset="0"/>
            </a:endParaRPr>
          </a:p>
          <a:p>
            <a:pPr marL="457200" marR="0" lvl="0" indent="-381000" algn="just" rtl="0">
              <a:lnSpc>
                <a:spcPct val="100000"/>
              </a:lnSpc>
              <a:spcBef>
                <a:spcPts val="0"/>
              </a:spcBef>
              <a:spcAft>
                <a:spcPts val="0"/>
              </a:spcAft>
              <a:buClr>
                <a:srgbClr val="000000"/>
              </a:buClr>
              <a:buSzPts val="2400"/>
              <a:buFont typeface="Arial"/>
              <a:buChar char="❏"/>
            </a:pPr>
            <a:r>
              <a:rPr lang="es-MX" sz="2400" b="0" i="0" dirty="0">
                <a:solidFill>
                  <a:srgbClr val="000000"/>
                </a:solidFill>
                <a:effectLst/>
                <a:latin typeface="Arial" panose="020B0604020202020204" pitchFamily="34" charset="0"/>
              </a:rPr>
              <a:t>Modelo computacional. </a:t>
            </a:r>
          </a:p>
          <a:p>
            <a:pPr marL="457200" marR="0" lvl="0" indent="-381000" algn="just" rtl="0">
              <a:lnSpc>
                <a:spcPct val="100000"/>
              </a:lnSpc>
              <a:spcBef>
                <a:spcPts val="0"/>
              </a:spcBef>
              <a:spcAft>
                <a:spcPts val="0"/>
              </a:spcAft>
              <a:buClr>
                <a:srgbClr val="000000"/>
              </a:buClr>
              <a:buSzPts val="2400"/>
              <a:buFont typeface="Arial"/>
              <a:buChar char="❏"/>
            </a:pPr>
            <a:r>
              <a:rPr lang="es-MX" sz="2400" b="0" i="0" dirty="0">
                <a:solidFill>
                  <a:srgbClr val="000000"/>
                </a:solidFill>
                <a:effectLst/>
                <a:latin typeface="Arial" panose="020B0604020202020204" pitchFamily="34" charset="0"/>
              </a:rPr>
              <a:t>Concepto de tiempo de ejecución. Notación O(), Ω, Θ. Reglas generales para el cálculo del tiempo de ejecución. </a:t>
            </a:r>
          </a:p>
          <a:p>
            <a:pPr marL="457200" marR="0" lvl="0" indent="-381000" algn="just" rtl="0">
              <a:lnSpc>
                <a:spcPct val="100000"/>
              </a:lnSpc>
              <a:spcBef>
                <a:spcPts val="0"/>
              </a:spcBef>
              <a:spcAft>
                <a:spcPts val="0"/>
              </a:spcAft>
              <a:buClr>
                <a:srgbClr val="000000"/>
              </a:buClr>
              <a:buSzPts val="2400"/>
              <a:buFont typeface="Arial"/>
              <a:buChar char="❏"/>
            </a:pPr>
            <a:r>
              <a:rPr lang="es-MX" sz="2400" b="0" i="0" dirty="0">
                <a:solidFill>
                  <a:srgbClr val="000000"/>
                </a:solidFill>
                <a:effectLst/>
                <a:latin typeface="Arial" panose="020B0604020202020204" pitchFamily="34" charset="0"/>
              </a:rPr>
              <a:t>Cálculo de tiempo y orden de ejecución en algoritmos iterativos y recursivos. </a:t>
            </a:r>
          </a:p>
          <a:p>
            <a:pPr marL="457200" marR="0" lvl="0" indent="-381000" algn="just" rtl="0">
              <a:lnSpc>
                <a:spcPct val="100000"/>
              </a:lnSpc>
              <a:spcBef>
                <a:spcPts val="0"/>
              </a:spcBef>
              <a:spcAft>
                <a:spcPts val="0"/>
              </a:spcAft>
              <a:buClr>
                <a:srgbClr val="000000"/>
              </a:buClr>
              <a:buSzPts val="2400"/>
              <a:buFont typeface="Arial"/>
              <a:buChar char="❏"/>
            </a:pPr>
            <a:r>
              <a:rPr lang="es-MX" sz="2400" b="0" i="0" dirty="0">
                <a:solidFill>
                  <a:srgbClr val="000000"/>
                </a:solidFill>
                <a:effectLst/>
                <a:latin typeface="Arial" panose="020B0604020202020204" pitchFamily="34" charset="0"/>
              </a:rPr>
              <a:t>Comparación de distintas estrategias de diseño de algoritmos.</a:t>
            </a:r>
            <a:endParaRPr sz="1050" b="0" i="0" u="none" strike="noStrike" cap="none" dirty="0">
              <a:solidFill>
                <a:srgbClr val="000000"/>
              </a:solidFill>
              <a:latin typeface="Arial"/>
              <a:ea typeface="Arial"/>
              <a:cs typeface="Arial"/>
              <a:sym typeface="Arial"/>
            </a:endParaRPr>
          </a:p>
        </p:txBody>
      </p:sp>
    </p:spTree>
    <p:extLst>
      <p:ext uri="{BB962C8B-B14F-4D97-AF65-F5344CB8AC3E}">
        <p14:creationId xmlns:p14="http://schemas.microsoft.com/office/powerpoint/2010/main" val="1281830666"/>
      </p:ext>
    </p:extLst>
  </p:cSld>
  <p:clrMapOvr>
    <a:masterClrMapping/>
  </p:clrMapOvr>
</p:sld>
</file>

<file path=ppt/theme/theme1.xml><?xml version="1.0" encoding="utf-8"?>
<a:theme xmlns:a="http://schemas.openxmlformats.org/drawingml/2006/main" name="1_Tema de Office">
  <a:themeElements>
    <a:clrScheme name="Tema de 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2690</TotalTime>
  <Words>1218</Words>
  <Application>Microsoft Office PowerPoint</Application>
  <PresentationFormat>Presentación en pantalla (4:3)</PresentationFormat>
  <Paragraphs>208</Paragraphs>
  <Slides>22</Slides>
  <Notes>22</Notes>
  <HiddenSlides>0</HiddenSlides>
  <MMClips>0</MMClips>
  <ScaleCrop>false</ScaleCrop>
  <HeadingPairs>
    <vt:vector size="6" baseType="variant">
      <vt:variant>
        <vt:lpstr>Fuentes usadas</vt:lpstr>
      </vt:variant>
      <vt:variant>
        <vt:i4>4</vt:i4>
      </vt:variant>
      <vt:variant>
        <vt:lpstr>Tema</vt:lpstr>
      </vt:variant>
      <vt:variant>
        <vt:i4>2</vt:i4>
      </vt:variant>
      <vt:variant>
        <vt:lpstr>Títulos de diapositiva</vt:lpstr>
      </vt:variant>
      <vt:variant>
        <vt:i4>22</vt:i4>
      </vt:variant>
    </vt:vector>
  </HeadingPairs>
  <TitlesOfParts>
    <vt:vector size="28" baseType="lpstr">
      <vt:lpstr>Calibri</vt:lpstr>
      <vt:lpstr>Open Sans</vt:lpstr>
      <vt:lpstr>Courier New</vt:lpstr>
      <vt:lpstr>Arial</vt:lpstr>
      <vt:lpstr>1_Tema de Office</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WENDY</dc:creator>
  <cp:lastModifiedBy>Rommy K. Torres Molina</cp:lastModifiedBy>
  <cp:revision>251</cp:revision>
  <dcterms:modified xsi:type="dcterms:W3CDTF">2024-10-22T15:26:32Z</dcterms:modified>
</cp:coreProperties>
</file>